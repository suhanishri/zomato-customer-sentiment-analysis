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09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49978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43000" y="347472"/>
            <a:ext cx="6858000" cy="548640"/>
          </a:xfrm>
          <a:prstGeom prst="rect">
            <a:avLst/>
          </a:prstGeom>
          <a:noFill/>
          <a:ln/>
        </p:spPr>
        <p:txBody>
          <a:bodyPr wrap="square" lIns="0" tIns="0" rIns="0" bIns="0" rtlCol="0" anchor="ctr"/>
          <a:lstStyle/>
          <a:p>
            <a:pPr marL="0" indent="0" algn="ctr">
              <a:buNone/>
            </a:pPr>
            <a:r>
              <a:rPr lang="en-US" sz="2800" dirty="0">
                <a:solidFill>
                  <a:srgbClr val="000000"/>
                </a:solidFill>
                <a:latin typeface="Calibri" pitchFamily="34" charset="0"/>
                <a:ea typeface="Calibri" pitchFamily="34" charset="-122"/>
                <a:cs typeface="Calibri" pitchFamily="34" charset="-120"/>
              </a:rPr>
              <a:t>Project Review Presentation</a:t>
            </a:r>
            <a:endParaRPr lang="en-US" sz="2800" dirty="0"/>
          </a:p>
        </p:txBody>
      </p:sp>
      <p:sp>
        <p:nvSpPr>
          <p:cNvPr id="3" name="Text 1"/>
          <p:cNvSpPr/>
          <p:nvPr/>
        </p:nvSpPr>
        <p:spPr>
          <a:xfrm>
            <a:off x="1234440" y="1920240"/>
            <a:ext cx="6629400" cy="868680"/>
          </a:xfrm>
          <a:prstGeom prst="rect">
            <a:avLst/>
          </a:prstGeom>
          <a:noFill/>
          <a:ln/>
        </p:spPr>
        <p:txBody>
          <a:bodyPr wrap="square" lIns="0" tIns="0" rIns="0" bIns="0" rtlCol="0" anchor="ctr">
            <a:normAutofit/>
          </a:bodyPr>
          <a:lstStyle/>
          <a:p>
            <a:pPr marL="0" indent="0" algn="ctr">
              <a:buNone/>
            </a:pPr>
            <a:r>
              <a:rPr lang="en-US" sz="2200" dirty="0">
                <a:solidFill>
                  <a:srgbClr val="000000"/>
                </a:solidFill>
                <a:latin typeface="Calibri" pitchFamily="34" charset="0"/>
                <a:ea typeface="Calibri" pitchFamily="34" charset="-122"/>
                <a:cs typeface="Calibri" pitchFamily="34" charset="-120"/>
              </a:rPr>
              <a:t>Sentiment Analysis of Zomato Play Store Reviews for Brand Strategy</a:t>
            </a:r>
            <a:endParaRPr lang="en-US" sz="2200" dirty="0"/>
          </a:p>
        </p:txBody>
      </p:sp>
      <p:sp>
        <p:nvSpPr>
          <p:cNvPr id="4" name="Text 2"/>
          <p:cNvSpPr/>
          <p:nvPr/>
        </p:nvSpPr>
        <p:spPr>
          <a:xfrm>
            <a:off x="640080" y="3657600"/>
            <a:ext cx="2148840" cy="1463040"/>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Name:</a:t>
            </a:r>
            <a:endParaRPr lang="en-US" sz="1400" dirty="0"/>
          </a:p>
          <a:p>
            <a:pPr marL="0" indent="0">
              <a:buNone/>
            </a:pPr>
            <a:r>
              <a:rPr lang="en-US" sz="1400" dirty="0">
                <a:solidFill>
                  <a:srgbClr val="000000"/>
                </a:solidFill>
                <a:latin typeface="Calibri" pitchFamily="34" charset="0"/>
                <a:ea typeface="Calibri" pitchFamily="34" charset="-122"/>
                <a:cs typeface="Calibri" pitchFamily="34" charset="-120"/>
              </a:rPr>
              <a:t>Suhani Shrivastava</a:t>
            </a:r>
            <a:endParaRPr lang="en-US" sz="1400" dirty="0"/>
          </a:p>
          <a:p>
            <a:pPr marL="0" indent="0">
              <a:buNone/>
            </a:pPr>
            <a:endParaRPr lang="en-US" sz="1400" dirty="0"/>
          </a:p>
          <a:p>
            <a:pPr marL="0" indent="0">
              <a:buNone/>
            </a:pPr>
            <a:r>
              <a:rPr lang="en-US" sz="1400" dirty="0">
                <a:solidFill>
                  <a:srgbClr val="000000"/>
                </a:solidFill>
                <a:latin typeface="Calibri" pitchFamily="34" charset="0"/>
                <a:ea typeface="Calibri" pitchFamily="34" charset="-122"/>
                <a:cs typeface="Calibri" pitchFamily="34" charset="-120"/>
              </a:rPr>
              <a:t>Roll Number:</a:t>
            </a:r>
            <a:endParaRPr lang="en-US" sz="1400" dirty="0"/>
          </a:p>
          <a:p>
            <a:pPr marL="0" indent="0">
              <a:buNone/>
            </a:pPr>
            <a:r>
              <a:rPr lang="en-US" sz="1400" dirty="0">
                <a:solidFill>
                  <a:srgbClr val="000000"/>
                </a:solidFill>
                <a:latin typeface="Calibri" pitchFamily="34" charset="0"/>
                <a:ea typeface="Calibri" pitchFamily="34" charset="-122"/>
                <a:cs typeface="Calibri" pitchFamily="34" charset="-120"/>
              </a:rPr>
              <a:t>24EMBA1442</a:t>
            </a:r>
            <a:br>
              <a:rPr lang="en-US" sz="1400" dirty="0">
                <a:solidFill>
                  <a:srgbClr val="000000"/>
                </a:solidFill>
                <a:latin typeface="Calibri" pitchFamily="34" charset="0"/>
                <a:ea typeface="Calibri" pitchFamily="34" charset="-122"/>
                <a:cs typeface="Calibri" pitchFamily="34" charset="-120"/>
              </a:rPr>
            </a:br>
            <a:br>
              <a:rPr lang="en-US" sz="1400" dirty="0">
                <a:solidFill>
                  <a:srgbClr val="000000"/>
                </a:solidFill>
                <a:latin typeface="Calibri" pitchFamily="34" charset="0"/>
                <a:ea typeface="Calibri" pitchFamily="34" charset="-122"/>
                <a:cs typeface="Calibri" pitchFamily="34" charset="-120"/>
              </a:rPr>
            </a:br>
            <a:r>
              <a:rPr lang="en-US" sz="1400" dirty="0">
                <a:solidFill>
                  <a:srgbClr val="000000"/>
                </a:solidFill>
                <a:latin typeface="Calibri" pitchFamily="34" charset="0"/>
                <a:ea typeface="Calibri" pitchFamily="34" charset="-122"/>
                <a:cs typeface="Calibri" pitchFamily="34" charset="-120"/>
              </a:rPr>
              <a:t>Under the guidance of Professor: Dr. Suraj P G</a:t>
            </a:r>
            <a:endParaRPr lang="en-US" sz="1400" dirty="0"/>
          </a:p>
        </p:txBody>
      </p:sp>
      <p:sp>
        <p:nvSpPr>
          <p:cNvPr id="5" name="Text 3"/>
          <p:cNvSpPr/>
          <p:nvPr/>
        </p:nvSpPr>
        <p:spPr>
          <a:xfrm>
            <a:off x="2971800" y="6217920"/>
            <a:ext cx="3200400" cy="201168"/>
          </a:xfrm>
          <a:prstGeom prst="rect">
            <a:avLst/>
          </a:prstGeom>
          <a:noFill/>
          <a:ln/>
        </p:spPr>
        <p:txBody>
          <a:bodyPr wrap="square" lIns="0" tIns="0" rIns="0" bIns="0" rtlCol="0" anchor="ctr"/>
          <a:lstStyle/>
          <a:p>
            <a:pPr marL="0" indent="0" algn="ctr">
              <a:buNone/>
            </a:pPr>
            <a:r>
              <a:rPr lang="en-US" sz="1000" dirty="0">
                <a:solidFill>
                  <a:srgbClr val="4F81BD"/>
                </a:solidFill>
                <a:latin typeface="Calibri" pitchFamily="34" charset="0"/>
                <a:ea typeface="Calibri" pitchFamily="34" charset="-122"/>
                <a:cs typeface="Calibri" pitchFamily="34" charset="-120"/>
              </a:rPr>
              <a:t>VIT ONLINE MBA</a:t>
            </a:r>
            <a:endParaRPr lang="en-US" sz="1000" dirty="0"/>
          </a:p>
        </p:txBody>
      </p:sp>
      <p:sp>
        <p:nvSpPr>
          <p:cNvPr id="6" name="Text 4"/>
          <p:cNvSpPr/>
          <p:nvPr/>
        </p:nvSpPr>
        <p:spPr>
          <a:xfrm>
            <a:off x="164592" y="6419088"/>
            <a:ext cx="731520" cy="146304"/>
          </a:xfrm>
          <a:prstGeom prst="rect">
            <a:avLst/>
          </a:prstGeom>
          <a:noFill/>
          <a:ln/>
        </p:spPr>
        <p:txBody>
          <a:bodyPr wrap="square" lIns="0" tIns="0" rIns="0" bIns="0" rtlCol="0" anchor="ctr"/>
          <a:lstStyle/>
          <a:p>
            <a:pPr marL="0" indent="0">
              <a:buNone/>
            </a:pPr>
            <a:r>
              <a:rPr lang="en-US" sz="550" dirty="0">
                <a:solidFill>
                  <a:srgbClr val="666666"/>
                </a:solidFill>
                <a:latin typeface="Calibri" pitchFamily="34" charset="0"/>
                <a:ea typeface="Calibri" pitchFamily="34" charset="-122"/>
                <a:cs typeface="Calibri" pitchFamily="34" charset="-120"/>
              </a:rPr>
              <a:t>Slide 01</a:t>
            </a:r>
            <a:endParaRPr lang="en-US" sz="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Project Work (Overall)</a:t>
            </a:r>
            <a:endParaRPr lang="en-US" sz="2400" dirty="0"/>
          </a:p>
        </p:txBody>
      </p:sp>
      <p:sp>
        <p:nvSpPr>
          <p:cNvPr id="3" name="Text 1"/>
          <p:cNvSpPr/>
          <p:nvPr/>
        </p:nvSpPr>
        <p:spPr>
          <a:xfrm>
            <a:off x="749808" y="1444752"/>
            <a:ext cx="7452360" cy="4480560"/>
          </a:xfrm>
          <a:prstGeom prst="rect">
            <a:avLst/>
          </a:prstGeom>
          <a:noFill/>
          <a:ln/>
        </p:spPr>
        <p:txBody>
          <a:bodyPr wrap="square" lIns="635" tIns="635" rIns="635" bIns="635" rtlCol="0" anchor="t"/>
          <a:lstStyle/>
          <a:p>
            <a:pPr marL="203200" indent="-203200">
              <a:buSzPct val="100000"/>
              <a:buChar char="•"/>
            </a:pPr>
            <a:r>
              <a:rPr lang="en-US" sz="1800" dirty="0">
                <a:solidFill>
                  <a:srgbClr val="000000"/>
                </a:solidFill>
                <a:latin typeface="Calibri" pitchFamily="34" charset="0"/>
                <a:ea typeface="Calibri" pitchFamily="34" charset="-122"/>
                <a:cs typeface="Calibri" pitchFamily="34" charset="-120"/>
              </a:rPr>
              <a:t>Collected Zomato app reviews from the Google Play Store under relevant, rating-based, and newest retrieval modes.</a:t>
            </a:r>
            <a:endParaRPr lang="en-US" sz="1800" dirty="0"/>
          </a:p>
          <a:p>
            <a:pPr marL="203200" indent="-203200">
              <a:buSzPct val="100000"/>
              <a:buChar char="•"/>
            </a:pPr>
            <a:r>
              <a:rPr lang="en-US" sz="1800" dirty="0">
                <a:solidFill>
                  <a:srgbClr val="000000"/>
                </a:solidFill>
                <a:latin typeface="Calibri" pitchFamily="34" charset="0"/>
                <a:ea typeface="Calibri" pitchFamily="34" charset="-122"/>
                <a:cs typeface="Calibri" pitchFamily="34" charset="-120"/>
              </a:rPr>
              <a:t>Merged the raw review pulls into one cleaned dataset after normalization, filtering, and duplicate removal.</a:t>
            </a:r>
            <a:endParaRPr lang="en-US" sz="1800" dirty="0"/>
          </a:p>
          <a:p>
            <a:pPr marL="203200" indent="-203200">
              <a:buSzPct val="100000"/>
              <a:buChar char="•"/>
            </a:pPr>
            <a:r>
              <a:rPr lang="en-US" sz="1800" dirty="0">
                <a:solidFill>
                  <a:srgbClr val="000000"/>
                </a:solidFill>
                <a:latin typeface="Calibri" pitchFamily="34" charset="0"/>
                <a:ea typeface="Calibri" pitchFamily="34" charset="-122"/>
                <a:cs typeface="Calibri" pitchFamily="34" charset="-120"/>
              </a:rPr>
              <a:t>Assigned sentiment labels (positive, negative and neutral) from ratings and standardized reviews into business themes such as delivery, refunds, pricing, support, and trust.</a:t>
            </a:r>
            <a:endParaRPr lang="en-US" sz="1800" dirty="0"/>
          </a:p>
          <a:p>
            <a:pPr marL="203200" indent="-203200">
              <a:buSzPct val="100000"/>
              <a:buChar char="•"/>
            </a:pPr>
            <a:r>
              <a:rPr lang="en-US" sz="1800" dirty="0">
                <a:solidFill>
                  <a:srgbClr val="000000"/>
                </a:solidFill>
                <a:latin typeface="Calibri" pitchFamily="34" charset="0"/>
                <a:ea typeface="Calibri" pitchFamily="34" charset="-122"/>
                <a:cs typeface="Calibri" pitchFamily="34" charset="-120"/>
              </a:rPr>
              <a:t>Applied TF-IDF + Logistic Regression to study sentiment patterns at scale and compare class-level performance.</a:t>
            </a:r>
            <a:endParaRPr lang="en-US" sz="1800" dirty="0"/>
          </a:p>
          <a:p>
            <a:pPr marL="203200" indent="-203200">
              <a:buSzPct val="100000"/>
              <a:buChar char="•"/>
            </a:pPr>
            <a:r>
              <a:rPr lang="en-US" sz="1800" dirty="0">
                <a:solidFill>
                  <a:srgbClr val="000000"/>
                </a:solidFill>
                <a:latin typeface="Calibri" pitchFamily="34" charset="0"/>
                <a:ea typeface="Calibri" pitchFamily="34" charset="-122"/>
                <a:cs typeface="Calibri" pitchFamily="34" charset="-120"/>
              </a:rPr>
              <a:t>Interpreted theme-wise results to identify the main customer pain points and the strongest brand-supporting experiences.</a:t>
            </a:r>
            <a:endParaRPr lang="en-US" sz="1800" dirty="0"/>
          </a:p>
        </p:txBody>
      </p:sp>
      <p:sp>
        <p:nvSpPr>
          <p:cNvPr id="4" name="Text 2"/>
          <p:cNvSpPr/>
          <p:nvPr/>
        </p:nvSpPr>
        <p:spPr>
          <a:xfrm>
            <a:off x="2971800" y="6217920"/>
            <a:ext cx="3200400" cy="201168"/>
          </a:xfrm>
          <a:prstGeom prst="rect">
            <a:avLst/>
          </a:prstGeom>
          <a:noFill/>
          <a:ln/>
        </p:spPr>
        <p:txBody>
          <a:bodyPr wrap="square" lIns="0" tIns="0" rIns="0" bIns="0" rtlCol="0" anchor="ctr"/>
          <a:lstStyle/>
          <a:p>
            <a:pPr marL="0" indent="0" algn="ctr">
              <a:buNone/>
            </a:pPr>
            <a:r>
              <a:rPr lang="en-US" sz="1000" dirty="0">
                <a:solidFill>
                  <a:srgbClr val="4F81BD"/>
                </a:solidFill>
                <a:latin typeface="Calibri" pitchFamily="34" charset="0"/>
                <a:ea typeface="Calibri" pitchFamily="34" charset="-122"/>
                <a:cs typeface="Calibri" pitchFamily="34" charset="-120"/>
              </a:rPr>
              <a:t>VIT ONLINE MBA</a:t>
            </a:r>
            <a:endParaRPr lang="en-US" sz="1000" dirty="0"/>
          </a:p>
        </p:txBody>
      </p:sp>
      <p:sp>
        <p:nvSpPr>
          <p:cNvPr id="5" name="Text 3"/>
          <p:cNvSpPr/>
          <p:nvPr/>
        </p:nvSpPr>
        <p:spPr>
          <a:xfrm>
            <a:off x="164592" y="6419088"/>
            <a:ext cx="731520" cy="146304"/>
          </a:xfrm>
          <a:prstGeom prst="rect">
            <a:avLst/>
          </a:prstGeom>
          <a:noFill/>
          <a:ln/>
        </p:spPr>
        <p:txBody>
          <a:bodyPr wrap="square" lIns="0" tIns="0" rIns="0" bIns="0" rtlCol="0" anchor="ctr"/>
          <a:lstStyle/>
          <a:p>
            <a:pPr marL="0" indent="0">
              <a:buNone/>
            </a:pPr>
            <a:r>
              <a:rPr lang="en-US" sz="550" dirty="0">
                <a:solidFill>
                  <a:srgbClr val="666666"/>
                </a:solidFill>
                <a:latin typeface="Calibri" pitchFamily="34" charset="0"/>
                <a:ea typeface="Calibri" pitchFamily="34" charset="-122"/>
                <a:cs typeface="Calibri" pitchFamily="34" charset="-120"/>
              </a:rPr>
              <a:t>Slide 02</a:t>
            </a:r>
            <a:endParaRPr lang="en-US" sz="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Data Collection</a:t>
            </a:r>
            <a:endParaRPr lang="en-US" sz="2400" dirty="0"/>
          </a:p>
        </p:txBody>
      </p:sp>
      <p:sp>
        <p:nvSpPr>
          <p:cNvPr id="3" name="Text 1"/>
          <p:cNvSpPr/>
          <p:nvPr/>
        </p:nvSpPr>
        <p:spPr>
          <a:xfrm>
            <a:off x="658368" y="1024128"/>
            <a:ext cx="7315200" cy="219456"/>
          </a:xfrm>
          <a:prstGeom prst="rect">
            <a:avLst/>
          </a:prstGeom>
          <a:noFill/>
          <a:ln/>
        </p:spPr>
        <p:txBody>
          <a:bodyPr wrap="square" lIns="0" tIns="0" rIns="0" bIns="0" rtlCol="0" anchor="ctr"/>
          <a:lstStyle/>
          <a:p>
            <a:pPr marL="0" indent="0" algn="ctr">
              <a:buNone/>
            </a:pPr>
            <a:r>
              <a:rPr lang="en-US" sz="1100" dirty="0">
                <a:solidFill>
                  <a:srgbClr val="666666"/>
                </a:solidFill>
                <a:latin typeface="Calibri" pitchFamily="34" charset="0"/>
                <a:ea typeface="Calibri" pitchFamily="34" charset="-122"/>
                <a:cs typeface="Calibri" pitchFamily="34" charset="-120"/>
              </a:rPr>
              <a:t>Google Play review pulls were collected in parallel and then merged into one cleaned Zomato dataset.</a:t>
            </a:r>
            <a:endParaRPr lang="en-US" sz="1100" dirty="0"/>
          </a:p>
        </p:txBody>
      </p:sp>
      <p:sp>
        <p:nvSpPr>
          <p:cNvPr id="4" name="Shape 2"/>
          <p:cNvSpPr/>
          <p:nvPr/>
        </p:nvSpPr>
        <p:spPr>
          <a:xfrm>
            <a:off x="438912" y="1371600"/>
            <a:ext cx="1508760" cy="1554480"/>
          </a:xfrm>
          <a:prstGeom prst="roundRect">
            <a:avLst>
              <a:gd name="adj" fmla="val 4848"/>
            </a:avLst>
          </a:prstGeom>
          <a:solidFill>
            <a:srgbClr val="FFFFFF"/>
          </a:solidFill>
          <a:ln w="12700">
            <a:solidFill>
              <a:srgbClr val="B8CCE4"/>
            </a:solidFill>
            <a:prstDash val="solid"/>
          </a:ln>
        </p:spPr>
        <p:txBody>
          <a:bodyPr/>
          <a:lstStyle/>
          <a:p>
            <a:endParaRPr lang="en-IN"/>
          </a:p>
        </p:txBody>
      </p:sp>
      <p:sp>
        <p:nvSpPr>
          <p:cNvPr id="5" name="Shape 3"/>
          <p:cNvSpPr/>
          <p:nvPr/>
        </p:nvSpPr>
        <p:spPr>
          <a:xfrm>
            <a:off x="640080" y="1481328"/>
            <a:ext cx="1106424" cy="73152"/>
          </a:xfrm>
          <a:prstGeom prst="rect">
            <a:avLst/>
          </a:prstGeom>
          <a:solidFill>
            <a:srgbClr val="DCE6F1"/>
          </a:solidFill>
          <a:ln w="12700">
            <a:solidFill>
              <a:srgbClr val="DCE6F1"/>
            </a:solidFill>
            <a:prstDash val="solid"/>
          </a:ln>
        </p:spPr>
        <p:txBody>
          <a:bodyPr/>
          <a:lstStyle/>
          <a:p>
            <a:endParaRPr lang="en-IN"/>
          </a:p>
        </p:txBody>
      </p:sp>
      <p:sp>
        <p:nvSpPr>
          <p:cNvPr id="6" name="Text 4"/>
          <p:cNvSpPr/>
          <p:nvPr/>
        </p:nvSpPr>
        <p:spPr>
          <a:xfrm>
            <a:off x="530352" y="1627632"/>
            <a:ext cx="1325880" cy="219456"/>
          </a:xfrm>
          <a:prstGeom prst="rect">
            <a:avLst/>
          </a:prstGeom>
          <a:noFill/>
          <a:ln/>
        </p:spPr>
        <p:txBody>
          <a:bodyPr wrap="square" lIns="0" tIns="0" rIns="0" bIns="0" rtlCol="0" anchor="ctr"/>
          <a:lstStyle/>
          <a:p>
            <a:pPr marL="0" indent="0" algn="ctr">
              <a:buNone/>
            </a:pPr>
            <a:r>
              <a:rPr lang="en-US" sz="1050" b="1" dirty="0">
                <a:solidFill>
                  <a:srgbClr val="4F81BD"/>
                </a:solidFill>
                <a:latin typeface="Calibri" pitchFamily="34" charset="0"/>
                <a:ea typeface="Calibri" pitchFamily="34" charset="-122"/>
                <a:cs typeface="Calibri" pitchFamily="34" charset="-120"/>
              </a:rPr>
              <a:t>Relevant Reviews</a:t>
            </a:r>
            <a:endParaRPr lang="en-US" sz="1050" dirty="0"/>
          </a:p>
        </p:txBody>
      </p:sp>
      <p:sp>
        <p:nvSpPr>
          <p:cNvPr id="7" name="Text 5"/>
          <p:cNvSpPr/>
          <p:nvPr/>
        </p:nvSpPr>
        <p:spPr>
          <a:xfrm>
            <a:off x="548640" y="1901952"/>
            <a:ext cx="1289304" cy="914400"/>
          </a:xfrm>
          <a:prstGeom prst="rect">
            <a:avLst/>
          </a:prstGeom>
          <a:noFill/>
          <a:ln/>
        </p:spPr>
        <p:txBody>
          <a:bodyPr wrap="square" lIns="254" tIns="254" rIns="254" bIns="254" rtlCol="0" anchor="ctr">
            <a:normAutofit lnSpcReduction="10000"/>
          </a:bodyPr>
          <a:lstStyle/>
          <a:p>
            <a:pPr marL="0" indent="0" algn="l">
              <a:buNone/>
            </a:pPr>
            <a:r>
              <a:rPr lang="en-US" sz="920" dirty="0">
                <a:solidFill>
                  <a:srgbClr val="000000"/>
                </a:solidFill>
                <a:latin typeface="Calibri" pitchFamily="34" charset="0"/>
                <a:ea typeface="Calibri" pitchFamily="34" charset="-122"/>
                <a:cs typeface="Calibri" pitchFamily="34" charset="-120"/>
              </a:rPr>
              <a:t>Source folder:</a:t>
            </a: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output_playstore_relevant_en</a:t>
            </a:r>
            <a:endParaRPr lang="en-US" sz="920" dirty="0"/>
          </a:p>
          <a:p>
            <a:pPr marL="0" indent="0" algn="l">
              <a:buNone/>
            </a:pP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Volume: 22,773</a:t>
            </a: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Captures commonly surfaced feedback</a:t>
            </a:r>
            <a:endParaRPr lang="en-US" sz="920" dirty="0"/>
          </a:p>
        </p:txBody>
      </p:sp>
      <p:sp>
        <p:nvSpPr>
          <p:cNvPr id="8" name="Shape 6"/>
          <p:cNvSpPr/>
          <p:nvPr/>
        </p:nvSpPr>
        <p:spPr>
          <a:xfrm>
            <a:off x="2148840" y="1371600"/>
            <a:ext cx="1508760" cy="1554480"/>
          </a:xfrm>
          <a:prstGeom prst="roundRect">
            <a:avLst>
              <a:gd name="adj" fmla="val 4848"/>
            </a:avLst>
          </a:prstGeom>
          <a:solidFill>
            <a:srgbClr val="FFFFFF"/>
          </a:solidFill>
          <a:ln w="12700">
            <a:solidFill>
              <a:srgbClr val="B8CCE4"/>
            </a:solidFill>
            <a:prstDash val="solid"/>
          </a:ln>
        </p:spPr>
        <p:txBody>
          <a:bodyPr/>
          <a:lstStyle/>
          <a:p>
            <a:endParaRPr lang="en-IN"/>
          </a:p>
        </p:txBody>
      </p:sp>
      <p:sp>
        <p:nvSpPr>
          <p:cNvPr id="9" name="Shape 7"/>
          <p:cNvSpPr/>
          <p:nvPr/>
        </p:nvSpPr>
        <p:spPr>
          <a:xfrm>
            <a:off x="2350008" y="1481328"/>
            <a:ext cx="1106424" cy="73152"/>
          </a:xfrm>
          <a:prstGeom prst="rect">
            <a:avLst/>
          </a:prstGeom>
          <a:solidFill>
            <a:srgbClr val="DCE6F1"/>
          </a:solidFill>
          <a:ln w="12700">
            <a:solidFill>
              <a:srgbClr val="DCE6F1"/>
            </a:solidFill>
            <a:prstDash val="solid"/>
          </a:ln>
        </p:spPr>
        <p:txBody>
          <a:bodyPr/>
          <a:lstStyle/>
          <a:p>
            <a:endParaRPr lang="en-IN"/>
          </a:p>
        </p:txBody>
      </p:sp>
      <p:sp>
        <p:nvSpPr>
          <p:cNvPr id="10" name="Text 8"/>
          <p:cNvSpPr/>
          <p:nvPr/>
        </p:nvSpPr>
        <p:spPr>
          <a:xfrm>
            <a:off x="2240280" y="1627632"/>
            <a:ext cx="1325880" cy="219456"/>
          </a:xfrm>
          <a:prstGeom prst="rect">
            <a:avLst/>
          </a:prstGeom>
          <a:noFill/>
          <a:ln/>
        </p:spPr>
        <p:txBody>
          <a:bodyPr wrap="square" lIns="0" tIns="0" rIns="0" bIns="0" rtlCol="0" anchor="ctr"/>
          <a:lstStyle/>
          <a:p>
            <a:pPr marL="0" indent="0" algn="ctr">
              <a:buNone/>
            </a:pPr>
            <a:r>
              <a:rPr lang="en-US" sz="1050" b="1" dirty="0">
                <a:solidFill>
                  <a:srgbClr val="4F81BD"/>
                </a:solidFill>
                <a:latin typeface="Calibri" pitchFamily="34" charset="0"/>
                <a:ea typeface="Calibri" pitchFamily="34" charset="-122"/>
                <a:cs typeface="Calibri" pitchFamily="34" charset="-120"/>
              </a:rPr>
              <a:t>Rating-Sorted</a:t>
            </a:r>
            <a:endParaRPr lang="en-US" sz="1050" dirty="0"/>
          </a:p>
        </p:txBody>
      </p:sp>
      <p:sp>
        <p:nvSpPr>
          <p:cNvPr id="11" name="Text 9"/>
          <p:cNvSpPr/>
          <p:nvPr/>
        </p:nvSpPr>
        <p:spPr>
          <a:xfrm>
            <a:off x="2258568" y="1901952"/>
            <a:ext cx="1289304" cy="914400"/>
          </a:xfrm>
          <a:prstGeom prst="rect">
            <a:avLst/>
          </a:prstGeom>
          <a:noFill/>
          <a:ln/>
        </p:spPr>
        <p:txBody>
          <a:bodyPr wrap="square" lIns="254" tIns="254" rIns="254" bIns="254" rtlCol="0" anchor="ctr">
            <a:normAutofit lnSpcReduction="10000"/>
          </a:bodyPr>
          <a:lstStyle/>
          <a:p>
            <a:pPr marL="0" indent="0" algn="l">
              <a:buNone/>
            </a:pPr>
            <a:r>
              <a:rPr lang="en-US" sz="920" dirty="0">
                <a:solidFill>
                  <a:srgbClr val="000000"/>
                </a:solidFill>
                <a:latin typeface="Calibri" pitchFamily="34" charset="0"/>
                <a:ea typeface="Calibri" pitchFamily="34" charset="-122"/>
                <a:cs typeface="Calibri" pitchFamily="34" charset="-120"/>
              </a:rPr>
              <a:t>Source folder:</a:t>
            </a: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output_playstore_rating_en</a:t>
            </a:r>
            <a:endParaRPr lang="en-US" sz="920" dirty="0"/>
          </a:p>
          <a:p>
            <a:pPr marL="0" indent="0" algn="l">
              <a:buNone/>
            </a:pP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Volume: 15,942</a:t>
            </a: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Captures high and low rating extremes</a:t>
            </a:r>
            <a:endParaRPr lang="en-US" sz="920" dirty="0"/>
          </a:p>
        </p:txBody>
      </p:sp>
      <p:sp>
        <p:nvSpPr>
          <p:cNvPr id="12" name="Shape 10"/>
          <p:cNvSpPr/>
          <p:nvPr/>
        </p:nvSpPr>
        <p:spPr>
          <a:xfrm>
            <a:off x="3858768" y="1371600"/>
            <a:ext cx="1508760" cy="1554480"/>
          </a:xfrm>
          <a:prstGeom prst="roundRect">
            <a:avLst>
              <a:gd name="adj" fmla="val 4848"/>
            </a:avLst>
          </a:prstGeom>
          <a:solidFill>
            <a:srgbClr val="FFFFFF"/>
          </a:solidFill>
          <a:ln w="12700">
            <a:solidFill>
              <a:srgbClr val="B8CCE4"/>
            </a:solidFill>
            <a:prstDash val="solid"/>
          </a:ln>
        </p:spPr>
        <p:txBody>
          <a:bodyPr/>
          <a:lstStyle/>
          <a:p>
            <a:endParaRPr lang="en-IN"/>
          </a:p>
        </p:txBody>
      </p:sp>
      <p:sp>
        <p:nvSpPr>
          <p:cNvPr id="13" name="Shape 11"/>
          <p:cNvSpPr/>
          <p:nvPr/>
        </p:nvSpPr>
        <p:spPr>
          <a:xfrm>
            <a:off x="4059936" y="1481328"/>
            <a:ext cx="1106424" cy="73152"/>
          </a:xfrm>
          <a:prstGeom prst="rect">
            <a:avLst/>
          </a:prstGeom>
          <a:solidFill>
            <a:srgbClr val="DCE6F1"/>
          </a:solidFill>
          <a:ln w="12700">
            <a:solidFill>
              <a:srgbClr val="DCE6F1"/>
            </a:solidFill>
            <a:prstDash val="solid"/>
          </a:ln>
        </p:spPr>
        <p:txBody>
          <a:bodyPr/>
          <a:lstStyle/>
          <a:p>
            <a:endParaRPr lang="en-IN"/>
          </a:p>
        </p:txBody>
      </p:sp>
      <p:sp>
        <p:nvSpPr>
          <p:cNvPr id="14" name="Text 12"/>
          <p:cNvSpPr/>
          <p:nvPr/>
        </p:nvSpPr>
        <p:spPr>
          <a:xfrm>
            <a:off x="3950208" y="1627632"/>
            <a:ext cx="1325880" cy="219456"/>
          </a:xfrm>
          <a:prstGeom prst="rect">
            <a:avLst/>
          </a:prstGeom>
          <a:noFill/>
          <a:ln/>
        </p:spPr>
        <p:txBody>
          <a:bodyPr wrap="square" lIns="0" tIns="0" rIns="0" bIns="0" rtlCol="0" anchor="ctr"/>
          <a:lstStyle/>
          <a:p>
            <a:pPr marL="0" indent="0" algn="ctr">
              <a:buNone/>
            </a:pPr>
            <a:r>
              <a:rPr lang="en-US" sz="1050" b="1" dirty="0">
                <a:solidFill>
                  <a:srgbClr val="4F81BD"/>
                </a:solidFill>
                <a:latin typeface="Calibri" pitchFamily="34" charset="0"/>
                <a:ea typeface="Calibri" pitchFamily="34" charset="-122"/>
                <a:cs typeface="Calibri" pitchFamily="34" charset="-120"/>
              </a:rPr>
              <a:t>Newest Pulls</a:t>
            </a:r>
            <a:endParaRPr lang="en-US" sz="1050" dirty="0"/>
          </a:p>
        </p:txBody>
      </p:sp>
      <p:sp>
        <p:nvSpPr>
          <p:cNvPr id="15" name="Text 13"/>
          <p:cNvSpPr/>
          <p:nvPr/>
        </p:nvSpPr>
        <p:spPr>
          <a:xfrm>
            <a:off x="3968496" y="1901952"/>
            <a:ext cx="1289304" cy="914400"/>
          </a:xfrm>
          <a:prstGeom prst="rect">
            <a:avLst/>
          </a:prstGeom>
          <a:noFill/>
          <a:ln/>
        </p:spPr>
        <p:txBody>
          <a:bodyPr wrap="square" lIns="254" tIns="254" rIns="254" bIns="254" rtlCol="0" anchor="ctr">
            <a:normAutofit/>
          </a:bodyPr>
          <a:lstStyle/>
          <a:p>
            <a:pPr marL="0" indent="0" algn="l">
              <a:buNone/>
            </a:pPr>
            <a:r>
              <a:rPr lang="en-US" sz="920" dirty="0">
                <a:solidFill>
                  <a:srgbClr val="000000"/>
                </a:solidFill>
                <a:latin typeface="Calibri" pitchFamily="34" charset="0"/>
                <a:ea typeface="Calibri" pitchFamily="34" charset="-122"/>
                <a:cs typeface="Calibri" pitchFamily="34" charset="-120"/>
              </a:rPr>
              <a:t>Source folders:</a:t>
            </a:r>
            <a:endParaRPr lang="en-US" sz="920" dirty="0"/>
          </a:p>
          <a:p>
            <a:pPr marL="0" indent="0" algn="l">
              <a:buNone/>
            </a:pPr>
            <a:r>
              <a:rPr lang="en-US" sz="920" dirty="0" err="1">
                <a:solidFill>
                  <a:srgbClr val="000000"/>
                </a:solidFill>
                <a:latin typeface="Calibri" pitchFamily="34" charset="0"/>
                <a:ea typeface="Calibri" pitchFamily="34" charset="-122"/>
                <a:cs typeface="Calibri" pitchFamily="34" charset="-120"/>
              </a:rPr>
              <a:t>newest_en</a:t>
            </a:r>
            <a:endParaRPr lang="en-US" sz="920" dirty="0">
              <a:solidFill>
                <a:srgbClr val="000000"/>
              </a:solidFill>
              <a:latin typeface="Calibri" pitchFamily="34" charset="0"/>
              <a:ea typeface="Calibri" pitchFamily="34" charset="-122"/>
              <a:cs typeface="Calibri" pitchFamily="34" charset="-120"/>
            </a:endParaRPr>
          </a:p>
          <a:p>
            <a:pPr marL="0" indent="0" algn="l">
              <a:buNone/>
            </a:pP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Volume: 2,882</a:t>
            </a: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Adds recent and mixed-language feedback</a:t>
            </a:r>
            <a:endParaRPr lang="en-US" sz="920" dirty="0"/>
          </a:p>
        </p:txBody>
      </p:sp>
      <p:sp>
        <p:nvSpPr>
          <p:cNvPr id="16" name="Shape 14"/>
          <p:cNvSpPr/>
          <p:nvPr/>
        </p:nvSpPr>
        <p:spPr>
          <a:xfrm>
            <a:off x="1188720" y="3090672"/>
            <a:ext cx="3429000" cy="0"/>
          </a:xfrm>
          <a:prstGeom prst="line">
            <a:avLst/>
          </a:prstGeom>
          <a:noFill/>
          <a:ln w="12700">
            <a:solidFill>
              <a:srgbClr val="B8CCE4"/>
            </a:solidFill>
            <a:prstDash val="solid"/>
          </a:ln>
        </p:spPr>
        <p:txBody>
          <a:bodyPr/>
          <a:lstStyle/>
          <a:p>
            <a:endParaRPr lang="en-IN"/>
          </a:p>
        </p:txBody>
      </p:sp>
      <p:sp>
        <p:nvSpPr>
          <p:cNvPr id="17" name="Shape 15"/>
          <p:cNvSpPr/>
          <p:nvPr/>
        </p:nvSpPr>
        <p:spPr>
          <a:xfrm>
            <a:off x="3886200" y="3090672"/>
            <a:ext cx="0" cy="182880"/>
          </a:xfrm>
          <a:prstGeom prst="line">
            <a:avLst/>
          </a:prstGeom>
          <a:noFill/>
          <a:ln w="12700">
            <a:solidFill>
              <a:srgbClr val="B8CCE4"/>
            </a:solidFill>
            <a:prstDash val="solid"/>
          </a:ln>
        </p:spPr>
        <p:txBody>
          <a:bodyPr/>
          <a:lstStyle/>
          <a:p>
            <a:endParaRPr lang="en-IN"/>
          </a:p>
        </p:txBody>
      </p:sp>
      <p:sp>
        <p:nvSpPr>
          <p:cNvPr id="18" name="Shape 16"/>
          <p:cNvSpPr/>
          <p:nvPr/>
        </p:nvSpPr>
        <p:spPr>
          <a:xfrm>
            <a:off x="2944368" y="3246120"/>
            <a:ext cx="1874520" cy="1417320"/>
          </a:xfrm>
          <a:prstGeom prst="roundRect">
            <a:avLst>
              <a:gd name="adj" fmla="val 5161"/>
            </a:avLst>
          </a:prstGeom>
          <a:solidFill>
            <a:srgbClr val="FFFFFF"/>
          </a:solidFill>
          <a:ln w="12700">
            <a:solidFill>
              <a:srgbClr val="B8CCE4"/>
            </a:solidFill>
            <a:prstDash val="solid"/>
          </a:ln>
        </p:spPr>
        <p:txBody>
          <a:bodyPr/>
          <a:lstStyle/>
          <a:p>
            <a:endParaRPr lang="en-IN"/>
          </a:p>
        </p:txBody>
      </p:sp>
      <p:sp>
        <p:nvSpPr>
          <p:cNvPr id="19" name="Shape 17"/>
          <p:cNvSpPr/>
          <p:nvPr/>
        </p:nvSpPr>
        <p:spPr>
          <a:xfrm>
            <a:off x="3145536" y="3355848"/>
            <a:ext cx="1472184" cy="73152"/>
          </a:xfrm>
          <a:prstGeom prst="rect">
            <a:avLst/>
          </a:prstGeom>
          <a:solidFill>
            <a:srgbClr val="DCE6F1"/>
          </a:solidFill>
          <a:ln w="12700">
            <a:solidFill>
              <a:srgbClr val="DCE6F1"/>
            </a:solidFill>
            <a:prstDash val="solid"/>
          </a:ln>
        </p:spPr>
        <p:txBody>
          <a:bodyPr/>
          <a:lstStyle/>
          <a:p>
            <a:endParaRPr lang="en-IN"/>
          </a:p>
        </p:txBody>
      </p:sp>
      <p:sp>
        <p:nvSpPr>
          <p:cNvPr id="20" name="Text 18"/>
          <p:cNvSpPr/>
          <p:nvPr/>
        </p:nvSpPr>
        <p:spPr>
          <a:xfrm>
            <a:off x="3035808" y="3502152"/>
            <a:ext cx="1691640" cy="219456"/>
          </a:xfrm>
          <a:prstGeom prst="rect">
            <a:avLst/>
          </a:prstGeom>
          <a:noFill/>
          <a:ln/>
        </p:spPr>
        <p:txBody>
          <a:bodyPr wrap="square" lIns="0" tIns="0" rIns="0" bIns="0" rtlCol="0" anchor="ctr"/>
          <a:lstStyle/>
          <a:p>
            <a:pPr marL="0" indent="0" algn="ctr">
              <a:buNone/>
            </a:pPr>
            <a:r>
              <a:rPr lang="en-US" sz="1050" b="1" dirty="0">
                <a:solidFill>
                  <a:srgbClr val="4F81BD"/>
                </a:solidFill>
                <a:latin typeface="Calibri" pitchFamily="34" charset="0"/>
                <a:ea typeface="Calibri" pitchFamily="34" charset="-122"/>
                <a:cs typeface="Calibri" pitchFamily="34" charset="-120"/>
              </a:rPr>
              <a:t>Merge + Clean</a:t>
            </a:r>
            <a:endParaRPr lang="en-US" sz="1050" dirty="0"/>
          </a:p>
        </p:txBody>
      </p:sp>
      <p:sp>
        <p:nvSpPr>
          <p:cNvPr id="21" name="Text 19"/>
          <p:cNvSpPr/>
          <p:nvPr/>
        </p:nvSpPr>
        <p:spPr>
          <a:xfrm>
            <a:off x="3054096" y="3776472"/>
            <a:ext cx="1655064" cy="777240"/>
          </a:xfrm>
          <a:prstGeom prst="rect">
            <a:avLst/>
          </a:prstGeom>
          <a:noFill/>
          <a:ln/>
        </p:spPr>
        <p:txBody>
          <a:bodyPr wrap="square" lIns="254" tIns="254" rIns="254" bIns="254" rtlCol="0" anchor="ctr">
            <a:normAutofit/>
          </a:bodyPr>
          <a:lstStyle/>
          <a:p>
            <a:pPr marL="0" indent="0" algn="l">
              <a:buNone/>
            </a:pPr>
            <a:r>
              <a:rPr lang="en-US" sz="920" dirty="0">
                <a:solidFill>
                  <a:srgbClr val="000000"/>
                </a:solidFill>
                <a:latin typeface="Calibri" pitchFamily="34" charset="0"/>
                <a:ea typeface="Calibri" pitchFamily="34" charset="-122"/>
                <a:cs typeface="Calibri" pitchFamily="34" charset="-120"/>
              </a:rPr>
              <a:t>Normalize text</a:t>
            </a: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Remove duplicates</a:t>
            </a: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Filter low-value noise</a:t>
            </a: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Keep rating, year, theme, sentiment-ready fields</a:t>
            </a:r>
            <a:endParaRPr lang="en-US" sz="920" dirty="0"/>
          </a:p>
        </p:txBody>
      </p:sp>
      <p:sp>
        <p:nvSpPr>
          <p:cNvPr id="22" name="Shape 20"/>
          <p:cNvSpPr/>
          <p:nvPr/>
        </p:nvSpPr>
        <p:spPr>
          <a:xfrm>
            <a:off x="6263640" y="1600200"/>
            <a:ext cx="1874520" cy="1691640"/>
          </a:xfrm>
          <a:prstGeom prst="roundRect">
            <a:avLst>
              <a:gd name="adj" fmla="val 4324"/>
            </a:avLst>
          </a:prstGeom>
          <a:solidFill>
            <a:srgbClr val="FFFFFF"/>
          </a:solidFill>
          <a:ln w="12700">
            <a:solidFill>
              <a:srgbClr val="B8CCE4"/>
            </a:solidFill>
            <a:prstDash val="solid"/>
          </a:ln>
        </p:spPr>
        <p:txBody>
          <a:bodyPr/>
          <a:lstStyle/>
          <a:p>
            <a:endParaRPr lang="en-IN"/>
          </a:p>
        </p:txBody>
      </p:sp>
      <p:sp>
        <p:nvSpPr>
          <p:cNvPr id="23" name="Shape 21"/>
          <p:cNvSpPr/>
          <p:nvPr/>
        </p:nvSpPr>
        <p:spPr>
          <a:xfrm>
            <a:off x="6464808" y="1709928"/>
            <a:ext cx="1472184" cy="73152"/>
          </a:xfrm>
          <a:prstGeom prst="rect">
            <a:avLst/>
          </a:prstGeom>
          <a:solidFill>
            <a:srgbClr val="DCE6F1"/>
          </a:solidFill>
          <a:ln w="12700">
            <a:solidFill>
              <a:srgbClr val="DCE6F1"/>
            </a:solidFill>
            <a:prstDash val="solid"/>
          </a:ln>
        </p:spPr>
        <p:txBody>
          <a:bodyPr/>
          <a:lstStyle/>
          <a:p>
            <a:endParaRPr lang="en-IN"/>
          </a:p>
        </p:txBody>
      </p:sp>
      <p:sp>
        <p:nvSpPr>
          <p:cNvPr id="24" name="Text 22"/>
          <p:cNvSpPr/>
          <p:nvPr/>
        </p:nvSpPr>
        <p:spPr>
          <a:xfrm>
            <a:off x="6355080" y="1856232"/>
            <a:ext cx="1691640" cy="219456"/>
          </a:xfrm>
          <a:prstGeom prst="rect">
            <a:avLst/>
          </a:prstGeom>
          <a:noFill/>
          <a:ln/>
        </p:spPr>
        <p:txBody>
          <a:bodyPr wrap="square" lIns="0" tIns="0" rIns="0" bIns="0" rtlCol="0" anchor="ctr"/>
          <a:lstStyle/>
          <a:p>
            <a:pPr marL="0" indent="0" algn="ctr">
              <a:buNone/>
            </a:pPr>
            <a:r>
              <a:rPr lang="en-US" sz="1050" b="1" dirty="0">
                <a:solidFill>
                  <a:srgbClr val="4F81BD"/>
                </a:solidFill>
                <a:latin typeface="Calibri" pitchFamily="34" charset="0"/>
                <a:ea typeface="Calibri" pitchFamily="34" charset="-122"/>
                <a:cs typeface="Calibri" pitchFamily="34" charset="-120"/>
              </a:rPr>
              <a:t>Final Dataset</a:t>
            </a:r>
            <a:endParaRPr lang="en-US" sz="1050" dirty="0"/>
          </a:p>
        </p:txBody>
      </p:sp>
      <p:sp>
        <p:nvSpPr>
          <p:cNvPr id="25" name="Text 23"/>
          <p:cNvSpPr/>
          <p:nvPr/>
        </p:nvSpPr>
        <p:spPr>
          <a:xfrm>
            <a:off x="6373368" y="2130552"/>
            <a:ext cx="1655064" cy="1051560"/>
          </a:xfrm>
          <a:prstGeom prst="rect">
            <a:avLst/>
          </a:prstGeom>
          <a:noFill/>
          <a:ln/>
        </p:spPr>
        <p:txBody>
          <a:bodyPr wrap="square" lIns="254" tIns="254" rIns="254" bIns="254" rtlCol="0" anchor="ctr">
            <a:normAutofit/>
          </a:bodyPr>
          <a:lstStyle/>
          <a:p>
            <a:pPr marL="0" indent="0" algn="l">
              <a:buNone/>
            </a:pPr>
            <a:r>
              <a:rPr lang="en-US" sz="920" dirty="0">
                <a:solidFill>
                  <a:srgbClr val="000000"/>
                </a:solidFill>
                <a:latin typeface="Calibri" pitchFamily="34" charset="0"/>
                <a:ea typeface="Calibri" pitchFamily="34" charset="-122"/>
                <a:cs typeface="Calibri" pitchFamily="34" charset="-120"/>
              </a:rPr>
              <a:t>41,597 cleaned reviews</a:t>
            </a: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26,277 pre-2024</a:t>
            </a: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15,498 from 2024+</a:t>
            </a: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41,597 English reviews</a:t>
            </a:r>
            <a:endParaRPr lang="en-US" sz="920" dirty="0"/>
          </a:p>
        </p:txBody>
      </p:sp>
      <p:sp>
        <p:nvSpPr>
          <p:cNvPr id="26" name="Shape 24"/>
          <p:cNvSpPr/>
          <p:nvPr/>
        </p:nvSpPr>
        <p:spPr>
          <a:xfrm>
            <a:off x="438912" y="4800600"/>
            <a:ext cx="1417320" cy="329184"/>
          </a:xfrm>
          <a:prstGeom prst="rect">
            <a:avLst/>
          </a:prstGeom>
          <a:solidFill>
            <a:srgbClr val="DCE6F1"/>
          </a:solidFill>
          <a:ln w="12700">
            <a:solidFill>
              <a:srgbClr val="B8CCE4"/>
            </a:solidFill>
            <a:prstDash val="solid"/>
          </a:ln>
        </p:spPr>
        <p:txBody>
          <a:bodyPr/>
          <a:lstStyle/>
          <a:p>
            <a:endParaRPr lang="en-IN"/>
          </a:p>
        </p:txBody>
      </p:sp>
      <p:sp>
        <p:nvSpPr>
          <p:cNvPr id="27" name="Text 25"/>
          <p:cNvSpPr/>
          <p:nvPr/>
        </p:nvSpPr>
        <p:spPr>
          <a:xfrm>
            <a:off x="484632" y="4837176"/>
            <a:ext cx="1325880" cy="256032"/>
          </a:xfrm>
          <a:prstGeom prst="rect">
            <a:avLst/>
          </a:prstGeom>
          <a:noFill/>
          <a:ln/>
        </p:spPr>
        <p:txBody>
          <a:bodyPr wrap="square" lIns="254" tIns="254" rIns="254" bIns="254" rtlCol="0" anchor="ctr">
            <a:normAutofit/>
          </a:bodyPr>
          <a:lstStyle/>
          <a:p>
            <a:pPr marL="0" indent="0" algn="ctr">
              <a:buNone/>
            </a:pPr>
            <a:r>
              <a:rPr lang="en-US" sz="1000" b="1" dirty="0">
                <a:solidFill>
                  <a:srgbClr val="000000"/>
                </a:solidFill>
                <a:latin typeface="Calibri" pitchFamily="34" charset="0"/>
                <a:ea typeface="Calibri" pitchFamily="34" charset="-122"/>
                <a:cs typeface="Calibri" pitchFamily="34" charset="-120"/>
              </a:rPr>
              <a:t>Stage</a:t>
            </a:r>
            <a:endParaRPr lang="en-US" sz="1000" dirty="0"/>
          </a:p>
        </p:txBody>
      </p:sp>
      <p:sp>
        <p:nvSpPr>
          <p:cNvPr id="28" name="Shape 26"/>
          <p:cNvSpPr/>
          <p:nvPr/>
        </p:nvSpPr>
        <p:spPr>
          <a:xfrm>
            <a:off x="1856232" y="4800600"/>
            <a:ext cx="6281928" cy="329184"/>
          </a:xfrm>
          <a:prstGeom prst="rect">
            <a:avLst/>
          </a:prstGeom>
          <a:solidFill>
            <a:srgbClr val="DCE6F1"/>
          </a:solidFill>
          <a:ln w="12700">
            <a:solidFill>
              <a:srgbClr val="B8CCE4"/>
            </a:solidFill>
            <a:prstDash val="solid"/>
          </a:ln>
        </p:spPr>
        <p:txBody>
          <a:bodyPr/>
          <a:lstStyle/>
          <a:p>
            <a:endParaRPr lang="en-IN"/>
          </a:p>
        </p:txBody>
      </p:sp>
      <p:sp>
        <p:nvSpPr>
          <p:cNvPr id="29" name="Text 27"/>
          <p:cNvSpPr/>
          <p:nvPr/>
        </p:nvSpPr>
        <p:spPr>
          <a:xfrm>
            <a:off x="1901952" y="4837176"/>
            <a:ext cx="6190488" cy="256032"/>
          </a:xfrm>
          <a:prstGeom prst="rect">
            <a:avLst/>
          </a:prstGeom>
          <a:noFill/>
          <a:ln/>
        </p:spPr>
        <p:txBody>
          <a:bodyPr wrap="square" lIns="254" tIns="254" rIns="254" bIns="254" rtlCol="0" anchor="ctr">
            <a:normAutofit/>
          </a:bodyPr>
          <a:lstStyle/>
          <a:p>
            <a:pPr marL="0" indent="0" algn="ctr">
              <a:buNone/>
            </a:pPr>
            <a:r>
              <a:rPr lang="en-US" sz="1000" b="1" dirty="0">
                <a:solidFill>
                  <a:srgbClr val="000000"/>
                </a:solidFill>
                <a:latin typeface="Calibri" pitchFamily="34" charset="0"/>
                <a:ea typeface="Calibri" pitchFamily="34" charset="-122"/>
                <a:cs typeface="Calibri" pitchFamily="34" charset="-120"/>
              </a:rPr>
              <a:t>Tabular Explanation</a:t>
            </a:r>
            <a:endParaRPr lang="en-US" sz="1000" dirty="0"/>
          </a:p>
        </p:txBody>
      </p:sp>
      <p:sp>
        <p:nvSpPr>
          <p:cNvPr id="30" name="Shape 28"/>
          <p:cNvSpPr/>
          <p:nvPr/>
        </p:nvSpPr>
        <p:spPr>
          <a:xfrm>
            <a:off x="438912" y="5129784"/>
            <a:ext cx="1417320" cy="329184"/>
          </a:xfrm>
          <a:prstGeom prst="rect">
            <a:avLst/>
          </a:prstGeom>
          <a:solidFill>
            <a:srgbClr val="F3F6FA"/>
          </a:solidFill>
          <a:ln w="12700">
            <a:solidFill>
              <a:srgbClr val="D9D9D9"/>
            </a:solidFill>
            <a:prstDash val="solid"/>
          </a:ln>
        </p:spPr>
        <p:txBody>
          <a:bodyPr/>
          <a:lstStyle/>
          <a:p>
            <a:endParaRPr lang="en-IN"/>
          </a:p>
        </p:txBody>
      </p:sp>
      <p:sp>
        <p:nvSpPr>
          <p:cNvPr id="31" name="Text 29"/>
          <p:cNvSpPr/>
          <p:nvPr/>
        </p:nvSpPr>
        <p:spPr>
          <a:xfrm>
            <a:off x="484632" y="5166360"/>
            <a:ext cx="1325880" cy="256032"/>
          </a:xfrm>
          <a:prstGeom prst="rect">
            <a:avLst/>
          </a:prstGeom>
          <a:noFill/>
          <a:ln/>
        </p:spPr>
        <p:txBody>
          <a:bodyPr wrap="square" lIns="254" tIns="254" rIns="254" bIns="254" rtlCol="0" anchor="ctr">
            <a:normAutofit/>
          </a:bodyPr>
          <a:lstStyle/>
          <a:p>
            <a:pPr marL="0" indent="0" algn="l">
              <a:buNone/>
            </a:pPr>
            <a:r>
              <a:rPr lang="en-US" sz="940" b="1" dirty="0">
                <a:solidFill>
                  <a:srgbClr val="000000"/>
                </a:solidFill>
                <a:latin typeface="Calibri" pitchFamily="34" charset="0"/>
                <a:ea typeface="Calibri" pitchFamily="34" charset="-122"/>
                <a:cs typeface="Calibri" pitchFamily="34" charset="-120"/>
              </a:rPr>
              <a:t>Collection</a:t>
            </a:r>
            <a:endParaRPr lang="en-US" sz="940" dirty="0"/>
          </a:p>
        </p:txBody>
      </p:sp>
      <p:sp>
        <p:nvSpPr>
          <p:cNvPr id="32" name="Shape 30"/>
          <p:cNvSpPr/>
          <p:nvPr/>
        </p:nvSpPr>
        <p:spPr>
          <a:xfrm>
            <a:off x="1856232" y="5129784"/>
            <a:ext cx="6281928" cy="329184"/>
          </a:xfrm>
          <a:prstGeom prst="rect">
            <a:avLst/>
          </a:prstGeom>
          <a:solidFill>
            <a:srgbClr val="FFFFFF"/>
          </a:solidFill>
          <a:ln w="12700">
            <a:solidFill>
              <a:srgbClr val="D9D9D9"/>
            </a:solidFill>
            <a:prstDash val="solid"/>
          </a:ln>
        </p:spPr>
        <p:txBody>
          <a:bodyPr/>
          <a:lstStyle/>
          <a:p>
            <a:endParaRPr lang="en-IN"/>
          </a:p>
        </p:txBody>
      </p:sp>
      <p:sp>
        <p:nvSpPr>
          <p:cNvPr id="33" name="Text 31"/>
          <p:cNvSpPr/>
          <p:nvPr/>
        </p:nvSpPr>
        <p:spPr>
          <a:xfrm>
            <a:off x="1901952" y="5166360"/>
            <a:ext cx="6190488" cy="256032"/>
          </a:xfrm>
          <a:prstGeom prst="rect">
            <a:avLst/>
          </a:prstGeom>
          <a:noFill/>
          <a:ln/>
        </p:spPr>
        <p:txBody>
          <a:bodyPr wrap="square" lIns="254" tIns="254" rIns="254" bIns="254" rtlCol="0" anchor="ctr">
            <a:normAutofit/>
          </a:bodyPr>
          <a:lstStyle/>
          <a:p>
            <a:pPr marL="0" indent="0" algn="l">
              <a:buNone/>
            </a:pPr>
            <a:r>
              <a:rPr lang="en-US" sz="920" dirty="0">
                <a:solidFill>
                  <a:srgbClr val="000000"/>
                </a:solidFill>
                <a:latin typeface="Calibri" pitchFamily="34" charset="0"/>
                <a:ea typeface="Calibri" pitchFamily="34" charset="-122"/>
                <a:cs typeface="Calibri" pitchFamily="34" charset="-120"/>
              </a:rPr>
              <a:t>Google Play Store reviews were collected under relevant, rating-based, and newest retrieval modes to reduce single-sort bias.</a:t>
            </a:r>
            <a:endParaRPr lang="en-US" sz="920" dirty="0"/>
          </a:p>
        </p:txBody>
      </p:sp>
      <p:sp>
        <p:nvSpPr>
          <p:cNvPr id="34" name="Shape 32"/>
          <p:cNvSpPr/>
          <p:nvPr/>
        </p:nvSpPr>
        <p:spPr>
          <a:xfrm>
            <a:off x="438912" y="5458968"/>
            <a:ext cx="1417320" cy="329184"/>
          </a:xfrm>
          <a:prstGeom prst="rect">
            <a:avLst/>
          </a:prstGeom>
          <a:solidFill>
            <a:srgbClr val="F3F6FA"/>
          </a:solidFill>
          <a:ln w="12700">
            <a:solidFill>
              <a:srgbClr val="D9D9D9"/>
            </a:solidFill>
            <a:prstDash val="solid"/>
          </a:ln>
        </p:spPr>
        <p:txBody>
          <a:bodyPr/>
          <a:lstStyle/>
          <a:p>
            <a:endParaRPr lang="en-IN"/>
          </a:p>
        </p:txBody>
      </p:sp>
      <p:sp>
        <p:nvSpPr>
          <p:cNvPr id="35" name="Text 33"/>
          <p:cNvSpPr/>
          <p:nvPr/>
        </p:nvSpPr>
        <p:spPr>
          <a:xfrm>
            <a:off x="484632" y="5495544"/>
            <a:ext cx="1325880" cy="256032"/>
          </a:xfrm>
          <a:prstGeom prst="rect">
            <a:avLst/>
          </a:prstGeom>
          <a:noFill/>
          <a:ln/>
        </p:spPr>
        <p:txBody>
          <a:bodyPr wrap="square" lIns="254" tIns="254" rIns="254" bIns="254" rtlCol="0" anchor="ctr">
            <a:normAutofit/>
          </a:bodyPr>
          <a:lstStyle/>
          <a:p>
            <a:pPr marL="0" indent="0" algn="l">
              <a:buNone/>
            </a:pPr>
            <a:r>
              <a:rPr lang="en-US" sz="940" b="1" dirty="0">
                <a:solidFill>
                  <a:srgbClr val="000000"/>
                </a:solidFill>
                <a:latin typeface="Calibri" pitchFamily="34" charset="0"/>
                <a:ea typeface="Calibri" pitchFamily="34" charset="-122"/>
                <a:cs typeface="Calibri" pitchFamily="34" charset="-120"/>
              </a:rPr>
              <a:t>Cleaning</a:t>
            </a:r>
            <a:endParaRPr lang="en-US" sz="940" dirty="0"/>
          </a:p>
        </p:txBody>
      </p:sp>
      <p:sp>
        <p:nvSpPr>
          <p:cNvPr id="36" name="Shape 34"/>
          <p:cNvSpPr/>
          <p:nvPr/>
        </p:nvSpPr>
        <p:spPr>
          <a:xfrm>
            <a:off x="1856232" y="5458968"/>
            <a:ext cx="6281928" cy="329184"/>
          </a:xfrm>
          <a:prstGeom prst="rect">
            <a:avLst/>
          </a:prstGeom>
          <a:solidFill>
            <a:srgbClr val="FFFFFF"/>
          </a:solidFill>
          <a:ln w="12700">
            <a:solidFill>
              <a:srgbClr val="D9D9D9"/>
            </a:solidFill>
            <a:prstDash val="solid"/>
          </a:ln>
        </p:spPr>
        <p:txBody>
          <a:bodyPr/>
          <a:lstStyle/>
          <a:p>
            <a:endParaRPr lang="en-IN"/>
          </a:p>
        </p:txBody>
      </p:sp>
      <p:sp>
        <p:nvSpPr>
          <p:cNvPr id="37" name="Text 35"/>
          <p:cNvSpPr/>
          <p:nvPr/>
        </p:nvSpPr>
        <p:spPr>
          <a:xfrm>
            <a:off x="1901952" y="5495544"/>
            <a:ext cx="6190488" cy="256032"/>
          </a:xfrm>
          <a:prstGeom prst="rect">
            <a:avLst/>
          </a:prstGeom>
          <a:noFill/>
          <a:ln/>
        </p:spPr>
        <p:txBody>
          <a:bodyPr wrap="square" lIns="254" tIns="254" rIns="254" bIns="254" rtlCol="0" anchor="ctr">
            <a:normAutofit lnSpcReduction="10000"/>
          </a:bodyPr>
          <a:lstStyle/>
          <a:p>
            <a:pPr marL="0" indent="0" algn="l">
              <a:buNone/>
            </a:pPr>
            <a:r>
              <a:rPr lang="en-US" sz="920" dirty="0">
                <a:solidFill>
                  <a:srgbClr val="000000"/>
                </a:solidFill>
                <a:latin typeface="Calibri" pitchFamily="34" charset="0"/>
                <a:ea typeface="Calibri" pitchFamily="34" charset="-122"/>
                <a:cs typeface="Calibri" pitchFamily="34" charset="-120"/>
              </a:rPr>
              <a:t>Merged review pulls were deduplicated and normalized before analysis, preserving rating, text, year, recency bucket, and theme fields.</a:t>
            </a:r>
            <a:endParaRPr lang="en-US" sz="920" dirty="0"/>
          </a:p>
        </p:txBody>
      </p:sp>
      <p:sp>
        <p:nvSpPr>
          <p:cNvPr id="38" name="Shape 36"/>
          <p:cNvSpPr/>
          <p:nvPr/>
        </p:nvSpPr>
        <p:spPr>
          <a:xfrm>
            <a:off x="438912" y="5788152"/>
            <a:ext cx="1417320" cy="329184"/>
          </a:xfrm>
          <a:prstGeom prst="rect">
            <a:avLst/>
          </a:prstGeom>
          <a:solidFill>
            <a:srgbClr val="F3F6FA"/>
          </a:solidFill>
          <a:ln w="12700">
            <a:solidFill>
              <a:srgbClr val="D9D9D9"/>
            </a:solidFill>
            <a:prstDash val="solid"/>
          </a:ln>
        </p:spPr>
        <p:txBody>
          <a:bodyPr/>
          <a:lstStyle/>
          <a:p>
            <a:endParaRPr lang="en-IN"/>
          </a:p>
        </p:txBody>
      </p:sp>
      <p:sp>
        <p:nvSpPr>
          <p:cNvPr id="39" name="Text 37"/>
          <p:cNvSpPr/>
          <p:nvPr/>
        </p:nvSpPr>
        <p:spPr>
          <a:xfrm>
            <a:off x="484632" y="5824728"/>
            <a:ext cx="1325880" cy="256032"/>
          </a:xfrm>
          <a:prstGeom prst="rect">
            <a:avLst/>
          </a:prstGeom>
          <a:noFill/>
          <a:ln/>
        </p:spPr>
        <p:txBody>
          <a:bodyPr wrap="square" lIns="254" tIns="254" rIns="254" bIns="254" rtlCol="0" anchor="ctr">
            <a:normAutofit/>
          </a:bodyPr>
          <a:lstStyle/>
          <a:p>
            <a:pPr marL="0" indent="0" algn="l">
              <a:buNone/>
            </a:pPr>
            <a:r>
              <a:rPr lang="en-US" sz="940" b="1" dirty="0">
                <a:solidFill>
                  <a:srgbClr val="000000"/>
                </a:solidFill>
                <a:latin typeface="Calibri" pitchFamily="34" charset="0"/>
                <a:ea typeface="Calibri" pitchFamily="34" charset="-122"/>
                <a:cs typeface="Calibri" pitchFamily="34" charset="-120"/>
              </a:rPr>
              <a:t>Outcome</a:t>
            </a:r>
            <a:endParaRPr lang="en-US" sz="940" dirty="0"/>
          </a:p>
        </p:txBody>
      </p:sp>
      <p:sp>
        <p:nvSpPr>
          <p:cNvPr id="40" name="Shape 38"/>
          <p:cNvSpPr/>
          <p:nvPr/>
        </p:nvSpPr>
        <p:spPr>
          <a:xfrm>
            <a:off x="1856232" y="5788152"/>
            <a:ext cx="6281928" cy="329184"/>
          </a:xfrm>
          <a:prstGeom prst="rect">
            <a:avLst/>
          </a:prstGeom>
          <a:solidFill>
            <a:srgbClr val="FFFFFF"/>
          </a:solidFill>
          <a:ln w="12700">
            <a:solidFill>
              <a:srgbClr val="D9D9D9"/>
            </a:solidFill>
            <a:prstDash val="solid"/>
          </a:ln>
        </p:spPr>
        <p:txBody>
          <a:bodyPr/>
          <a:lstStyle/>
          <a:p>
            <a:endParaRPr lang="en-IN"/>
          </a:p>
        </p:txBody>
      </p:sp>
      <p:sp>
        <p:nvSpPr>
          <p:cNvPr id="41" name="Text 39"/>
          <p:cNvSpPr/>
          <p:nvPr/>
        </p:nvSpPr>
        <p:spPr>
          <a:xfrm>
            <a:off x="1901952" y="5824728"/>
            <a:ext cx="6190488" cy="256032"/>
          </a:xfrm>
          <a:prstGeom prst="rect">
            <a:avLst/>
          </a:prstGeom>
          <a:noFill/>
          <a:ln/>
        </p:spPr>
        <p:txBody>
          <a:bodyPr wrap="square" lIns="254" tIns="254" rIns="254" bIns="254" rtlCol="0" anchor="ctr">
            <a:normAutofit/>
          </a:bodyPr>
          <a:lstStyle/>
          <a:p>
            <a:pPr marL="0" indent="0" algn="l">
              <a:buNone/>
            </a:pPr>
            <a:r>
              <a:rPr lang="en-US" sz="920" dirty="0">
                <a:solidFill>
                  <a:srgbClr val="000000"/>
                </a:solidFill>
                <a:latin typeface="Calibri" pitchFamily="34" charset="0"/>
                <a:ea typeface="Calibri" pitchFamily="34" charset="-122"/>
                <a:cs typeface="Calibri" pitchFamily="34" charset="-120"/>
              </a:rPr>
              <a:t>The result was one analysis-ready Zomato review base that could support sentiment modeling and later interpretation.</a:t>
            </a:r>
            <a:endParaRPr lang="en-US" sz="920" dirty="0"/>
          </a:p>
        </p:txBody>
      </p:sp>
      <p:sp>
        <p:nvSpPr>
          <p:cNvPr id="42" name="Text 40"/>
          <p:cNvSpPr/>
          <p:nvPr/>
        </p:nvSpPr>
        <p:spPr>
          <a:xfrm>
            <a:off x="2971800" y="6217920"/>
            <a:ext cx="3200400" cy="201168"/>
          </a:xfrm>
          <a:prstGeom prst="rect">
            <a:avLst/>
          </a:prstGeom>
          <a:noFill/>
          <a:ln/>
        </p:spPr>
        <p:txBody>
          <a:bodyPr wrap="square" lIns="0" tIns="0" rIns="0" bIns="0" rtlCol="0" anchor="ctr"/>
          <a:lstStyle/>
          <a:p>
            <a:pPr marL="0" indent="0" algn="ctr">
              <a:buNone/>
            </a:pPr>
            <a:r>
              <a:rPr lang="en-US" sz="1000" dirty="0">
                <a:solidFill>
                  <a:srgbClr val="4F81BD"/>
                </a:solidFill>
                <a:latin typeface="Calibri" pitchFamily="34" charset="0"/>
                <a:ea typeface="Calibri" pitchFamily="34" charset="-122"/>
                <a:cs typeface="Calibri" pitchFamily="34" charset="-120"/>
              </a:rPr>
              <a:t>VIT ONLINE MBA</a:t>
            </a:r>
            <a:endParaRPr lang="en-US" sz="1000" dirty="0"/>
          </a:p>
        </p:txBody>
      </p:sp>
      <p:sp>
        <p:nvSpPr>
          <p:cNvPr id="43" name="Text 41"/>
          <p:cNvSpPr/>
          <p:nvPr/>
        </p:nvSpPr>
        <p:spPr>
          <a:xfrm>
            <a:off x="164592" y="6419088"/>
            <a:ext cx="731520" cy="146304"/>
          </a:xfrm>
          <a:prstGeom prst="rect">
            <a:avLst/>
          </a:prstGeom>
          <a:noFill/>
          <a:ln/>
        </p:spPr>
        <p:txBody>
          <a:bodyPr wrap="square" lIns="0" tIns="0" rIns="0" bIns="0" rtlCol="0" anchor="ctr"/>
          <a:lstStyle/>
          <a:p>
            <a:pPr marL="0" indent="0">
              <a:buNone/>
            </a:pPr>
            <a:r>
              <a:rPr lang="en-US" sz="550" dirty="0">
                <a:solidFill>
                  <a:srgbClr val="666666"/>
                </a:solidFill>
                <a:latin typeface="Calibri" pitchFamily="34" charset="0"/>
                <a:ea typeface="Calibri" pitchFamily="34" charset="-122"/>
                <a:cs typeface="Calibri" pitchFamily="34" charset="-120"/>
              </a:rPr>
              <a:t>Slide 03</a:t>
            </a:r>
            <a:endParaRPr lang="en-US" sz="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Data Pre-processing</a:t>
            </a:r>
            <a:endParaRPr lang="en-US" sz="2400" dirty="0"/>
          </a:p>
        </p:txBody>
      </p:sp>
      <p:sp>
        <p:nvSpPr>
          <p:cNvPr id="3" name="Text 1"/>
          <p:cNvSpPr/>
          <p:nvPr/>
        </p:nvSpPr>
        <p:spPr>
          <a:xfrm>
            <a:off x="658368" y="932688"/>
            <a:ext cx="7315200" cy="219456"/>
          </a:xfrm>
          <a:prstGeom prst="rect">
            <a:avLst/>
          </a:prstGeom>
          <a:noFill/>
          <a:ln/>
        </p:spPr>
        <p:txBody>
          <a:bodyPr wrap="square" lIns="0" tIns="0" rIns="0" bIns="0" rtlCol="0" anchor="ctr"/>
          <a:lstStyle/>
          <a:p>
            <a:pPr marL="0" indent="0" algn="ctr">
              <a:buNone/>
            </a:pPr>
            <a:r>
              <a:rPr lang="en-US" sz="1100" dirty="0">
                <a:solidFill>
                  <a:srgbClr val="666666"/>
                </a:solidFill>
                <a:latin typeface="Calibri" pitchFamily="34" charset="0"/>
                <a:ea typeface="Calibri" pitchFamily="34" charset="-122"/>
                <a:cs typeface="Calibri" pitchFamily="34" charset="-120"/>
              </a:rPr>
              <a:t>The merged Play Store review pool was cleaned in stages before modeling and interpretation.</a:t>
            </a:r>
            <a:endParaRPr lang="en-US" sz="1100" dirty="0"/>
          </a:p>
        </p:txBody>
      </p:sp>
      <p:sp>
        <p:nvSpPr>
          <p:cNvPr id="4" name="Shape 2"/>
          <p:cNvSpPr/>
          <p:nvPr/>
        </p:nvSpPr>
        <p:spPr>
          <a:xfrm>
            <a:off x="457200" y="1325880"/>
            <a:ext cx="1234440" cy="384048"/>
          </a:xfrm>
          <a:prstGeom prst="rect">
            <a:avLst/>
          </a:prstGeom>
          <a:solidFill>
            <a:srgbClr val="DCE6F1"/>
          </a:solidFill>
          <a:ln w="12700">
            <a:solidFill>
              <a:srgbClr val="B8CCE4"/>
            </a:solidFill>
            <a:prstDash val="solid"/>
          </a:ln>
        </p:spPr>
        <p:txBody>
          <a:bodyPr/>
          <a:lstStyle/>
          <a:p>
            <a:endParaRPr lang="en-IN"/>
          </a:p>
        </p:txBody>
      </p:sp>
      <p:sp>
        <p:nvSpPr>
          <p:cNvPr id="5" name="Text 3"/>
          <p:cNvSpPr/>
          <p:nvPr/>
        </p:nvSpPr>
        <p:spPr>
          <a:xfrm>
            <a:off x="502920" y="1362456"/>
            <a:ext cx="1143000" cy="310896"/>
          </a:xfrm>
          <a:prstGeom prst="rect">
            <a:avLst/>
          </a:prstGeom>
          <a:noFill/>
          <a:ln/>
        </p:spPr>
        <p:txBody>
          <a:bodyPr wrap="square" lIns="254" tIns="254" rIns="254" bIns="254" rtlCol="0" anchor="ctr">
            <a:normAutofit/>
          </a:bodyPr>
          <a:lstStyle/>
          <a:p>
            <a:pPr marL="0" indent="0" algn="ctr">
              <a:buNone/>
            </a:pPr>
            <a:r>
              <a:rPr lang="en-US" sz="1000" b="1" dirty="0">
                <a:solidFill>
                  <a:srgbClr val="000000"/>
                </a:solidFill>
                <a:latin typeface="Calibri" pitchFamily="34" charset="0"/>
                <a:ea typeface="Calibri" pitchFamily="34" charset="-122"/>
                <a:cs typeface="Calibri" pitchFamily="34" charset="-120"/>
              </a:rPr>
              <a:t>Step</a:t>
            </a:r>
            <a:endParaRPr lang="en-US" sz="1000" dirty="0"/>
          </a:p>
        </p:txBody>
      </p:sp>
      <p:sp>
        <p:nvSpPr>
          <p:cNvPr id="6" name="Shape 4"/>
          <p:cNvSpPr/>
          <p:nvPr/>
        </p:nvSpPr>
        <p:spPr>
          <a:xfrm>
            <a:off x="1691640" y="1325880"/>
            <a:ext cx="4526280" cy="384048"/>
          </a:xfrm>
          <a:prstGeom prst="rect">
            <a:avLst/>
          </a:prstGeom>
          <a:solidFill>
            <a:srgbClr val="DCE6F1"/>
          </a:solidFill>
          <a:ln w="12700">
            <a:solidFill>
              <a:srgbClr val="B8CCE4"/>
            </a:solidFill>
            <a:prstDash val="solid"/>
          </a:ln>
        </p:spPr>
        <p:txBody>
          <a:bodyPr/>
          <a:lstStyle/>
          <a:p>
            <a:endParaRPr lang="en-IN"/>
          </a:p>
        </p:txBody>
      </p:sp>
      <p:sp>
        <p:nvSpPr>
          <p:cNvPr id="7" name="Text 5"/>
          <p:cNvSpPr/>
          <p:nvPr/>
        </p:nvSpPr>
        <p:spPr>
          <a:xfrm>
            <a:off x="1737360" y="1362456"/>
            <a:ext cx="4434840" cy="310896"/>
          </a:xfrm>
          <a:prstGeom prst="rect">
            <a:avLst/>
          </a:prstGeom>
          <a:noFill/>
          <a:ln/>
        </p:spPr>
        <p:txBody>
          <a:bodyPr wrap="square" lIns="254" tIns="254" rIns="254" bIns="254" rtlCol="0" anchor="ctr">
            <a:normAutofit/>
          </a:bodyPr>
          <a:lstStyle/>
          <a:p>
            <a:pPr marL="0" indent="0" algn="ctr">
              <a:buNone/>
            </a:pPr>
            <a:r>
              <a:rPr lang="en-US" sz="1000" b="1" dirty="0">
                <a:solidFill>
                  <a:srgbClr val="000000"/>
                </a:solidFill>
                <a:latin typeface="Calibri" pitchFamily="34" charset="0"/>
                <a:ea typeface="Calibri" pitchFamily="34" charset="-122"/>
                <a:cs typeface="Calibri" pitchFamily="34" charset="-120"/>
              </a:rPr>
              <a:t>What We Did</a:t>
            </a:r>
            <a:endParaRPr lang="en-US" sz="1000" dirty="0"/>
          </a:p>
        </p:txBody>
      </p:sp>
      <p:sp>
        <p:nvSpPr>
          <p:cNvPr id="8" name="Shape 6"/>
          <p:cNvSpPr/>
          <p:nvPr/>
        </p:nvSpPr>
        <p:spPr>
          <a:xfrm>
            <a:off x="6217920" y="1325880"/>
            <a:ext cx="1965960" cy="384048"/>
          </a:xfrm>
          <a:prstGeom prst="rect">
            <a:avLst/>
          </a:prstGeom>
          <a:solidFill>
            <a:srgbClr val="DCE6F1"/>
          </a:solidFill>
          <a:ln w="12700">
            <a:solidFill>
              <a:srgbClr val="B8CCE4"/>
            </a:solidFill>
            <a:prstDash val="solid"/>
          </a:ln>
        </p:spPr>
        <p:txBody>
          <a:bodyPr/>
          <a:lstStyle/>
          <a:p>
            <a:endParaRPr lang="en-IN"/>
          </a:p>
        </p:txBody>
      </p:sp>
      <p:sp>
        <p:nvSpPr>
          <p:cNvPr id="9" name="Text 7"/>
          <p:cNvSpPr/>
          <p:nvPr/>
        </p:nvSpPr>
        <p:spPr>
          <a:xfrm>
            <a:off x="6263640" y="1362456"/>
            <a:ext cx="1874520" cy="310896"/>
          </a:xfrm>
          <a:prstGeom prst="rect">
            <a:avLst/>
          </a:prstGeom>
          <a:noFill/>
          <a:ln/>
        </p:spPr>
        <p:txBody>
          <a:bodyPr wrap="square" lIns="254" tIns="254" rIns="254" bIns="254" rtlCol="0" anchor="ctr">
            <a:normAutofit/>
          </a:bodyPr>
          <a:lstStyle/>
          <a:p>
            <a:pPr marL="0" indent="0" algn="ctr">
              <a:buNone/>
            </a:pPr>
            <a:r>
              <a:rPr lang="en-US" sz="1000" b="1" dirty="0">
                <a:solidFill>
                  <a:srgbClr val="000000"/>
                </a:solidFill>
                <a:latin typeface="Calibri" pitchFamily="34" charset="0"/>
                <a:ea typeface="Calibri" pitchFamily="34" charset="-122"/>
                <a:cs typeface="Calibri" pitchFamily="34" charset="-120"/>
              </a:rPr>
              <a:t>Effect on Data</a:t>
            </a:r>
            <a:endParaRPr lang="en-US" sz="1000" dirty="0"/>
          </a:p>
        </p:txBody>
      </p:sp>
      <p:sp>
        <p:nvSpPr>
          <p:cNvPr id="10" name="Shape 8"/>
          <p:cNvSpPr/>
          <p:nvPr/>
        </p:nvSpPr>
        <p:spPr>
          <a:xfrm>
            <a:off x="457200" y="1709928"/>
            <a:ext cx="1234440" cy="621792"/>
          </a:xfrm>
          <a:prstGeom prst="rect">
            <a:avLst/>
          </a:prstGeom>
          <a:solidFill>
            <a:srgbClr val="F3F6FA"/>
          </a:solidFill>
          <a:ln w="12700">
            <a:solidFill>
              <a:srgbClr val="D9D9D9"/>
            </a:solidFill>
            <a:prstDash val="solid"/>
          </a:ln>
        </p:spPr>
        <p:txBody>
          <a:bodyPr/>
          <a:lstStyle/>
          <a:p>
            <a:endParaRPr lang="en-IN"/>
          </a:p>
        </p:txBody>
      </p:sp>
      <p:sp>
        <p:nvSpPr>
          <p:cNvPr id="11" name="Text 9"/>
          <p:cNvSpPr/>
          <p:nvPr/>
        </p:nvSpPr>
        <p:spPr>
          <a:xfrm>
            <a:off x="502920" y="1746504"/>
            <a:ext cx="1143000" cy="548640"/>
          </a:xfrm>
          <a:prstGeom prst="rect">
            <a:avLst/>
          </a:prstGeom>
          <a:noFill/>
          <a:ln/>
        </p:spPr>
        <p:txBody>
          <a:bodyPr wrap="square" lIns="254" tIns="254" rIns="254" bIns="254" rtlCol="0" anchor="ctr">
            <a:normAutofit/>
          </a:bodyPr>
          <a:lstStyle/>
          <a:p>
            <a:pPr marL="0" indent="0" algn="l">
              <a:buNone/>
            </a:pPr>
            <a:r>
              <a:rPr lang="en-US" sz="980" b="1" dirty="0">
                <a:solidFill>
                  <a:srgbClr val="000000"/>
                </a:solidFill>
                <a:latin typeface="Calibri" pitchFamily="34" charset="0"/>
                <a:ea typeface="Calibri" pitchFamily="34" charset="-122"/>
                <a:cs typeface="Calibri" pitchFamily="34" charset="-120"/>
              </a:rPr>
              <a:t>Merge</a:t>
            </a:r>
            <a:endParaRPr lang="en-US" sz="980" dirty="0"/>
          </a:p>
        </p:txBody>
      </p:sp>
      <p:sp>
        <p:nvSpPr>
          <p:cNvPr id="12" name="Shape 10"/>
          <p:cNvSpPr/>
          <p:nvPr/>
        </p:nvSpPr>
        <p:spPr>
          <a:xfrm>
            <a:off x="1691640" y="1709928"/>
            <a:ext cx="4526280" cy="621792"/>
          </a:xfrm>
          <a:prstGeom prst="rect">
            <a:avLst/>
          </a:prstGeom>
          <a:solidFill>
            <a:srgbClr val="FFFFFF"/>
          </a:solidFill>
          <a:ln w="12700">
            <a:solidFill>
              <a:srgbClr val="D9D9D9"/>
            </a:solidFill>
            <a:prstDash val="solid"/>
          </a:ln>
        </p:spPr>
        <p:txBody>
          <a:bodyPr/>
          <a:lstStyle/>
          <a:p>
            <a:endParaRPr lang="en-IN"/>
          </a:p>
        </p:txBody>
      </p:sp>
      <p:sp>
        <p:nvSpPr>
          <p:cNvPr id="13" name="Text 11"/>
          <p:cNvSpPr/>
          <p:nvPr/>
        </p:nvSpPr>
        <p:spPr>
          <a:xfrm>
            <a:off x="1737360" y="1746504"/>
            <a:ext cx="4434840" cy="548640"/>
          </a:xfrm>
          <a:prstGeom prst="rect">
            <a:avLst/>
          </a:prstGeom>
          <a:noFill/>
          <a:ln/>
        </p:spPr>
        <p:txBody>
          <a:bodyPr wrap="square" lIns="254" tIns="254" rIns="254" bIns="254" rtlCol="0" anchor="ctr">
            <a:normAutofit/>
          </a:bodyPr>
          <a:lstStyle/>
          <a:p>
            <a:pPr marL="0" indent="0" algn="l">
              <a:buNone/>
            </a:pPr>
            <a:r>
              <a:rPr lang="en-US" sz="930" dirty="0">
                <a:solidFill>
                  <a:srgbClr val="000000"/>
                </a:solidFill>
                <a:latin typeface="Calibri" pitchFamily="34" charset="0"/>
                <a:ea typeface="Calibri" pitchFamily="34" charset="-122"/>
                <a:cs typeface="Calibri" pitchFamily="34" charset="-120"/>
              </a:rPr>
              <a:t>Combined cleaned review pulls from relevant, rating-based, newest English folders into one working file.</a:t>
            </a:r>
            <a:endParaRPr lang="en-US" sz="930" dirty="0"/>
          </a:p>
        </p:txBody>
      </p:sp>
      <p:sp>
        <p:nvSpPr>
          <p:cNvPr id="14" name="Shape 12"/>
          <p:cNvSpPr/>
          <p:nvPr/>
        </p:nvSpPr>
        <p:spPr>
          <a:xfrm>
            <a:off x="6217920" y="1709928"/>
            <a:ext cx="1965960" cy="621792"/>
          </a:xfrm>
          <a:prstGeom prst="rect">
            <a:avLst/>
          </a:prstGeom>
          <a:solidFill>
            <a:srgbClr val="FFFFFF"/>
          </a:solidFill>
          <a:ln w="12700">
            <a:solidFill>
              <a:srgbClr val="D9D9D9"/>
            </a:solidFill>
            <a:prstDash val="solid"/>
          </a:ln>
        </p:spPr>
        <p:txBody>
          <a:bodyPr/>
          <a:lstStyle/>
          <a:p>
            <a:endParaRPr lang="en-IN"/>
          </a:p>
        </p:txBody>
      </p:sp>
      <p:sp>
        <p:nvSpPr>
          <p:cNvPr id="15" name="Text 13"/>
          <p:cNvSpPr/>
          <p:nvPr/>
        </p:nvSpPr>
        <p:spPr>
          <a:xfrm>
            <a:off x="6263640" y="1746504"/>
            <a:ext cx="1874520" cy="548640"/>
          </a:xfrm>
          <a:prstGeom prst="rect">
            <a:avLst/>
          </a:prstGeom>
          <a:noFill/>
          <a:ln/>
        </p:spPr>
        <p:txBody>
          <a:bodyPr wrap="square" lIns="254" tIns="254" rIns="254" bIns="254" rtlCol="0" anchor="ctr">
            <a:normAutofit/>
          </a:bodyPr>
          <a:lstStyle/>
          <a:p>
            <a:pPr marL="0" indent="0" algn="ctr">
              <a:buNone/>
            </a:pPr>
            <a:r>
              <a:rPr lang="en-US" sz="930" dirty="0">
                <a:solidFill>
                  <a:srgbClr val="000000"/>
                </a:solidFill>
                <a:latin typeface="Calibri" pitchFamily="34" charset="0"/>
                <a:ea typeface="Calibri" pitchFamily="34" charset="-122"/>
                <a:cs typeface="Calibri" pitchFamily="34" charset="-120"/>
              </a:rPr>
              <a:t>46,193 rows before dedupe</a:t>
            </a:r>
            <a:endParaRPr lang="en-US" sz="930" dirty="0"/>
          </a:p>
        </p:txBody>
      </p:sp>
      <p:sp>
        <p:nvSpPr>
          <p:cNvPr id="16" name="Shape 14"/>
          <p:cNvSpPr/>
          <p:nvPr/>
        </p:nvSpPr>
        <p:spPr>
          <a:xfrm>
            <a:off x="457200" y="2331720"/>
            <a:ext cx="1234440" cy="621792"/>
          </a:xfrm>
          <a:prstGeom prst="rect">
            <a:avLst/>
          </a:prstGeom>
          <a:solidFill>
            <a:srgbClr val="F3F6FA"/>
          </a:solidFill>
          <a:ln w="12700">
            <a:solidFill>
              <a:srgbClr val="D9D9D9"/>
            </a:solidFill>
            <a:prstDash val="solid"/>
          </a:ln>
        </p:spPr>
        <p:txBody>
          <a:bodyPr/>
          <a:lstStyle/>
          <a:p>
            <a:endParaRPr lang="en-IN"/>
          </a:p>
        </p:txBody>
      </p:sp>
      <p:sp>
        <p:nvSpPr>
          <p:cNvPr id="17" name="Text 15"/>
          <p:cNvSpPr/>
          <p:nvPr/>
        </p:nvSpPr>
        <p:spPr>
          <a:xfrm>
            <a:off x="502920" y="2368296"/>
            <a:ext cx="1143000" cy="548640"/>
          </a:xfrm>
          <a:prstGeom prst="rect">
            <a:avLst/>
          </a:prstGeom>
          <a:noFill/>
          <a:ln/>
        </p:spPr>
        <p:txBody>
          <a:bodyPr wrap="square" lIns="254" tIns="254" rIns="254" bIns="254" rtlCol="0" anchor="ctr">
            <a:normAutofit/>
          </a:bodyPr>
          <a:lstStyle/>
          <a:p>
            <a:pPr marL="0" indent="0" algn="l">
              <a:buNone/>
            </a:pPr>
            <a:r>
              <a:rPr lang="en-US" sz="980" b="1" dirty="0">
                <a:solidFill>
                  <a:srgbClr val="000000"/>
                </a:solidFill>
                <a:latin typeface="Calibri" pitchFamily="34" charset="0"/>
                <a:ea typeface="Calibri" pitchFamily="34" charset="-122"/>
                <a:cs typeface="Calibri" pitchFamily="34" charset="-120"/>
              </a:rPr>
              <a:t>Normalize</a:t>
            </a:r>
            <a:endParaRPr lang="en-US" sz="980" dirty="0"/>
          </a:p>
        </p:txBody>
      </p:sp>
      <p:sp>
        <p:nvSpPr>
          <p:cNvPr id="18" name="Shape 16"/>
          <p:cNvSpPr/>
          <p:nvPr/>
        </p:nvSpPr>
        <p:spPr>
          <a:xfrm>
            <a:off x="1691640" y="2331720"/>
            <a:ext cx="4526280" cy="621792"/>
          </a:xfrm>
          <a:prstGeom prst="rect">
            <a:avLst/>
          </a:prstGeom>
          <a:solidFill>
            <a:srgbClr val="FFFFFF"/>
          </a:solidFill>
          <a:ln w="12700">
            <a:solidFill>
              <a:srgbClr val="D9D9D9"/>
            </a:solidFill>
            <a:prstDash val="solid"/>
          </a:ln>
        </p:spPr>
        <p:txBody>
          <a:bodyPr/>
          <a:lstStyle/>
          <a:p>
            <a:endParaRPr lang="en-IN"/>
          </a:p>
        </p:txBody>
      </p:sp>
      <p:sp>
        <p:nvSpPr>
          <p:cNvPr id="19" name="Text 17"/>
          <p:cNvSpPr/>
          <p:nvPr/>
        </p:nvSpPr>
        <p:spPr>
          <a:xfrm>
            <a:off x="1737360" y="2368296"/>
            <a:ext cx="4434840" cy="548640"/>
          </a:xfrm>
          <a:prstGeom prst="rect">
            <a:avLst/>
          </a:prstGeom>
          <a:noFill/>
          <a:ln/>
        </p:spPr>
        <p:txBody>
          <a:bodyPr wrap="square" lIns="254" tIns="254" rIns="254" bIns="254" rtlCol="0" anchor="ctr">
            <a:normAutofit/>
          </a:bodyPr>
          <a:lstStyle/>
          <a:p>
            <a:pPr marL="0" indent="0" algn="l">
              <a:buNone/>
            </a:pPr>
            <a:r>
              <a:rPr lang="en-US" sz="930" dirty="0">
                <a:solidFill>
                  <a:srgbClr val="000000"/>
                </a:solidFill>
                <a:latin typeface="Calibri" pitchFamily="34" charset="0"/>
                <a:ea typeface="Calibri" pitchFamily="34" charset="-122"/>
                <a:cs typeface="Calibri" pitchFamily="34" charset="-120"/>
              </a:rPr>
              <a:t>Converted text to lowercase, removed punctuation and special characters, and compacted repeated whitespace.</a:t>
            </a:r>
            <a:endParaRPr lang="en-US" sz="930" dirty="0"/>
          </a:p>
        </p:txBody>
      </p:sp>
      <p:sp>
        <p:nvSpPr>
          <p:cNvPr id="20" name="Shape 18"/>
          <p:cNvSpPr/>
          <p:nvPr/>
        </p:nvSpPr>
        <p:spPr>
          <a:xfrm>
            <a:off x="6217920" y="2331720"/>
            <a:ext cx="1965960" cy="621792"/>
          </a:xfrm>
          <a:prstGeom prst="rect">
            <a:avLst/>
          </a:prstGeom>
          <a:solidFill>
            <a:srgbClr val="FFFFFF"/>
          </a:solidFill>
          <a:ln w="12700">
            <a:solidFill>
              <a:srgbClr val="D9D9D9"/>
            </a:solidFill>
            <a:prstDash val="solid"/>
          </a:ln>
        </p:spPr>
        <p:txBody>
          <a:bodyPr/>
          <a:lstStyle/>
          <a:p>
            <a:endParaRPr lang="en-IN"/>
          </a:p>
        </p:txBody>
      </p:sp>
      <p:sp>
        <p:nvSpPr>
          <p:cNvPr id="21" name="Text 19"/>
          <p:cNvSpPr/>
          <p:nvPr/>
        </p:nvSpPr>
        <p:spPr>
          <a:xfrm>
            <a:off x="6263640" y="2368296"/>
            <a:ext cx="1874520" cy="548640"/>
          </a:xfrm>
          <a:prstGeom prst="rect">
            <a:avLst/>
          </a:prstGeom>
          <a:noFill/>
          <a:ln/>
        </p:spPr>
        <p:txBody>
          <a:bodyPr wrap="square" lIns="254" tIns="254" rIns="254" bIns="254" rtlCol="0" anchor="ctr">
            <a:normAutofit/>
          </a:bodyPr>
          <a:lstStyle/>
          <a:p>
            <a:pPr marL="0" indent="0" algn="ctr">
              <a:buNone/>
            </a:pPr>
            <a:r>
              <a:rPr lang="en-US" sz="930" dirty="0">
                <a:solidFill>
                  <a:srgbClr val="000000"/>
                </a:solidFill>
                <a:latin typeface="Calibri" pitchFamily="34" charset="0"/>
                <a:ea typeface="Calibri" pitchFamily="34" charset="-122"/>
                <a:cs typeface="Calibri" pitchFamily="34" charset="-120"/>
              </a:rPr>
              <a:t>Created comparable normalized text</a:t>
            </a:r>
            <a:endParaRPr lang="en-US" sz="930" dirty="0"/>
          </a:p>
        </p:txBody>
      </p:sp>
      <p:sp>
        <p:nvSpPr>
          <p:cNvPr id="22" name="Shape 20"/>
          <p:cNvSpPr/>
          <p:nvPr/>
        </p:nvSpPr>
        <p:spPr>
          <a:xfrm>
            <a:off x="457200" y="2953512"/>
            <a:ext cx="1234440" cy="621792"/>
          </a:xfrm>
          <a:prstGeom prst="rect">
            <a:avLst/>
          </a:prstGeom>
          <a:solidFill>
            <a:srgbClr val="F3F6FA"/>
          </a:solidFill>
          <a:ln w="12700">
            <a:solidFill>
              <a:srgbClr val="D9D9D9"/>
            </a:solidFill>
            <a:prstDash val="solid"/>
          </a:ln>
        </p:spPr>
        <p:txBody>
          <a:bodyPr/>
          <a:lstStyle/>
          <a:p>
            <a:endParaRPr lang="en-IN"/>
          </a:p>
        </p:txBody>
      </p:sp>
      <p:sp>
        <p:nvSpPr>
          <p:cNvPr id="23" name="Text 21"/>
          <p:cNvSpPr/>
          <p:nvPr/>
        </p:nvSpPr>
        <p:spPr>
          <a:xfrm>
            <a:off x="502920" y="2990088"/>
            <a:ext cx="1143000" cy="548640"/>
          </a:xfrm>
          <a:prstGeom prst="rect">
            <a:avLst/>
          </a:prstGeom>
          <a:noFill/>
          <a:ln/>
        </p:spPr>
        <p:txBody>
          <a:bodyPr wrap="square" lIns="254" tIns="254" rIns="254" bIns="254" rtlCol="0" anchor="ctr">
            <a:normAutofit/>
          </a:bodyPr>
          <a:lstStyle/>
          <a:p>
            <a:pPr marL="0" indent="0" algn="l">
              <a:buNone/>
            </a:pPr>
            <a:r>
              <a:rPr lang="en-US" sz="980" b="1" dirty="0">
                <a:solidFill>
                  <a:srgbClr val="000000"/>
                </a:solidFill>
                <a:latin typeface="Calibri" pitchFamily="34" charset="0"/>
                <a:ea typeface="Calibri" pitchFamily="34" charset="-122"/>
                <a:cs typeface="Calibri" pitchFamily="34" charset="-120"/>
              </a:rPr>
              <a:t>Dedupe by ID</a:t>
            </a:r>
            <a:endParaRPr lang="en-US" sz="980" dirty="0"/>
          </a:p>
        </p:txBody>
      </p:sp>
      <p:sp>
        <p:nvSpPr>
          <p:cNvPr id="24" name="Shape 22"/>
          <p:cNvSpPr/>
          <p:nvPr/>
        </p:nvSpPr>
        <p:spPr>
          <a:xfrm>
            <a:off x="1691640" y="2953512"/>
            <a:ext cx="4526280" cy="621792"/>
          </a:xfrm>
          <a:prstGeom prst="rect">
            <a:avLst/>
          </a:prstGeom>
          <a:solidFill>
            <a:srgbClr val="FFFFFF"/>
          </a:solidFill>
          <a:ln w="12700">
            <a:solidFill>
              <a:srgbClr val="D9D9D9"/>
            </a:solidFill>
            <a:prstDash val="solid"/>
          </a:ln>
        </p:spPr>
        <p:txBody>
          <a:bodyPr/>
          <a:lstStyle/>
          <a:p>
            <a:endParaRPr lang="en-IN"/>
          </a:p>
        </p:txBody>
      </p:sp>
      <p:sp>
        <p:nvSpPr>
          <p:cNvPr id="25" name="Text 23"/>
          <p:cNvSpPr/>
          <p:nvPr/>
        </p:nvSpPr>
        <p:spPr>
          <a:xfrm>
            <a:off x="1737360" y="2990088"/>
            <a:ext cx="4434840" cy="548640"/>
          </a:xfrm>
          <a:prstGeom prst="rect">
            <a:avLst/>
          </a:prstGeom>
          <a:noFill/>
          <a:ln/>
        </p:spPr>
        <p:txBody>
          <a:bodyPr wrap="square" lIns="254" tIns="254" rIns="254" bIns="254" rtlCol="0" anchor="ctr">
            <a:normAutofit/>
          </a:bodyPr>
          <a:lstStyle/>
          <a:p>
            <a:pPr marL="0" indent="0" algn="l">
              <a:buNone/>
            </a:pPr>
            <a:r>
              <a:rPr lang="en-US" sz="930" dirty="0">
                <a:solidFill>
                  <a:srgbClr val="000000"/>
                </a:solidFill>
                <a:latin typeface="Calibri" pitchFamily="34" charset="0"/>
                <a:ea typeface="Calibri" pitchFamily="34" charset="-122"/>
                <a:cs typeface="Calibri" pitchFamily="34" charset="-120"/>
              </a:rPr>
              <a:t>Removed exact repeated reviews using source review IDs after sorting by relevance score, thumbs-up count, and rating.</a:t>
            </a:r>
            <a:endParaRPr lang="en-US" sz="930" dirty="0"/>
          </a:p>
        </p:txBody>
      </p:sp>
      <p:sp>
        <p:nvSpPr>
          <p:cNvPr id="26" name="Shape 24"/>
          <p:cNvSpPr/>
          <p:nvPr/>
        </p:nvSpPr>
        <p:spPr>
          <a:xfrm>
            <a:off x="6217920" y="2953512"/>
            <a:ext cx="1965960" cy="621792"/>
          </a:xfrm>
          <a:prstGeom prst="rect">
            <a:avLst/>
          </a:prstGeom>
          <a:solidFill>
            <a:srgbClr val="FFFFFF"/>
          </a:solidFill>
          <a:ln w="12700">
            <a:solidFill>
              <a:srgbClr val="D9D9D9"/>
            </a:solidFill>
            <a:prstDash val="solid"/>
          </a:ln>
        </p:spPr>
        <p:txBody>
          <a:bodyPr/>
          <a:lstStyle/>
          <a:p>
            <a:endParaRPr lang="en-IN"/>
          </a:p>
        </p:txBody>
      </p:sp>
      <p:sp>
        <p:nvSpPr>
          <p:cNvPr id="27" name="Text 25"/>
          <p:cNvSpPr/>
          <p:nvPr/>
        </p:nvSpPr>
        <p:spPr>
          <a:xfrm>
            <a:off x="6263640" y="2990088"/>
            <a:ext cx="1874520" cy="548640"/>
          </a:xfrm>
          <a:prstGeom prst="rect">
            <a:avLst/>
          </a:prstGeom>
          <a:noFill/>
          <a:ln/>
        </p:spPr>
        <p:txBody>
          <a:bodyPr wrap="square" lIns="254" tIns="254" rIns="254" bIns="254" rtlCol="0" anchor="ctr">
            <a:normAutofit/>
          </a:bodyPr>
          <a:lstStyle/>
          <a:p>
            <a:pPr marL="0" indent="0" algn="ctr">
              <a:buNone/>
            </a:pPr>
            <a:r>
              <a:rPr lang="en-US" sz="930" dirty="0">
                <a:solidFill>
                  <a:srgbClr val="000000"/>
                </a:solidFill>
                <a:latin typeface="Calibri" pitchFamily="34" charset="0"/>
                <a:ea typeface="Calibri" pitchFamily="34" charset="-122"/>
                <a:cs typeface="Calibri" pitchFamily="34" charset="-120"/>
              </a:rPr>
              <a:t>41,657 rows after ID dedupe</a:t>
            </a:r>
            <a:endParaRPr lang="en-US" sz="930" dirty="0"/>
          </a:p>
        </p:txBody>
      </p:sp>
      <p:sp>
        <p:nvSpPr>
          <p:cNvPr id="28" name="Shape 26"/>
          <p:cNvSpPr/>
          <p:nvPr/>
        </p:nvSpPr>
        <p:spPr>
          <a:xfrm>
            <a:off x="457200" y="3575304"/>
            <a:ext cx="1234440" cy="621792"/>
          </a:xfrm>
          <a:prstGeom prst="rect">
            <a:avLst/>
          </a:prstGeom>
          <a:solidFill>
            <a:srgbClr val="F3F6FA"/>
          </a:solidFill>
          <a:ln w="12700">
            <a:solidFill>
              <a:srgbClr val="D9D9D9"/>
            </a:solidFill>
            <a:prstDash val="solid"/>
          </a:ln>
        </p:spPr>
        <p:txBody>
          <a:bodyPr/>
          <a:lstStyle/>
          <a:p>
            <a:endParaRPr lang="en-IN"/>
          </a:p>
        </p:txBody>
      </p:sp>
      <p:sp>
        <p:nvSpPr>
          <p:cNvPr id="29" name="Text 27"/>
          <p:cNvSpPr/>
          <p:nvPr/>
        </p:nvSpPr>
        <p:spPr>
          <a:xfrm>
            <a:off x="502920" y="3611880"/>
            <a:ext cx="1143000" cy="548640"/>
          </a:xfrm>
          <a:prstGeom prst="rect">
            <a:avLst/>
          </a:prstGeom>
          <a:noFill/>
          <a:ln/>
        </p:spPr>
        <p:txBody>
          <a:bodyPr wrap="square" lIns="254" tIns="254" rIns="254" bIns="254" rtlCol="0" anchor="ctr">
            <a:normAutofit/>
          </a:bodyPr>
          <a:lstStyle/>
          <a:p>
            <a:pPr marL="0" indent="0" algn="l">
              <a:buNone/>
            </a:pPr>
            <a:r>
              <a:rPr lang="en-US" sz="980" b="1" dirty="0">
                <a:solidFill>
                  <a:srgbClr val="000000"/>
                </a:solidFill>
                <a:latin typeface="Calibri" pitchFamily="34" charset="0"/>
                <a:ea typeface="Calibri" pitchFamily="34" charset="-122"/>
                <a:cs typeface="Calibri" pitchFamily="34" charset="-120"/>
              </a:rPr>
              <a:t>Dedupe by Text</a:t>
            </a:r>
            <a:endParaRPr lang="en-US" sz="980" dirty="0"/>
          </a:p>
        </p:txBody>
      </p:sp>
      <p:sp>
        <p:nvSpPr>
          <p:cNvPr id="30" name="Shape 28"/>
          <p:cNvSpPr/>
          <p:nvPr/>
        </p:nvSpPr>
        <p:spPr>
          <a:xfrm>
            <a:off x="1691640" y="3575304"/>
            <a:ext cx="4526280" cy="621792"/>
          </a:xfrm>
          <a:prstGeom prst="rect">
            <a:avLst/>
          </a:prstGeom>
          <a:solidFill>
            <a:srgbClr val="FFFFFF"/>
          </a:solidFill>
          <a:ln w="12700">
            <a:solidFill>
              <a:srgbClr val="D9D9D9"/>
            </a:solidFill>
            <a:prstDash val="solid"/>
          </a:ln>
        </p:spPr>
        <p:txBody>
          <a:bodyPr/>
          <a:lstStyle/>
          <a:p>
            <a:endParaRPr lang="en-IN"/>
          </a:p>
        </p:txBody>
      </p:sp>
      <p:sp>
        <p:nvSpPr>
          <p:cNvPr id="31" name="Text 29"/>
          <p:cNvSpPr/>
          <p:nvPr/>
        </p:nvSpPr>
        <p:spPr>
          <a:xfrm>
            <a:off x="1737360" y="3611880"/>
            <a:ext cx="4434840" cy="548640"/>
          </a:xfrm>
          <a:prstGeom prst="rect">
            <a:avLst/>
          </a:prstGeom>
          <a:noFill/>
          <a:ln/>
        </p:spPr>
        <p:txBody>
          <a:bodyPr wrap="square" lIns="254" tIns="254" rIns="254" bIns="254" rtlCol="0" anchor="ctr">
            <a:normAutofit/>
          </a:bodyPr>
          <a:lstStyle/>
          <a:p>
            <a:pPr marL="0" indent="0" algn="l">
              <a:buNone/>
            </a:pPr>
            <a:r>
              <a:rPr lang="en-US" sz="930" dirty="0">
                <a:solidFill>
                  <a:srgbClr val="000000"/>
                </a:solidFill>
                <a:latin typeface="Calibri" pitchFamily="34" charset="0"/>
                <a:ea typeface="Calibri" pitchFamily="34" charset="-122"/>
                <a:cs typeface="Calibri" pitchFamily="34" charset="-120"/>
              </a:rPr>
              <a:t>Removed repeated content using normalized text so the same review wording was not counted multiple times.</a:t>
            </a:r>
            <a:endParaRPr lang="en-US" sz="930" dirty="0"/>
          </a:p>
        </p:txBody>
      </p:sp>
      <p:sp>
        <p:nvSpPr>
          <p:cNvPr id="32" name="Shape 30"/>
          <p:cNvSpPr/>
          <p:nvPr/>
        </p:nvSpPr>
        <p:spPr>
          <a:xfrm>
            <a:off x="6217920" y="3575304"/>
            <a:ext cx="1965960" cy="621792"/>
          </a:xfrm>
          <a:prstGeom prst="rect">
            <a:avLst/>
          </a:prstGeom>
          <a:solidFill>
            <a:srgbClr val="FFFFFF"/>
          </a:solidFill>
          <a:ln w="12700">
            <a:solidFill>
              <a:srgbClr val="D9D9D9"/>
            </a:solidFill>
            <a:prstDash val="solid"/>
          </a:ln>
        </p:spPr>
        <p:txBody>
          <a:bodyPr/>
          <a:lstStyle/>
          <a:p>
            <a:endParaRPr lang="en-IN"/>
          </a:p>
        </p:txBody>
      </p:sp>
      <p:sp>
        <p:nvSpPr>
          <p:cNvPr id="33" name="Text 31"/>
          <p:cNvSpPr/>
          <p:nvPr/>
        </p:nvSpPr>
        <p:spPr>
          <a:xfrm>
            <a:off x="6263640" y="3611880"/>
            <a:ext cx="1874520" cy="548640"/>
          </a:xfrm>
          <a:prstGeom prst="rect">
            <a:avLst/>
          </a:prstGeom>
          <a:noFill/>
          <a:ln/>
        </p:spPr>
        <p:txBody>
          <a:bodyPr wrap="square" lIns="254" tIns="254" rIns="254" bIns="254" rtlCol="0" anchor="ctr">
            <a:normAutofit/>
          </a:bodyPr>
          <a:lstStyle/>
          <a:p>
            <a:pPr marL="0" indent="0" algn="ctr">
              <a:buNone/>
            </a:pPr>
            <a:r>
              <a:rPr lang="en-US" sz="930" dirty="0">
                <a:solidFill>
                  <a:srgbClr val="000000"/>
                </a:solidFill>
                <a:latin typeface="Calibri" pitchFamily="34" charset="0"/>
                <a:ea typeface="Calibri" pitchFamily="34" charset="-122"/>
                <a:cs typeface="Calibri" pitchFamily="34" charset="-120"/>
              </a:rPr>
              <a:t>41,597 rows after final dedupe</a:t>
            </a:r>
            <a:endParaRPr lang="en-US" sz="930" dirty="0"/>
          </a:p>
        </p:txBody>
      </p:sp>
      <p:sp>
        <p:nvSpPr>
          <p:cNvPr id="34" name="Shape 32"/>
          <p:cNvSpPr/>
          <p:nvPr/>
        </p:nvSpPr>
        <p:spPr>
          <a:xfrm>
            <a:off x="457200" y="4197096"/>
            <a:ext cx="1234440" cy="621792"/>
          </a:xfrm>
          <a:prstGeom prst="rect">
            <a:avLst/>
          </a:prstGeom>
          <a:solidFill>
            <a:srgbClr val="F3F6FA"/>
          </a:solidFill>
          <a:ln w="12700">
            <a:solidFill>
              <a:srgbClr val="D9D9D9"/>
            </a:solidFill>
            <a:prstDash val="solid"/>
          </a:ln>
        </p:spPr>
        <p:txBody>
          <a:bodyPr/>
          <a:lstStyle/>
          <a:p>
            <a:endParaRPr lang="en-IN"/>
          </a:p>
        </p:txBody>
      </p:sp>
      <p:sp>
        <p:nvSpPr>
          <p:cNvPr id="35" name="Text 33"/>
          <p:cNvSpPr/>
          <p:nvPr/>
        </p:nvSpPr>
        <p:spPr>
          <a:xfrm>
            <a:off x="502920" y="4233672"/>
            <a:ext cx="1143000" cy="548640"/>
          </a:xfrm>
          <a:prstGeom prst="rect">
            <a:avLst/>
          </a:prstGeom>
          <a:noFill/>
          <a:ln/>
        </p:spPr>
        <p:txBody>
          <a:bodyPr wrap="square" lIns="254" tIns="254" rIns="254" bIns="254" rtlCol="0" anchor="ctr">
            <a:normAutofit/>
          </a:bodyPr>
          <a:lstStyle/>
          <a:p>
            <a:pPr marL="0" indent="0" algn="l">
              <a:buNone/>
            </a:pPr>
            <a:r>
              <a:rPr lang="en-US" sz="980" b="1" dirty="0">
                <a:solidFill>
                  <a:srgbClr val="000000"/>
                </a:solidFill>
                <a:latin typeface="Calibri" pitchFamily="34" charset="0"/>
                <a:ea typeface="Calibri" pitchFamily="34" charset="-122"/>
                <a:cs typeface="Calibri" pitchFamily="34" charset="-120"/>
              </a:rPr>
              <a:t>Structure</a:t>
            </a:r>
            <a:endParaRPr lang="en-US" sz="980" dirty="0"/>
          </a:p>
        </p:txBody>
      </p:sp>
      <p:sp>
        <p:nvSpPr>
          <p:cNvPr id="36" name="Shape 34"/>
          <p:cNvSpPr/>
          <p:nvPr/>
        </p:nvSpPr>
        <p:spPr>
          <a:xfrm>
            <a:off x="1691640" y="4197096"/>
            <a:ext cx="4526280" cy="621792"/>
          </a:xfrm>
          <a:prstGeom prst="rect">
            <a:avLst/>
          </a:prstGeom>
          <a:solidFill>
            <a:srgbClr val="FFFFFF"/>
          </a:solidFill>
          <a:ln w="12700">
            <a:solidFill>
              <a:srgbClr val="D9D9D9"/>
            </a:solidFill>
            <a:prstDash val="solid"/>
          </a:ln>
        </p:spPr>
        <p:txBody>
          <a:bodyPr/>
          <a:lstStyle/>
          <a:p>
            <a:endParaRPr lang="en-IN"/>
          </a:p>
        </p:txBody>
      </p:sp>
      <p:sp>
        <p:nvSpPr>
          <p:cNvPr id="37" name="Text 35"/>
          <p:cNvSpPr/>
          <p:nvPr/>
        </p:nvSpPr>
        <p:spPr>
          <a:xfrm>
            <a:off x="1737360" y="4233672"/>
            <a:ext cx="4434840" cy="548640"/>
          </a:xfrm>
          <a:prstGeom prst="rect">
            <a:avLst/>
          </a:prstGeom>
          <a:noFill/>
          <a:ln/>
        </p:spPr>
        <p:txBody>
          <a:bodyPr wrap="square" lIns="254" tIns="254" rIns="254" bIns="254" rtlCol="0" anchor="ctr">
            <a:normAutofit/>
          </a:bodyPr>
          <a:lstStyle/>
          <a:p>
            <a:pPr marL="0" indent="0" algn="l">
              <a:buNone/>
            </a:pPr>
            <a:r>
              <a:rPr lang="en-US" sz="930" dirty="0">
                <a:solidFill>
                  <a:srgbClr val="000000"/>
                </a:solidFill>
                <a:latin typeface="Calibri" pitchFamily="34" charset="0"/>
                <a:ea typeface="Calibri" pitchFamily="34" charset="-122"/>
                <a:cs typeface="Calibri" pitchFamily="34" charset="-120"/>
              </a:rPr>
              <a:t>Retained rating, review text, year, recency bucket, theme label, and sentiment-ready fields for downstream analysis.</a:t>
            </a:r>
            <a:endParaRPr lang="en-US" sz="930" dirty="0"/>
          </a:p>
        </p:txBody>
      </p:sp>
      <p:sp>
        <p:nvSpPr>
          <p:cNvPr id="38" name="Shape 36"/>
          <p:cNvSpPr/>
          <p:nvPr/>
        </p:nvSpPr>
        <p:spPr>
          <a:xfrm>
            <a:off x="6217920" y="4197096"/>
            <a:ext cx="1965960" cy="621792"/>
          </a:xfrm>
          <a:prstGeom prst="rect">
            <a:avLst/>
          </a:prstGeom>
          <a:solidFill>
            <a:srgbClr val="FFFFFF"/>
          </a:solidFill>
          <a:ln w="12700">
            <a:solidFill>
              <a:srgbClr val="D9D9D9"/>
            </a:solidFill>
            <a:prstDash val="solid"/>
          </a:ln>
        </p:spPr>
        <p:txBody>
          <a:bodyPr/>
          <a:lstStyle/>
          <a:p>
            <a:endParaRPr lang="en-IN"/>
          </a:p>
        </p:txBody>
      </p:sp>
      <p:sp>
        <p:nvSpPr>
          <p:cNvPr id="39" name="Text 37"/>
          <p:cNvSpPr/>
          <p:nvPr/>
        </p:nvSpPr>
        <p:spPr>
          <a:xfrm>
            <a:off x="6263640" y="4233672"/>
            <a:ext cx="1874520" cy="548640"/>
          </a:xfrm>
          <a:prstGeom prst="rect">
            <a:avLst/>
          </a:prstGeom>
          <a:noFill/>
          <a:ln/>
        </p:spPr>
        <p:txBody>
          <a:bodyPr wrap="square" lIns="254" tIns="254" rIns="254" bIns="254" rtlCol="0" anchor="ctr">
            <a:normAutofit/>
          </a:bodyPr>
          <a:lstStyle/>
          <a:p>
            <a:pPr marL="0" indent="0" algn="ctr">
              <a:buNone/>
            </a:pPr>
            <a:r>
              <a:rPr lang="en-US" sz="930" dirty="0">
                <a:solidFill>
                  <a:srgbClr val="000000"/>
                </a:solidFill>
                <a:latin typeface="Calibri" pitchFamily="34" charset="0"/>
                <a:ea typeface="Calibri" pitchFamily="34" charset="-122"/>
                <a:cs typeface="Calibri" pitchFamily="34" charset="-120"/>
              </a:rPr>
              <a:t>Final analysis-ready dataset</a:t>
            </a:r>
            <a:endParaRPr lang="en-US" sz="930" dirty="0"/>
          </a:p>
        </p:txBody>
      </p:sp>
      <p:sp>
        <p:nvSpPr>
          <p:cNvPr id="40" name="Shape 38"/>
          <p:cNvSpPr/>
          <p:nvPr/>
        </p:nvSpPr>
        <p:spPr>
          <a:xfrm>
            <a:off x="6126480" y="4663440"/>
            <a:ext cx="2011680" cy="1554480"/>
          </a:xfrm>
          <a:prstGeom prst="rect">
            <a:avLst/>
          </a:prstGeom>
          <a:solidFill>
            <a:srgbClr val="F7F7F7"/>
          </a:solidFill>
          <a:ln w="12700">
            <a:solidFill>
              <a:srgbClr val="D9D9D9"/>
            </a:solidFill>
            <a:prstDash val="solid"/>
          </a:ln>
        </p:spPr>
        <p:txBody>
          <a:bodyPr/>
          <a:lstStyle/>
          <a:p>
            <a:endParaRPr lang="en-IN"/>
          </a:p>
        </p:txBody>
      </p:sp>
      <p:sp>
        <p:nvSpPr>
          <p:cNvPr id="41" name="Text 39"/>
          <p:cNvSpPr/>
          <p:nvPr/>
        </p:nvSpPr>
        <p:spPr>
          <a:xfrm>
            <a:off x="6254496" y="4773168"/>
            <a:ext cx="1755648" cy="219456"/>
          </a:xfrm>
          <a:prstGeom prst="rect">
            <a:avLst/>
          </a:prstGeom>
          <a:noFill/>
          <a:ln/>
        </p:spPr>
        <p:txBody>
          <a:bodyPr wrap="square" lIns="0" tIns="0" rIns="0" bIns="0" rtlCol="0" anchor="ctr"/>
          <a:lstStyle/>
          <a:p>
            <a:pPr marL="0" indent="0" algn="l">
              <a:buNone/>
            </a:pPr>
            <a:r>
              <a:rPr lang="en-US" sz="1200" b="1" dirty="0">
                <a:solidFill>
                  <a:srgbClr val="4F81BD"/>
                </a:solidFill>
                <a:latin typeface="Calibri" pitchFamily="34" charset="0"/>
                <a:ea typeface="Calibri" pitchFamily="34" charset="-122"/>
                <a:cs typeface="Calibri" pitchFamily="34" charset="-120"/>
              </a:rPr>
              <a:t>Deduplication Logic</a:t>
            </a:r>
            <a:endParaRPr lang="en-US" sz="1200" dirty="0"/>
          </a:p>
        </p:txBody>
      </p:sp>
      <p:sp>
        <p:nvSpPr>
          <p:cNvPr id="42" name="Text 40"/>
          <p:cNvSpPr/>
          <p:nvPr/>
        </p:nvSpPr>
        <p:spPr>
          <a:xfrm>
            <a:off x="6254496" y="5047488"/>
            <a:ext cx="1755648" cy="813816"/>
          </a:xfrm>
          <a:prstGeom prst="rect">
            <a:avLst/>
          </a:prstGeom>
          <a:noFill/>
          <a:ln/>
        </p:spPr>
        <p:txBody>
          <a:bodyPr wrap="square" lIns="0" tIns="0" rIns="0" bIns="0" rtlCol="0" anchor="t"/>
          <a:lstStyle/>
          <a:p>
            <a:pPr marL="0" indent="0">
              <a:buNone/>
            </a:pPr>
            <a:r>
              <a:rPr lang="en-US" sz="1150" dirty="0">
                <a:solidFill>
                  <a:srgbClr val="000000"/>
                </a:solidFill>
                <a:latin typeface="Calibri" pitchFamily="34" charset="0"/>
                <a:ea typeface="Calibri" pitchFamily="34" charset="-122"/>
                <a:cs typeface="Calibri" pitchFamily="34" charset="-120"/>
              </a:rPr>
              <a:t>Priority sort:</a:t>
            </a:r>
            <a:endParaRPr lang="en-US" sz="1150" dirty="0"/>
          </a:p>
          <a:p>
            <a:pPr marL="0" indent="0">
              <a:buNone/>
            </a:pPr>
            <a:r>
              <a:rPr lang="en-US" sz="1150" dirty="0">
                <a:solidFill>
                  <a:srgbClr val="000000"/>
                </a:solidFill>
                <a:latin typeface="Calibri" pitchFamily="34" charset="0"/>
                <a:ea typeface="Calibri" pitchFamily="34" charset="-122"/>
                <a:cs typeface="Calibri" pitchFamily="34" charset="-120"/>
              </a:rPr>
              <a:t>relevance score</a:t>
            </a:r>
            <a:endParaRPr lang="en-US" sz="1150" dirty="0"/>
          </a:p>
          <a:p>
            <a:pPr marL="0" indent="0">
              <a:buNone/>
            </a:pPr>
            <a:r>
              <a:rPr lang="en-US" sz="1150" dirty="0">
                <a:solidFill>
                  <a:srgbClr val="000000"/>
                </a:solidFill>
                <a:latin typeface="Calibri" pitchFamily="34" charset="0"/>
                <a:ea typeface="Calibri" pitchFamily="34" charset="-122"/>
                <a:cs typeface="Calibri" pitchFamily="34" charset="-120"/>
              </a:rPr>
              <a:t>thumbs-up count</a:t>
            </a:r>
            <a:endParaRPr lang="en-US" sz="1150" dirty="0"/>
          </a:p>
          <a:p>
            <a:pPr marL="0" indent="0">
              <a:buNone/>
            </a:pPr>
            <a:r>
              <a:rPr lang="en-US" sz="1150" dirty="0">
                <a:solidFill>
                  <a:srgbClr val="000000"/>
                </a:solidFill>
                <a:latin typeface="Calibri" pitchFamily="34" charset="0"/>
                <a:ea typeface="Calibri" pitchFamily="34" charset="-122"/>
                <a:cs typeface="Calibri" pitchFamily="34" charset="-120"/>
              </a:rPr>
              <a:t>rating score</a:t>
            </a:r>
            <a:endParaRPr lang="en-US" sz="1150" dirty="0"/>
          </a:p>
          <a:p>
            <a:pPr marL="0" indent="0">
              <a:buNone/>
            </a:pPr>
            <a:r>
              <a:rPr lang="en-US" sz="1150" dirty="0">
                <a:solidFill>
                  <a:srgbClr val="000000"/>
                </a:solidFill>
                <a:latin typeface="Calibri" pitchFamily="34" charset="0"/>
                <a:ea typeface="Calibri" pitchFamily="34" charset="-122"/>
                <a:cs typeface="Calibri" pitchFamily="34" charset="-120"/>
              </a:rPr>
              <a:t>This kept the stronger row when duplicates appeared.</a:t>
            </a:r>
            <a:endParaRPr lang="en-US" sz="1150" dirty="0"/>
          </a:p>
        </p:txBody>
      </p:sp>
      <p:sp>
        <p:nvSpPr>
          <p:cNvPr id="43" name="Text 41"/>
          <p:cNvSpPr/>
          <p:nvPr/>
        </p:nvSpPr>
        <p:spPr>
          <a:xfrm>
            <a:off x="2971800" y="6217920"/>
            <a:ext cx="3200400" cy="201168"/>
          </a:xfrm>
          <a:prstGeom prst="rect">
            <a:avLst/>
          </a:prstGeom>
          <a:noFill/>
          <a:ln/>
        </p:spPr>
        <p:txBody>
          <a:bodyPr wrap="square" lIns="0" tIns="0" rIns="0" bIns="0" rtlCol="0" anchor="ctr"/>
          <a:lstStyle/>
          <a:p>
            <a:pPr marL="0" indent="0" algn="ctr">
              <a:buNone/>
            </a:pPr>
            <a:r>
              <a:rPr lang="en-US" sz="1000" dirty="0">
                <a:solidFill>
                  <a:srgbClr val="4F81BD"/>
                </a:solidFill>
                <a:latin typeface="Calibri" pitchFamily="34" charset="0"/>
                <a:ea typeface="Calibri" pitchFamily="34" charset="-122"/>
                <a:cs typeface="Calibri" pitchFamily="34" charset="-120"/>
              </a:rPr>
              <a:t>VIT ONLINE MBA</a:t>
            </a:r>
            <a:endParaRPr lang="en-US" sz="1000" dirty="0"/>
          </a:p>
        </p:txBody>
      </p:sp>
      <p:sp>
        <p:nvSpPr>
          <p:cNvPr id="44" name="Text 42"/>
          <p:cNvSpPr/>
          <p:nvPr/>
        </p:nvSpPr>
        <p:spPr>
          <a:xfrm>
            <a:off x="164592" y="6419088"/>
            <a:ext cx="731520" cy="146304"/>
          </a:xfrm>
          <a:prstGeom prst="rect">
            <a:avLst/>
          </a:prstGeom>
          <a:noFill/>
          <a:ln/>
        </p:spPr>
        <p:txBody>
          <a:bodyPr wrap="square" lIns="0" tIns="0" rIns="0" bIns="0" rtlCol="0" anchor="ctr"/>
          <a:lstStyle/>
          <a:p>
            <a:pPr marL="0" indent="0">
              <a:buNone/>
            </a:pPr>
            <a:r>
              <a:rPr lang="en-US" sz="550" dirty="0">
                <a:solidFill>
                  <a:srgbClr val="666666"/>
                </a:solidFill>
                <a:latin typeface="Calibri" pitchFamily="34" charset="0"/>
                <a:ea typeface="Calibri" pitchFamily="34" charset="-122"/>
                <a:cs typeface="Calibri" pitchFamily="34" charset="-120"/>
              </a:rPr>
              <a:t>Slide 04</a:t>
            </a:r>
            <a:endParaRPr lang="en-US" sz="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Examples: Duplicates and Normalized Text</a:t>
            </a:r>
            <a:endParaRPr lang="en-US" sz="2400" dirty="0"/>
          </a:p>
        </p:txBody>
      </p:sp>
      <p:sp>
        <p:nvSpPr>
          <p:cNvPr id="3" name="Text 1"/>
          <p:cNvSpPr/>
          <p:nvPr/>
        </p:nvSpPr>
        <p:spPr>
          <a:xfrm>
            <a:off x="640080" y="914400"/>
            <a:ext cx="7406640" cy="201168"/>
          </a:xfrm>
          <a:prstGeom prst="rect">
            <a:avLst/>
          </a:prstGeom>
          <a:noFill/>
          <a:ln/>
        </p:spPr>
        <p:txBody>
          <a:bodyPr wrap="square" lIns="0" tIns="0" rIns="0" bIns="0" rtlCol="0" anchor="ctr"/>
          <a:lstStyle/>
          <a:p>
            <a:pPr marL="0" indent="0" algn="ctr">
              <a:buNone/>
            </a:pPr>
            <a:r>
              <a:rPr lang="en-US" sz="1080" dirty="0">
                <a:solidFill>
                  <a:srgbClr val="666666"/>
                </a:solidFill>
                <a:latin typeface="Calibri" pitchFamily="34" charset="0"/>
                <a:ea typeface="Calibri" pitchFamily="34" charset="-122"/>
                <a:cs typeface="Calibri" pitchFamily="34" charset="-120"/>
              </a:rPr>
              <a:t>Real project examples from the merged Google Play review files and final master dataset.</a:t>
            </a:r>
            <a:endParaRPr lang="en-US" sz="1080" dirty="0"/>
          </a:p>
        </p:txBody>
      </p:sp>
      <p:sp>
        <p:nvSpPr>
          <p:cNvPr id="4" name="Text 2"/>
          <p:cNvSpPr/>
          <p:nvPr/>
        </p:nvSpPr>
        <p:spPr>
          <a:xfrm>
            <a:off x="530352" y="1234440"/>
            <a:ext cx="2834640" cy="201168"/>
          </a:xfrm>
          <a:prstGeom prst="rect">
            <a:avLst/>
          </a:prstGeom>
          <a:noFill/>
          <a:ln/>
        </p:spPr>
        <p:txBody>
          <a:bodyPr wrap="square" lIns="0" tIns="0" rIns="0" bIns="0" rtlCol="0" anchor="ctr"/>
          <a:lstStyle/>
          <a:p>
            <a:pPr marL="0" indent="0">
              <a:buNone/>
            </a:pPr>
            <a:r>
              <a:rPr lang="en-US" sz="1200" b="1" dirty="0">
                <a:solidFill>
                  <a:srgbClr val="4F81BD"/>
                </a:solidFill>
                <a:latin typeface="Calibri" pitchFamily="34" charset="0"/>
                <a:ea typeface="Calibri" pitchFamily="34" charset="-122"/>
                <a:cs typeface="Calibri" pitchFamily="34" charset="-120"/>
              </a:rPr>
              <a:t>Text Normalization Examples</a:t>
            </a:r>
            <a:endParaRPr lang="en-US" sz="1200" dirty="0"/>
          </a:p>
        </p:txBody>
      </p:sp>
      <p:sp>
        <p:nvSpPr>
          <p:cNvPr id="5" name="Shape 3"/>
          <p:cNvSpPr/>
          <p:nvPr/>
        </p:nvSpPr>
        <p:spPr>
          <a:xfrm>
            <a:off x="457200" y="1481328"/>
            <a:ext cx="3794760" cy="347472"/>
          </a:xfrm>
          <a:prstGeom prst="rect">
            <a:avLst/>
          </a:prstGeom>
          <a:solidFill>
            <a:srgbClr val="DCE6F1"/>
          </a:solidFill>
          <a:ln w="12700">
            <a:solidFill>
              <a:srgbClr val="B8CCE4"/>
            </a:solidFill>
            <a:prstDash val="solid"/>
          </a:ln>
        </p:spPr>
        <p:txBody>
          <a:bodyPr/>
          <a:lstStyle/>
          <a:p>
            <a:endParaRPr lang="en-IN"/>
          </a:p>
        </p:txBody>
      </p:sp>
      <p:sp>
        <p:nvSpPr>
          <p:cNvPr id="6" name="Text 4"/>
          <p:cNvSpPr/>
          <p:nvPr/>
        </p:nvSpPr>
        <p:spPr>
          <a:xfrm>
            <a:off x="502920" y="1517904"/>
            <a:ext cx="3703320" cy="274320"/>
          </a:xfrm>
          <a:prstGeom prst="rect">
            <a:avLst/>
          </a:prstGeom>
          <a:noFill/>
          <a:ln/>
        </p:spPr>
        <p:txBody>
          <a:bodyPr wrap="square" lIns="254" tIns="254" rIns="254" bIns="254" rtlCol="0" anchor="ctr">
            <a:normAutofit/>
          </a:bodyPr>
          <a:lstStyle/>
          <a:p>
            <a:pPr marL="0" indent="0" algn="ctr">
              <a:buNone/>
            </a:pPr>
            <a:r>
              <a:rPr lang="en-US" sz="960" b="1" dirty="0">
                <a:solidFill>
                  <a:srgbClr val="000000"/>
                </a:solidFill>
                <a:latin typeface="Calibri" pitchFamily="34" charset="0"/>
                <a:ea typeface="Calibri" pitchFamily="34" charset="-122"/>
                <a:cs typeface="Calibri" pitchFamily="34" charset="-120"/>
              </a:rPr>
              <a:t>Raw Review Text</a:t>
            </a:r>
            <a:endParaRPr lang="en-US" sz="960" dirty="0"/>
          </a:p>
        </p:txBody>
      </p:sp>
      <p:sp>
        <p:nvSpPr>
          <p:cNvPr id="7" name="Shape 5"/>
          <p:cNvSpPr/>
          <p:nvPr/>
        </p:nvSpPr>
        <p:spPr>
          <a:xfrm>
            <a:off x="4251960" y="1481328"/>
            <a:ext cx="3931920" cy="347472"/>
          </a:xfrm>
          <a:prstGeom prst="rect">
            <a:avLst/>
          </a:prstGeom>
          <a:solidFill>
            <a:srgbClr val="DCE6F1"/>
          </a:solidFill>
          <a:ln w="12700">
            <a:solidFill>
              <a:srgbClr val="B8CCE4"/>
            </a:solidFill>
            <a:prstDash val="solid"/>
          </a:ln>
        </p:spPr>
        <p:txBody>
          <a:bodyPr/>
          <a:lstStyle/>
          <a:p>
            <a:endParaRPr lang="en-IN"/>
          </a:p>
        </p:txBody>
      </p:sp>
      <p:sp>
        <p:nvSpPr>
          <p:cNvPr id="8" name="Text 6"/>
          <p:cNvSpPr/>
          <p:nvPr/>
        </p:nvSpPr>
        <p:spPr>
          <a:xfrm>
            <a:off x="4297680" y="1517904"/>
            <a:ext cx="3840480" cy="274320"/>
          </a:xfrm>
          <a:prstGeom prst="rect">
            <a:avLst/>
          </a:prstGeom>
          <a:noFill/>
          <a:ln/>
        </p:spPr>
        <p:txBody>
          <a:bodyPr wrap="square" lIns="254" tIns="254" rIns="254" bIns="254" rtlCol="0" anchor="ctr">
            <a:normAutofit/>
          </a:bodyPr>
          <a:lstStyle/>
          <a:p>
            <a:pPr marL="0" indent="0" algn="ctr">
              <a:buNone/>
            </a:pPr>
            <a:r>
              <a:rPr lang="en-US" sz="960" b="1" dirty="0">
                <a:solidFill>
                  <a:srgbClr val="000000"/>
                </a:solidFill>
                <a:latin typeface="Calibri" pitchFamily="34" charset="0"/>
                <a:ea typeface="Calibri" pitchFamily="34" charset="-122"/>
                <a:cs typeface="Calibri" pitchFamily="34" charset="-120"/>
              </a:rPr>
              <a:t>Normalized Text</a:t>
            </a:r>
            <a:endParaRPr lang="en-US" sz="960" dirty="0"/>
          </a:p>
        </p:txBody>
      </p:sp>
      <p:sp>
        <p:nvSpPr>
          <p:cNvPr id="9" name="Shape 7"/>
          <p:cNvSpPr/>
          <p:nvPr/>
        </p:nvSpPr>
        <p:spPr>
          <a:xfrm>
            <a:off x="457200" y="1828800"/>
            <a:ext cx="3794760" cy="713232"/>
          </a:xfrm>
          <a:prstGeom prst="rect">
            <a:avLst/>
          </a:prstGeom>
          <a:solidFill>
            <a:srgbClr val="FFFFFF"/>
          </a:solidFill>
          <a:ln w="12700">
            <a:solidFill>
              <a:srgbClr val="D9D9D9"/>
            </a:solidFill>
            <a:prstDash val="solid"/>
          </a:ln>
        </p:spPr>
        <p:txBody>
          <a:bodyPr/>
          <a:lstStyle/>
          <a:p>
            <a:endParaRPr lang="en-IN"/>
          </a:p>
        </p:txBody>
      </p:sp>
      <p:sp>
        <p:nvSpPr>
          <p:cNvPr id="10" name="Text 8"/>
          <p:cNvSpPr/>
          <p:nvPr/>
        </p:nvSpPr>
        <p:spPr>
          <a:xfrm>
            <a:off x="502920" y="1865376"/>
            <a:ext cx="3703320" cy="640080"/>
          </a:xfrm>
          <a:prstGeom prst="rect">
            <a:avLst/>
          </a:prstGeom>
          <a:noFill/>
          <a:ln/>
        </p:spPr>
        <p:txBody>
          <a:bodyPr wrap="square" lIns="254" tIns="254" rIns="254" bIns="254" rtlCol="0" anchor="ctr">
            <a:normAutofit/>
          </a:bodyPr>
          <a:lstStyle/>
          <a:p>
            <a:pPr marL="0" indent="0" algn="l">
              <a:buNone/>
            </a:pPr>
            <a:r>
              <a:rPr lang="en-US" sz="880" dirty="0">
                <a:solidFill>
                  <a:srgbClr val="000000"/>
                </a:solidFill>
                <a:latin typeface="Calibri" pitchFamily="34" charset="0"/>
                <a:ea typeface="Calibri" pitchFamily="34" charset="-122"/>
                <a:cs typeface="Calibri" pitchFamily="34" charset="-120"/>
              </a:rPr>
              <a:t>I loved this app so much i loved its delivery and all.Its probably the best app to order the food...</a:t>
            </a:r>
            <a:endParaRPr lang="en-US" sz="880" dirty="0"/>
          </a:p>
        </p:txBody>
      </p:sp>
      <p:sp>
        <p:nvSpPr>
          <p:cNvPr id="11" name="Shape 9"/>
          <p:cNvSpPr/>
          <p:nvPr/>
        </p:nvSpPr>
        <p:spPr>
          <a:xfrm>
            <a:off x="4251960" y="1828800"/>
            <a:ext cx="3931920" cy="713232"/>
          </a:xfrm>
          <a:prstGeom prst="rect">
            <a:avLst/>
          </a:prstGeom>
          <a:solidFill>
            <a:srgbClr val="FFFFFF"/>
          </a:solidFill>
          <a:ln w="12700">
            <a:solidFill>
              <a:srgbClr val="D9D9D9"/>
            </a:solidFill>
            <a:prstDash val="solid"/>
          </a:ln>
        </p:spPr>
        <p:txBody>
          <a:bodyPr/>
          <a:lstStyle/>
          <a:p>
            <a:endParaRPr lang="en-IN"/>
          </a:p>
        </p:txBody>
      </p:sp>
      <p:sp>
        <p:nvSpPr>
          <p:cNvPr id="12" name="Text 10"/>
          <p:cNvSpPr/>
          <p:nvPr/>
        </p:nvSpPr>
        <p:spPr>
          <a:xfrm>
            <a:off x="4297680" y="1865376"/>
            <a:ext cx="3840480" cy="640080"/>
          </a:xfrm>
          <a:prstGeom prst="rect">
            <a:avLst/>
          </a:prstGeom>
          <a:noFill/>
          <a:ln/>
        </p:spPr>
        <p:txBody>
          <a:bodyPr wrap="square" lIns="254" tIns="254" rIns="254" bIns="254" rtlCol="0" anchor="ctr">
            <a:normAutofit/>
          </a:bodyPr>
          <a:lstStyle/>
          <a:p>
            <a:pPr marL="0" indent="0" algn="l">
              <a:buNone/>
            </a:pPr>
            <a:r>
              <a:rPr lang="en-US" sz="880" dirty="0">
                <a:solidFill>
                  <a:srgbClr val="000000"/>
                </a:solidFill>
                <a:latin typeface="Calibri" pitchFamily="34" charset="0"/>
                <a:ea typeface="Calibri" pitchFamily="34" charset="-122"/>
                <a:cs typeface="Calibri" pitchFamily="34" charset="-120"/>
              </a:rPr>
              <a:t>i loved this app so much i loved its delivery and all its probably the best app to order the food...</a:t>
            </a:r>
            <a:endParaRPr lang="en-US" sz="880" dirty="0"/>
          </a:p>
        </p:txBody>
      </p:sp>
      <p:sp>
        <p:nvSpPr>
          <p:cNvPr id="13" name="Shape 11"/>
          <p:cNvSpPr/>
          <p:nvPr/>
        </p:nvSpPr>
        <p:spPr>
          <a:xfrm>
            <a:off x="457200" y="2542032"/>
            <a:ext cx="3794760" cy="713232"/>
          </a:xfrm>
          <a:prstGeom prst="rect">
            <a:avLst/>
          </a:prstGeom>
          <a:solidFill>
            <a:srgbClr val="FFFFFF"/>
          </a:solidFill>
          <a:ln w="12700">
            <a:solidFill>
              <a:srgbClr val="D9D9D9"/>
            </a:solidFill>
            <a:prstDash val="solid"/>
          </a:ln>
        </p:spPr>
        <p:txBody>
          <a:bodyPr/>
          <a:lstStyle/>
          <a:p>
            <a:endParaRPr lang="en-IN"/>
          </a:p>
        </p:txBody>
      </p:sp>
      <p:sp>
        <p:nvSpPr>
          <p:cNvPr id="14" name="Text 12"/>
          <p:cNvSpPr/>
          <p:nvPr/>
        </p:nvSpPr>
        <p:spPr>
          <a:xfrm>
            <a:off x="502920" y="2578608"/>
            <a:ext cx="3703320" cy="640080"/>
          </a:xfrm>
          <a:prstGeom prst="rect">
            <a:avLst/>
          </a:prstGeom>
          <a:noFill/>
          <a:ln/>
        </p:spPr>
        <p:txBody>
          <a:bodyPr wrap="square" lIns="254" tIns="254" rIns="254" bIns="254" rtlCol="0" anchor="ctr">
            <a:normAutofit/>
          </a:bodyPr>
          <a:lstStyle/>
          <a:p>
            <a:pPr marL="0" indent="0" algn="l">
              <a:buNone/>
            </a:pPr>
            <a:r>
              <a:rPr lang="en-US" sz="880" dirty="0">
                <a:solidFill>
                  <a:srgbClr val="000000"/>
                </a:solidFill>
                <a:latin typeface="Calibri" pitchFamily="34" charset="0"/>
                <a:ea typeface="Calibri" pitchFamily="34" charset="-122"/>
                <a:cs typeface="Calibri" pitchFamily="34" charset="-120"/>
              </a:rPr>
              <a:t>Such a bad customer service .....my order got cancelled and they didn't refund.....</a:t>
            </a:r>
            <a:endParaRPr lang="en-US" sz="880" dirty="0"/>
          </a:p>
        </p:txBody>
      </p:sp>
      <p:sp>
        <p:nvSpPr>
          <p:cNvPr id="15" name="Shape 13"/>
          <p:cNvSpPr/>
          <p:nvPr/>
        </p:nvSpPr>
        <p:spPr>
          <a:xfrm>
            <a:off x="4251960" y="2542032"/>
            <a:ext cx="3931920" cy="713232"/>
          </a:xfrm>
          <a:prstGeom prst="rect">
            <a:avLst/>
          </a:prstGeom>
          <a:solidFill>
            <a:srgbClr val="FFFFFF"/>
          </a:solidFill>
          <a:ln w="12700">
            <a:solidFill>
              <a:srgbClr val="D9D9D9"/>
            </a:solidFill>
            <a:prstDash val="solid"/>
          </a:ln>
        </p:spPr>
        <p:txBody>
          <a:bodyPr/>
          <a:lstStyle/>
          <a:p>
            <a:endParaRPr lang="en-IN"/>
          </a:p>
        </p:txBody>
      </p:sp>
      <p:sp>
        <p:nvSpPr>
          <p:cNvPr id="16" name="Text 14"/>
          <p:cNvSpPr/>
          <p:nvPr/>
        </p:nvSpPr>
        <p:spPr>
          <a:xfrm>
            <a:off x="4297680" y="2578608"/>
            <a:ext cx="3840480" cy="640080"/>
          </a:xfrm>
          <a:prstGeom prst="rect">
            <a:avLst/>
          </a:prstGeom>
          <a:noFill/>
          <a:ln/>
        </p:spPr>
        <p:txBody>
          <a:bodyPr wrap="square" lIns="254" tIns="254" rIns="254" bIns="254" rtlCol="0" anchor="ctr">
            <a:normAutofit/>
          </a:bodyPr>
          <a:lstStyle/>
          <a:p>
            <a:pPr marL="0" indent="0" algn="l">
              <a:buNone/>
            </a:pPr>
            <a:r>
              <a:rPr lang="en-US" sz="880" dirty="0">
                <a:solidFill>
                  <a:srgbClr val="000000"/>
                </a:solidFill>
                <a:latin typeface="Calibri" pitchFamily="34" charset="0"/>
                <a:ea typeface="Calibri" pitchFamily="34" charset="-122"/>
                <a:cs typeface="Calibri" pitchFamily="34" charset="-120"/>
              </a:rPr>
              <a:t>such a bad customer service my order got cancelled and they didn t refund ...</a:t>
            </a:r>
            <a:endParaRPr lang="en-US" sz="880" dirty="0"/>
          </a:p>
        </p:txBody>
      </p:sp>
      <p:sp>
        <p:nvSpPr>
          <p:cNvPr id="17" name="Text 15"/>
          <p:cNvSpPr/>
          <p:nvPr/>
        </p:nvSpPr>
        <p:spPr>
          <a:xfrm>
            <a:off x="530352" y="3401568"/>
            <a:ext cx="2743200" cy="201168"/>
          </a:xfrm>
          <a:prstGeom prst="rect">
            <a:avLst/>
          </a:prstGeom>
          <a:noFill/>
          <a:ln/>
        </p:spPr>
        <p:txBody>
          <a:bodyPr wrap="square" lIns="0" tIns="0" rIns="0" bIns="0" rtlCol="0" anchor="ctr"/>
          <a:lstStyle/>
          <a:p>
            <a:pPr marL="0" indent="0">
              <a:buNone/>
            </a:pPr>
            <a:r>
              <a:rPr lang="en-US" sz="1200" b="1" dirty="0">
                <a:solidFill>
                  <a:srgbClr val="4F81BD"/>
                </a:solidFill>
                <a:latin typeface="Calibri" pitchFamily="34" charset="0"/>
                <a:ea typeface="Calibri" pitchFamily="34" charset="-122"/>
                <a:cs typeface="Calibri" pitchFamily="34" charset="-120"/>
              </a:rPr>
              <a:t>Duplicate Removal Examples</a:t>
            </a:r>
            <a:endParaRPr lang="en-US" sz="1200" dirty="0"/>
          </a:p>
        </p:txBody>
      </p:sp>
      <p:sp>
        <p:nvSpPr>
          <p:cNvPr id="18" name="Shape 16"/>
          <p:cNvSpPr/>
          <p:nvPr/>
        </p:nvSpPr>
        <p:spPr>
          <a:xfrm>
            <a:off x="457200" y="3639312"/>
            <a:ext cx="1325880" cy="347472"/>
          </a:xfrm>
          <a:prstGeom prst="rect">
            <a:avLst/>
          </a:prstGeom>
          <a:solidFill>
            <a:srgbClr val="DCE6F1"/>
          </a:solidFill>
          <a:ln w="12700">
            <a:solidFill>
              <a:srgbClr val="B8CCE4"/>
            </a:solidFill>
            <a:prstDash val="solid"/>
          </a:ln>
        </p:spPr>
        <p:txBody>
          <a:bodyPr/>
          <a:lstStyle/>
          <a:p>
            <a:endParaRPr lang="en-IN"/>
          </a:p>
        </p:txBody>
      </p:sp>
      <p:sp>
        <p:nvSpPr>
          <p:cNvPr id="19" name="Text 17"/>
          <p:cNvSpPr/>
          <p:nvPr/>
        </p:nvSpPr>
        <p:spPr>
          <a:xfrm>
            <a:off x="502920" y="3675888"/>
            <a:ext cx="1234440" cy="274320"/>
          </a:xfrm>
          <a:prstGeom prst="rect">
            <a:avLst/>
          </a:prstGeom>
          <a:noFill/>
          <a:ln/>
        </p:spPr>
        <p:txBody>
          <a:bodyPr wrap="square" lIns="254" tIns="254" rIns="254" bIns="254" rtlCol="0" anchor="ctr">
            <a:normAutofit/>
          </a:bodyPr>
          <a:lstStyle/>
          <a:p>
            <a:pPr marL="0" indent="0" algn="ctr">
              <a:buNone/>
            </a:pPr>
            <a:r>
              <a:rPr lang="en-US" sz="940" b="1" dirty="0">
                <a:solidFill>
                  <a:srgbClr val="000000"/>
                </a:solidFill>
                <a:latin typeface="Calibri" pitchFamily="34" charset="0"/>
                <a:ea typeface="Calibri" pitchFamily="34" charset="-122"/>
                <a:cs typeface="Calibri" pitchFamily="34" charset="-120"/>
              </a:rPr>
              <a:t>Duplicate Type</a:t>
            </a:r>
            <a:endParaRPr lang="en-US" sz="940" dirty="0"/>
          </a:p>
        </p:txBody>
      </p:sp>
      <p:sp>
        <p:nvSpPr>
          <p:cNvPr id="20" name="Shape 18"/>
          <p:cNvSpPr/>
          <p:nvPr/>
        </p:nvSpPr>
        <p:spPr>
          <a:xfrm>
            <a:off x="1783080" y="3639312"/>
            <a:ext cx="4251960" cy="347472"/>
          </a:xfrm>
          <a:prstGeom prst="rect">
            <a:avLst/>
          </a:prstGeom>
          <a:solidFill>
            <a:srgbClr val="DCE6F1"/>
          </a:solidFill>
          <a:ln w="12700">
            <a:solidFill>
              <a:srgbClr val="B8CCE4"/>
            </a:solidFill>
            <a:prstDash val="solid"/>
          </a:ln>
        </p:spPr>
        <p:txBody>
          <a:bodyPr/>
          <a:lstStyle/>
          <a:p>
            <a:endParaRPr lang="en-IN"/>
          </a:p>
        </p:txBody>
      </p:sp>
      <p:sp>
        <p:nvSpPr>
          <p:cNvPr id="21" name="Text 19"/>
          <p:cNvSpPr/>
          <p:nvPr/>
        </p:nvSpPr>
        <p:spPr>
          <a:xfrm>
            <a:off x="1828800" y="3675888"/>
            <a:ext cx="4160520" cy="274320"/>
          </a:xfrm>
          <a:prstGeom prst="rect">
            <a:avLst/>
          </a:prstGeom>
          <a:noFill/>
          <a:ln/>
        </p:spPr>
        <p:txBody>
          <a:bodyPr wrap="square" lIns="254" tIns="254" rIns="254" bIns="254" rtlCol="0" anchor="ctr">
            <a:normAutofit/>
          </a:bodyPr>
          <a:lstStyle/>
          <a:p>
            <a:pPr marL="0" indent="0" algn="ctr">
              <a:buNone/>
            </a:pPr>
            <a:r>
              <a:rPr lang="en-US" sz="940" b="1" dirty="0">
                <a:solidFill>
                  <a:srgbClr val="000000"/>
                </a:solidFill>
                <a:latin typeface="Calibri" pitchFamily="34" charset="0"/>
                <a:ea typeface="Calibri" pitchFamily="34" charset="-122"/>
                <a:cs typeface="Calibri" pitchFamily="34" charset="-120"/>
              </a:rPr>
              <a:t>Observed Example</a:t>
            </a:r>
            <a:endParaRPr lang="en-US" sz="940" dirty="0"/>
          </a:p>
        </p:txBody>
      </p:sp>
      <p:sp>
        <p:nvSpPr>
          <p:cNvPr id="22" name="Shape 20"/>
          <p:cNvSpPr/>
          <p:nvPr/>
        </p:nvSpPr>
        <p:spPr>
          <a:xfrm>
            <a:off x="6035040" y="3639312"/>
            <a:ext cx="2148840" cy="347472"/>
          </a:xfrm>
          <a:prstGeom prst="rect">
            <a:avLst/>
          </a:prstGeom>
          <a:solidFill>
            <a:srgbClr val="DCE6F1"/>
          </a:solidFill>
          <a:ln w="12700">
            <a:solidFill>
              <a:srgbClr val="B8CCE4"/>
            </a:solidFill>
            <a:prstDash val="solid"/>
          </a:ln>
        </p:spPr>
        <p:txBody>
          <a:bodyPr/>
          <a:lstStyle/>
          <a:p>
            <a:endParaRPr lang="en-IN"/>
          </a:p>
        </p:txBody>
      </p:sp>
      <p:sp>
        <p:nvSpPr>
          <p:cNvPr id="23" name="Text 21"/>
          <p:cNvSpPr/>
          <p:nvPr/>
        </p:nvSpPr>
        <p:spPr>
          <a:xfrm>
            <a:off x="6080760" y="3675888"/>
            <a:ext cx="2057400" cy="274320"/>
          </a:xfrm>
          <a:prstGeom prst="rect">
            <a:avLst/>
          </a:prstGeom>
          <a:noFill/>
          <a:ln/>
        </p:spPr>
        <p:txBody>
          <a:bodyPr wrap="square" lIns="254" tIns="254" rIns="254" bIns="254" rtlCol="0" anchor="ctr">
            <a:normAutofit/>
          </a:bodyPr>
          <a:lstStyle/>
          <a:p>
            <a:pPr marL="0" indent="0" algn="ctr">
              <a:buNone/>
            </a:pPr>
            <a:r>
              <a:rPr lang="en-US" sz="940" b="1" dirty="0">
                <a:solidFill>
                  <a:srgbClr val="000000"/>
                </a:solidFill>
                <a:latin typeface="Calibri" pitchFamily="34" charset="0"/>
                <a:ea typeface="Calibri" pitchFamily="34" charset="-122"/>
                <a:cs typeface="Calibri" pitchFamily="34" charset="-120"/>
              </a:rPr>
              <a:t>Decision</a:t>
            </a:r>
            <a:endParaRPr lang="en-US" sz="940" dirty="0"/>
          </a:p>
        </p:txBody>
      </p:sp>
      <p:sp>
        <p:nvSpPr>
          <p:cNvPr id="24" name="Shape 22"/>
          <p:cNvSpPr/>
          <p:nvPr/>
        </p:nvSpPr>
        <p:spPr>
          <a:xfrm>
            <a:off x="457200" y="3986784"/>
            <a:ext cx="1325880" cy="822960"/>
          </a:xfrm>
          <a:prstGeom prst="rect">
            <a:avLst/>
          </a:prstGeom>
          <a:solidFill>
            <a:srgbClr val="F3F6FA"/>
          </a:solidFill>
          <a:ln w="12700">
            <a:solidFill>
              <a:srgbClr val="D9D9D9"/>
            </a:solidFill>
            <a:prstDash val="solid"/>
          </a:ln>
        </p:spPr>
        <p:txBody>
          <a:bodyPr/>
          <a:lstStyle/>
          <a:p>
            <a:endParaRPr lang="en-IN"/>
          </a:p>
        </p:txBody>
      </p:sp>
      <p:sp>
        <p:nvSpPr>
          <p:cNvPr id="25" name="Text 23"/>
          <p:cNvSpPr/>
          <p:nvPr/>
        </p:nvSpPr>
        <p:spPr>
          <a:xfrm>
            <a:off x="502920" y="4023360"/>
            <a:ext cx="1234440" cy="749808"/>
          </a:xfrm>
          <a:prstGeom prst="rect">
            <a:avLst/>
          </a:prstGeom>
          <a:noFill/>
          <a:ln/>
        </p:spPr>
        <p:txBody>
          <a:bodyPr wrap="square" lIns="254" tIns="254" rIns="254" bIns="254" rtlCol="0" anchor="ctr">
            <a:normAutofit/>
          </a:bodyPr>
          <a:lstStyle/>
          <a:p>
            <a:pPr marL="0" indent="0" algn="l">
              <a:buNone/>
            </a:pPr>
            <a:r>
              <a:rPr lang="en-US" sz="910" b="1" dirty="0">
                <a:solidFill>
                  <a:srgbClr val="000000"/>
                </a:solidFill>
                <a:latin typeface="Calibri" pitchFamily="34" charset="0"/>
                <a:ea typeface="Calibri" pitchFamily="34" charset="-122"/>
                <a:cs typeface="Calibri" pitchFamily="34" charset="-120"/>
              </a:rPr>
              <a:t>Same review ID</a:t>
            </a:r>
            <a:endParaRPr lang="en-US" sz="910" dirty="0"/>
          </a:p>
        </p:txBody>
      </p:sp>
      <p:sp>
        <p:nvSpPr>
          <p:cNvPr id="26" name="Shape 24"/>
          <p:cNvSpPr/>
          <p:nvPr/>
        </p:nvSpPr>
        <p:spPr>
          <a:xfrm>
            <a:off x="1783080" y="3986784"/>
            <a:ext cx="4251960" cy="822960"/>
          </a:xfrm>
          <a:prstGeom prst="rect">
            <a:avLst/>
          </a:prstGeom>
          <a:solidFill>
            <a:srgbClr val="FFFFFF"/>
          </a:solidFill>
          <a:ln w="12700">
            <a:solidFill>
              <a:srgbClr val="D9D9D9"/>
            </a:solidFill>
            <a:prstDash val="solid"/>
          </a:ln>
        </p:spPr>
        <p:txBody>
          <a:bodyPr/>
          <a:lstStyle/>
          <a:p>
            <a:endParaRPr lang="en-IN"/>
          </a:p>
        </p:txBody>
      </p:sp>
      <p:sp>
        <p:nvSpPr>
          <p:cNvPr id="27" name="Text 25"/>
          <p:cNvSpPr/>
          <p:nvPr/>
        </p:nvSpPr>
        <p:spPr>
          <a:xfrm>
            <a:off x="1828800" y="4023360"/>
            <a:ext cx="4160520" cy="749808"/>
          </a:xfrm>
          <a:prstGeom prst="rect">
            <a:avLst/>
          </a:prstGeom>
          <a:noFill/>
          <a:ln/>
        </p:spPr>
        <p:txBody>
          <a:bodyPr wrap="square" lIns="254" tIns="254" rIns="254" bIns="254" rtlCol="0" anchor="ctr">
            <a:normAutofit/>
          </a:bodyPr>
          <a:lstStyle/>
          <a:p>
            <a:pPr marL="0" indent="0" algn="l">
              <a:buNone/>
            </a:pPr>
            <a:r>
              <a:rPr lang="en-US" sz="890" dirty="0">
                <a:solidFill>
                  <a:srgbClr val="000000"/>
                </a:solidFill>
                <a:latin typeface="Calibri" pitchFamily="34" charset="0"/>
                <a:ea typeface="Calibri" pitchFamily="34" charset="-122"/>
                <a:cs typeface="Calibri" pitchFamily="34" charset="-120"/>
              </a:rPr>
              <a:t>Record ID c9c028a3-4be2-44fd-934b-56a7aae70b10 appeared in newest_en, relevant_en, and rating_en with the same review content.</a:t>
            </a:r>
            <a:endParaRPr lang="en-US" sz="890" dirty="0"/>
          </a:p>
        </p:txBody>
      </p:sp>
      <p:sp>
        <p:nvSpPr>
          <p:cNvPr id="28" name="Shape 26"/>
          <p:cNvSpPr/>
          <p:nvPr/>
        </p:nvSpPr>
        <p:spPr>
          <a:xfrm>
            <a:off x="6035040" y="3986784"/>
            <a:ext cx="2148840" cy="822960"/>
          </a:xfrm>
          <a:prstGeom prst="rect">
            <a:avLst/>
          </a:prstGeom>
          <a:solidFill>
            <a:srgbClr val="FFFFFF"/>
          </a:solidFill>
          <a:ln w="12700">
            <a:solidFill>
              <a:srgbClr val="D9D9D9"/>
            </a:solidFill>
            <a:prstDash val="solid"/>
          </a:ln>
        </p:spPr>
        <p:txBody>
          <a:bodyPr/>
          <a:lstStyle/>
          <a:p>
            <a:endParaRPr lang="en-IN"/>
          </a:p>
        </p:txBody>
      </p:sp>
      <p:sp>
        <p:nvSpPr>
          <p:cNvPr id="29" name="Text 27"/>
          <p:cNvSpPr/>
          <p:nvPr/>
        </p:nvSpPr>
        <p:spPr>
          <a:xfrm>
            <a:off x="6080760" y="4023360"/>
            <a:ext cx="2057400" cy="749808"/>
          </a:xfrm>
          <a:prstGeom prst="rect">
            <a:avLst/>
          </a:prstGeom>
          <a:noFill/>
          <a:ln/>
        </p:spPr>
        <p:txBody>
          <a:bodyPr wrap="square" lIns="254" tIns="254" rIns="254" bIns="254" rtlCol="0" anchor="ctr">
            <a:normAutofit/>
          </a:bodyPr>
          <a:lstStyle/>
          <a:p>
            <a:pPr marL="0" indent="0" algn="l">
              <a:buNone/>
            </a:pPr>
            <a:r>
              <a:rPr lang="en-US" sz="890" dirty="0">
                <a:solidFill>
                  <a:srgbClr val="000000"/>
                </a:solidFill>
                <a:latin typeface="Calibri" pitchFamily="34" charset="0"/>
                <a:ea typeface="Calibri" pitchFamily="34" charset="-122"/>
                <a:cs typeface="Calibri" pitchFamily="34" charset="-120"/>
              </a:rPr>
              <a:t>Keep one row after priority sorting; remove repeated IDs.</a:t>
            </a:r>
            <a:endParaRPr lang="en-US" sz="890" dirty="0"/>
          </a:p>
        </p:txBody>
      </p:sp>
      <p:sp>
        <p:nvSpPr>
          <p:cNvPr id="30" name="Shape 28"/>
          <p:cNvSpPr/>
          <p:nvPr/>
        </p:nvSpPr>
        <p:spPr>
          <a:xfrm>
            <a:off x="457200" y="4809744"/>
            <a:ext cx="1325880" cy="822960"/>
          </a:xfrm>
          <a:prstGeom prst="rect">
            <a:avLst/>
          </a:prstGeom>
          <a:solidFill>
            <a:srgbClr val="F3F6FA"/>
          </a:solidFill>
          <a:ln w="12700">
            <a:solidFill>
              <a:srgbClr val="D9D9D9"/>
            </a:solidFill>
            <a:prstDash val="solid"/>
          </a:ln>
        </p:spPr>
        <p:txBody>
          <a:bodyPr/>
          <a:lstStyle/>
          <a:p>
            <a:endParaRPr lang="en-IN"/>
          </a:p>
        </p:txBody>
      </p:sp>
      <p:sp>
        <p:nvSpPr>
          <p:cNvPr id="31" name="Text 29"/>
          <p:cNvSpPr/>
          <p:nvPr/>
        </p:nvSpPr>
        <p:spPr>
          <a:xfrm>
            <a:off x="502920" y="4846320"/>
            <a:ext cx="1234440" cy="749808"/>
          </a:xfrm>
          <a:prstGeom prst="rect">
            <a:avLst/>
          </a:prstGeom>
          <a:noFill/>
          <a:ln/>
        </p:spPr>
        <p:txBody>
          <a:bodyPr wrap="square" lIns="254" tIns="254" rIns="254" bIns="254" rtlCol="0" anchor="ctr">
            <a:normAutofit/>
          </a:bodyPr>
          <a:lstStyle/>
          <a:p>
            <a:pPr marL="0" indent="0" algn="l">
              <a:buNone/>
            </a:pPr>
            <a:r>
              <a:rPr lang="en-US" sz="910" b="1" dirty="0">
                <a:solidFill>
                  <a:srgbClr val="000000"/>
                </a:solidFill>
                <a:latin typeface="Calibri" pitchFamily="34" charset="0"/>
                <a:ea typeface="Calibri" pitchFamily="34" charset="-122"/>
                <a:cs typeface="Calibri" pitchFamily="34" charset="-120"/>
              </a:rPr>
              <a:t>Same normalized text</a:t>
            </a:r>
            <a:endParaRPr lang="en-US" sz="910" dirty="0"/>
          </a:p>
        </p:txBody>
      </p:sp>
      <p:sp>
        <p:nvSpPr>
          <p:cNvPr id="32" name="Shape 30"/>
          <p:cNvSpPr/>
          <p:nvPr/>
        </p:nvSpPr>
        <p:spPr>
          <a:xfrm>
            <a:off x="1783080" y="4809744"/>
            <a:ext cx="4251960" cy="822960"/>
          </a:xfrm>
          <a:prstGeom prst="rect">
            <a:avLst/>
          </a:prstGeom>
          <a:solidFill>
            <a:srgbClr val="FFFFFF"/>
          </a:solidFill>
          <a:ln w="12700">
            <a:solidFill>
              <a:srgbClr val="D9D9D9"/>
            </a:solidFill>
            <a:prstDash val="solid"/>
          </a:ln>
        </p:spPr>
        <p:txBody>
          <a:bodyPr/>
          <a:lstStyle/>
          <a:p>
            <a:endParaRPr lang="en-IN"/>
          </a:p>
        </p:txBody>
      </p:sp>
      <p:sp>
        <p:nvSpPr>
          <p:cNvPr id="33" name="Text 31"/>
          <p:cNvSpPr/>
          <p:nvPr/>
        </p:nvSpPr>
        <p:spPr>
          <a:xfrm>
            <a:off x="1828800" y="4846320"/>
            <a:ext cx="4160520" cy="749808"/>
          </a:xfrm>
          <a:prstGeom prst="rect">
            <a:avLst/>
          </a:prstGeom>
          <a:noFill/>
          <a:ln/>
        </p:spPr>
        <p:txBody>
          <a:bodyPr wrap="square" lIns="254" tIns="254" rIns="254" bIns="254" rtlCol="0" anchor="ctr">
            <a:normAutofit/>
          </a:bodyPr>
          <a:lstStyle/>
          <a:p>
            <a:pPr marL="0" indent="0" algn="l">
              <a:buNone/>
            </a:pPr>
            <a:r>
              <a:rPr lang="en-US" sz="890" dirty="0">
                <a:solidFill>
                  <a:srgbClr val="000000"/>
                </a:solidFill>
                <a:latin typeface="Calibri" pitchFamily="34" charset="0"/>
                <a:ea typeface="Calibri" pitchFamily="34" charset="-122"/>
                <a:cs typeface="Calibri" pitchFamily="34" charset="-120"/>
              </a:rPr>
              <a:t>"Best app for food delivery", "Best App for Food delivery...", and "Best app for food delivery" from different pulls normalized to the same string.</a:t>
            </a:r>
            <a:endParaRPr lang="en-US" sz="890" dirty="0"/>
          </a:p>
        </p:txBody>
      </p:sp>
      <p:sp>
        <p:nvSpPr>
          <p:cNvPr id="34" name="Shape 32"/>
          <p:cNvSpPr/>
          <p:nvPr/>
        </p:nvSpPr>
        <p:spPr>
          <a:xfrm>
            <a:off x="6035040" y="4809744"/>
            <a:ext cx="2148840" cy="822960"/>
          </a:xfrm>
          <a:prstGeom prst="rect">
            <a:avLst/>
          </a:prstGeom>
          <a:solidFill>
            <a:srgbClr val="FFFFFF"/>
          </a:solidFill>
          <a:ln w="12700">
            <a:solidFill>
              <a:srgbClr val="D9D9D9"/>
            </a:solidFill>
            <a:prstDash val="solid"/>
          </a:ln>
        </p:spPr>
        <p:txBody>
          <a:bodyPr/>
          <a:lstStyle/>
          <a:p>
            <a:endParaRPr lang="en-IN"/>
          </a:p>
        </p:txBody>
      </p:sp>
      <p:sp>
        <p:nvSpPr>
          <p:cNvPr id="35" name="Text 33"/>
          <p:cNvSpPr/>
          <p:nvPr/>
        </p:nvSpPr>
        <p:spPr>
          <a:xfrm>
            <a:off x="6080760" y="4846320"/>
            <a:ext cx="2057400" cy="749808"/>
          </a:xfrm>
          <a:prstGeom prst="rect">
            <a:avLst/>
          </a:prstGeom>
          <a:noFill/>
          <a:ln/>
        </p:spPr>
        <p:txBody>
          <a:bodyPr wrap="square" lIns="254" tIns="254" rIns="254" bIns="254" rtlCol="0" anchor="ctr">
            <a:normAutofit/>
          </a:bodyPr>
          <a:lstStyle/>
          <a:p>
            <a:pPr marL="0" indent="0" algn="l">
              <a:buNone/>
            </a:pPr>
            <a:r>
              <a:rPr lang="en-US" sz="890" dirty="0">
                <a:solidFill>
                  <a:srgbClr val="000000"/>
                </a:solidFill>
                <a:latin typeface="Calibri" pitchFamily="34" charset="0"/>
                <a:ea typeface="Calibri" pitchFamily="34" charset="-122"/>
                <a:cs typeface="Calibri" pitchFamily="34" charset="-120"/>
              </a:rPr>
              <a:t>Keep one representative row; remove repeated wording.</a:t>
            </a:r>
            <a:endParaRPr lang="en-US" sz="890" dirty="0"/>
          </a:p>
        </p:txBody>
      </p:sp>
      <p:sp>
        <p:nvSpPr>
          <p:cNvPr id="36" name="Text 34"/>
          <p:cNvSpPr/>
          <p:nvPr/>
        </p:nvSpPr>
        <p:spPr>
          <a:xfrm>
            <a:off x="566928" y="5806440"/>
            <a:ext cx="7406640" cy="182880"/>
          </a:xfrm>
          <a:prstGeom prst="rect">
            <a:avLst/>
          </a:prstGeom>
          <a:noFill/>
          <a:ln/>
        </p:spPr>
        <p:txBody>
          <a:bodyPr wrap="square" lIns="0" tIns="0" rIns="0" bIns="0" rtlCol="0" anchor="ctr"/>
          <a:lstStyle/>
          <a:p>
            <a:pPr marL="0" indent="0" algn="ctr">
              <a:buNone/>
            </a:pPr>
            <a:r>
              <a:rPr lang="en-US" sz="1000" b="1" dirty="0">
                <a:solidFill>
                  <a:srgbClr val="000000"/>
                </a:solidFill>
                <a:latin typeface="Calibri" pitchFamily="34" charset="0"/>
                <a:ea typeface="Calibri" pitchFamily="34" charset="-122"/>
                <a:cs typeface="Calibri" pitchFamily="34" charset="-120"/>
              </a:rPr>
              <a:t>Removal summary: 46,193 merged rows -&gt; 41,657 after review-ID dedupe -&gt; 41,597 after normalized-text dedupe.</a:t>
            </a:r>
            <a:endParaRPr lang="en-US" sz="1000" dirty="0"/>
          </a:p>
        </p:txBody>
      </p:sp>
      <p:sp>
        <p:nvSpPr>
          <p:cNvPr id="37" name="Text 35"/>
          <p:cNvSpPr/>
          <p:nvPr/>
        </p:nvSpPr>
        <p:spPr>
          <a:xfrm>
            <a:off x="2971800" y="6217920"/>
            <a:ext cx="3200400" cy="201168"/>
          </a:xfrm>
          <a:prstGeom prst="rect">
            <a:avLst/>
          </a:prstGeom>
          <a:noFill/>
          <a:ln/>
        </p:spPr>
        <p:txBody>
          <a:bodyPr wrap="square" lIns="0" tIns="0" rIns="0" bIns="0" rtlCol="0" anchor="ctr"/>
          <a:lstStyle/>
          <a:p>
            <a:pPr marL="0" indent="0" algn="ctr">
              <a:buNone/>
            </a:pPr>
            <a:r>
              <a:rPr lang="en-US" sz="1000" dirty="0">
                <a:solidFill>
                  <a:srgbClr val="4F81BD"/>
                </a:solidFill>
                <a:latin typeface="Calibri" pitchFamily="34" charset="0"/>
                <a:ea typeface="Calibri" pitchFamily="34" charset="-122"/>
                <a:cs typeface="Calibri" pitchFamily="34" charset="-120"/>
              </a:rPr>
              <a:t>VIT ONLINE MBA</a:t>
            </a:r>
            <a:endParaRPr lang="en-US" sz="1000" dirty="0"/>
          </a:p>
        </p:txBody>
      </p:sp>
      <p:sp>
        <p:nvSpPr>
          <p:cNvPr id="38" name="Text 36"/>
          <p:cNvSpPr/>
          <p:nvPr/>
        </p:nvSpPr>
        <p:spPr>
          <a:xfrm>
            <a:off x="164592" y="6419088"/>
            <a:ext cx="731520" cy="146304"/>
          </a:xfrm>
          <a:prstGeom prst="rect">
            <a:avLst/>
          </a:prstGeom>
          <a:noFill/>
          <a:ln/>
        </p:spPr>
        <p:txBody>
          <a:bodyPr wrap="square" lIns="0" tIns="0" rIns="0" bIns="0" rtlCol="0" anchor="ctr"/>
          <a:lstStyle/>
          <a:p>
            <a:pPr marL="0" indent="0">
              <a:buNone/>
            </a:pPr>
            <a:r>
              <a:rPr lang="en-US" sz="550" dirty="0">
                <a:solidFill>
                  <a:srgbClr val="666666"/>
                </a:solidFill>
                <a:latin typeface="Calibri" pitchFamily="34" charset="0"/>
                <a:ea typeface="Calibri" pitchFamily="34" charset="-122"/>
                <a:cs typeface="Calibri" pitchFamily="34" charset="-120"/>
              </a:rPr>
              <a:t>Slide 05</a:t>
            </a:r>
            <a:endParaRPr lang="en-US" sz="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SentiLens Model Architecture</a:t>
            </a:r>
            <a:endParaRPr lang="en-US" sz="2400" dirty="0"/>
          </a:p>
        </p:txBody>
      </p:sp>
      <p:sp>
        <p:nvSpPr>
          <p:cNvPr id="3" name="Text 1"/>
          <p:cNvSpPr/>
          <p:nvPr/>
        </p:nvSpPr>
        <p:spPr>
          <a:xfrm>
            <a:off x="658368" y="932688"/>
            <a:ext cx="7360920" cy="201168"/>
          </a:xfrm>
          <a:prstGeom prst="rect">
            <a:avLst/>
          </a:prstGeom>
          <a:noFill/>
          <a:ln/>
        </p:spPr>
        <p:txBody>
          <a:bodyPr wrap="square" lIns="0" tIns="0" rIns="0" bIns="0" rtlCol="0" anchor="ctr"/>
          <a:lstStyle/>
          <a:p>
            <a:pPr marL="0" indent="0" algn="ctr">
              <a:buNone/>
            </a:pPr>
            <a:r>
              <a:rPr lang="en-US" sz="1080" dirty="0">
                <a:solidFill>
                  <a:srgbClr val="666666"/>
                </a:solidFill>
                <a:latin typeface="Calibri" pitchFamily="34" charset="0"/>
                <a:ea typeface="Calibri" pitchFamily="34" charset="-122"/>
                <a:cs typeface="Calibri" pitchFamily="34" charset="-120"/>
              </a:rPr>
              <a:t>SentiLens is the tuned TF-IDF + Logistic Regression pipeline used for the final sentiment predictions.</a:t>
            </a:r>
            <a:endParaRPr lang="en-US" sz="1080" dirty="0"/>
          </a:p>
        </p:txBody>
      </p:sp>
      <p:sp>
        <p:nvSpPr>
          <p:cNvPr id="4" name="Shape 2"/>
          <p:cNvSpPr/>
          <p:nvPr/>
        </p:nvSpPr>
        <p:spPr>
          <a:xfrm>
            <a:off x="411480" y="1481328"/>
            <a:ext cx="1627632" cy="1554480"/>
          </a:xfrm>
          <a:prstGeom prst="roundRect">
            <a:avLst>
              <a:gd name="adj" fmla="val 4706"/>
            </a:avLst>
          </a:prstGeom>
          <a:solidFill>
            <a:srgbClr val="FFFFFF"/>
          </a:solidFill>
          <a:ln w="12700">
            <a:solidFill>
              <a:srgbClr val="B8CCE4"/>
            </a:solidFill>
            <a:prstDash val="solid"/>
          </a:ln>
        </p:spPr>
        <p:txBody>
          <a:bodyPr/>
          <a:lstStyle/>
          <a:p>
            <a:endParaRPr lang="en-IN"/>
          </a:p>
        </p:txBody>
      </p:sp>
      <p:sp>
        <p:nvSpPr>
          <p:cNvPr id="5" name="Shape 3"/>
          <p:cNvSpPr/>
          <p:nvPr/>
        </p:nvSpPr>
        <p:spPr>
          <a:xfrm>
            <a:off x="612648" y="1591056"/>
            <a:ext cx="1225296" cy="73152"/>
          </a:xfrm>
          <a:prstGeom prst="rect">
            <a:avLst/>
          </a:prstGeom>
          <a:solidFill>
            <a:srgbClr val="DCE6F1"/>
          </a:solidFill>
          <a:ln w="12700">
            <a:solidFill>
              <a:srgbClr val="DCE6F1"/>
            </a:solidFill>
            <a:prstDash val="solid"/>
          </a:ln>
        </p:spPr>
        <p:txBody>
          <a:bodyPr/>
          <a:lstStyle/>
          <a:p>
            <a:endParaRPr lang="en-IN"/>
          </a:p>
        </p:txBody>
      </p:sp>
      <p:sp>
        <p:nvSpPr>
          <p:cNvPr id="6" name="Text 4"/>
          <p:cNvSpPr/>
          <p:nvPr/>
        </p:nvSpPr>
        <p:spPr>
          <a:xfrm>
            <a:off x="502920" y="1737360"/>
            <a:ext cx="1444752" cy="219456"/>
          </a:xfrm>
          <a:prstGeom prst="rect">
            <a:avLst/>
          </a:prstGeom>
          <a:noFill/>
          <a:ln/>
        </p:spPr>
        <p:txBody>
          <a:bodyPr wrap="square" lIns="0" tIns="0" rIns="0" bIns="0" rtlCol="0" anchor="ctr"/>
          <a:lstStyle/>
          <a:p>
            <a:pPr marL="0" indent="0" algn="ctr">
              <a:buNone/>
            </a:pPr>
            <a:r>
              <a:rPr lang="en-US" sz="1050" b="1" dirty="0">
                <a:solidFill>
                  <a:srgbClr val="4F81BD"/>
                </a:solidFill>
                <a:latin typeface="Calibri" pitchFamily="34" charset="0"/>
                <a:ea typeface="Calibri" pitchFamily="34" charset="-122"/>
                <a:cs typeface="Calibri" pitchFamily="34" charset="-120"/>
              </a:rPr>
              <a:t>1. Input Review Text</a:t>
            </a:r>
            <a:endParaRPr lang="en-US" sz="1050" dirty="0"/>
          </a:p>
        </p:txBody>
      </p:sp>
      <p:sp>
        <p:nvSpPr>
          <p:cNvPr id="7" name="Text 5"/>
          <p:cNvSpPr/>
          <p:nvPr/>
        </p:nvSpPr>
        <p:spPr>
          <a:xfrm>
            <a:off x="521208" y="2011680"/>
            <a:ext cx="1408176" cy="914400"/>
          </a:xfrm>
          <a:prstGeom prst="rect">
            <a:avLst/>
          </a:prstGeom>
          <a:noFill/>
          <a:ln/>
        </p:spPr>
        <p:txBody>
          <a:bodyPr wrap="square" lIns="254" tIns="254" rIns="254" bIns="254" rtlCol="0" anchor="ctr">
            <a:normAutofit/>
          </a:bodyPr>
          <a:lstStyle/>
          <a:p>
            <a:pPr marL="0" indent="0" algn="l">
              <a:buNone/>
            </a:pPr>
            <a:r>
              <a:rPr lang="en-US" sz="920" dirty="0">
                <a:solidFill>
                  <a:srgbClr val="000000"/>
                </a:solidFill>
                <a:latin typeface="Calibri" pitchFamily="34" charset="0"/>
                <a:ea typeface="Calibri" pitchFamily="34" charset="-122"/>
                <a:cs typeface="Calibri" pitchFamily="34" charset="-120"/>
              </a:rPr>
              <a:t>Raw review sentence</a:t>
            </a: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from Google Play dataset</a:t>
            </a:r>
            <a:endParaRPr lang="en-US" sz="920" dirty="0"/>
          </a:p>
          <a:p>
            <a:pPr marL="0" indent="0" algn="l">
              <a:buNone/>
            </a:pP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Complaint, praise, or mixed opinion</a:t>
            </a:r>
            <a:endParaRPr lang="en-US" sz="920" dirty="0"/>
          </a:p>
        </p:txBody>
      </p:sp>
      <p:sp>
        <p:nvSpPr>
          <p:cNvPr id="8" name="Shape 6"/>
          <p:cNvSpPr/>
          <p:nvPr/>
        </p:nvSpPr>
        <p:spPr>
          <a:xfrm>
            <a:off x="2240280" y="1481328"/>
            <a:ext cx="1691640" cy="1828800"/>
          </a:xfrm>
          <a:prstGeom prst="roundRect">
            <a:avLst>
              <a:gd name="adj" fmla="val 4324"/>
            </a:avLst>
          </a:prstGeom>
          <a:solidFill>
            <a:srgbClr val="FFFFFF"/>
          </a:solidFill>
          <a:ln w="12700">
            <a:solidFill>
              <a:srgbClr val="B8CCE4"/>
            </a:solidFill>
            <a:prstDash val="solid"/>
          </a:ln>
        </p:spPr>
        <p:txBody>
          <a:bodyPr/>
          <a:lstStyle/>
          <a:p>
            <a:endParaRPr lang="en-IN"/>
          </a:p>
        </p:txBody>
      </p:sp>
      <p:sp>
        <p:nvSpPr>
          <p:cNvPr id="9" name="Shape 7"/>
          <p:cNvSpPr/>
          <p:nvPr/>
        </p:nvSpPr>
        <p:spPr>
          <a:xfrm>
            <a:off x="2441448" y="1591056"/>
            <a:ext cx="1289304" cy="73152"/>
          </a:xfrm>
          <a:prstGeom prst="rect">
            <a:avLst/>
          </a:prstGeom>
          <a:solidFill>
            <a:srgbClr val="DCE6F1"/>
          </a:solidFill>
          <a:ln w="12700">
            <a:solidFill>
              <a:srgbClr val="DCE6F1"/>
            </a:solidFill>
            <a:prstDash val="solid"/>
          </a:ln>
        </p:spPr>
        <p:txBody>
          <a:bodyPr/>
          <a:lstStyle/>
          <a:p>
            <a:endParaRPr lang="en-IN"/>
          </a:p>
        </p:txBody>
      </p:sp>
      <p:sp>
        <p:nvSpPr>
          <p:cNvPr id="10" name="Text 8"/>
          <p:cNvSpPr/>
          <p:nvPr/>
        </p:nvSpPr>
        <p:spPr>
          <a:xfrm>
            <a:off x="2331720" y="1737360"/>
            <a:ext cx="1508760" cy="219456"/>
          </a:xfrm>
          <a:prstGeom prst="rect">
            <a:avLst/>
          </a:prstGeom>
          <a:noFill/>
          <a:ln/>
        </p:spPr>
        <p:txBody>
          <a:bodyPr wrap="square" lIns="0" tIns="0" rIns="0" bIns="0" rtlCol="0" anchor="ctr"/>
          <a:lstStyle/>
          <a:p>
            <a:pPr marL="0" indent="0" algn="ctr">
              <a:buNone/>
            </a:pPr>
            <a:r>
              <a:rPr lang="en-US" sz="1050" b="1" dirty="0">
                <a:solidFill>
                  <a:srgbClr val="4F81BD"/>
                </a:solidFill>
                <a:latin typeface="Calibri" pitchFamily="34" charset="0"/>
                <a:ea typeface="Calibri" pitchFamily="34" charset="-122"/>
                <a:cs typeface="Calibri" pitchFamily="34" charset="-120"/>
              </a:rPr>
              <a:t>2. TF-IDF Vectorizer</a:t>
            </a:r>
            <a:endParaRPr lang="en-US" sz="1050" dirty="0"/>
          </a:p>
        </p:txBody>
      </p:sp>
      <p:sp>
        <p:nvSpPr>
          <p:cNvPr id="11" name="Text 9"/>
          <p:cNvSpPr/>
          <p:nvPr/>
        </p:nvSpPr>
        <p:spPr>
          <a:xfrm>
            <a:off x="2350008" y="2011680"/>
            <a:ext cx="1472184" cy="1188720"/>
          </a:xfrm>
          <a:prstGeom prst="rect">
            <a:avLst/>
          </a:prstGeom>
          <a:noFill/>
          <a:ln/>
        </p:spPr>
        <p:txBody>
          <a:bodyPr wrap="square" lIns="254" tIns="254" rIns="254" bIns="254" rtlCol="0" anchor="ctr">
            <a:normAutofit/>
          </a:bodyPr>
          <a:lstStyle/>
          <a:p>
            <a:pPr marL="0" indent="0" algn="l">
              <a:buNone/>
            </a:pPr>
            <a:r>
              <a:rPr lang="en-US" sz="920" dirty="0">
                <a:solidFill>
                  <a:srgbClr val="000000"/>
                </a:solidFill>
                <a:latin typeface="Calibri" pitchFamily="34" charset="0"/>
                <a:ea typeface="Calibri" pitchFamily="34" charset="-122"/>
                <a:cs typeface="Calibri" pitchFamily="34" charset="-120"/>
              </a:rPr>
              <a:t>lowercase = True</a:t>
            </a: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strip_accents = unicode</a:t>
            </a: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word n-grams = 1 to 2</a:t>
            </a: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min_df = 2</a:t>
            </a:r>
          </a:p>
          <a:p>
            <a:pPr marL="0" indent="0" algn="l">
              <a:buNone/>
            </a:pPr>
            <a:r>
              <a:rPr lang="en-US" sz="920" dirty="0" err="1">
                <a:solidFill>
                  <a:srgbClr val="000000"/>
                </a:solidFill>
                <a:latin typeface="Calibri" pitchFamily="34" charset="0"/>
                <a:ea typeface="Calibri" pitchFamily="34" charset="-122"/>
                <a:cs typeface="Calibri" pitchFamily="34" charset="-120"/>
              </a:rPr>
              <a:t>max_df</a:t>
            </a:r>
            <a:r>
              <a:rPr lang="en-US" sz="920" dirty="0">
                <a:solidFill>
                  <a:srgbClr val="000000"/>
                </a:solidFill>
                <a:latin typeface="Calibri" pitchFamily="34" charset="0"/>
                <a:ea typeface="Calibri" pitchFamily="34" charset="-122"/>
                <a:cs typeface="Calibri" pitchFamily="34" charset="-120"/>
              </a:rPr>
              <a:t> = 0.95</a:t>
            </a: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max_features = 40,000</a:t>
            </a:r>
            <a:endParaRPr lang="en-US" sz="920" dirty="0"/>
          </a:p>
        </p:txBody>
      </p:sp>
      <p:sp>
        <p:nvSpPr>
          <p:cNvPr id="12" name="Shape 10"/>
          <p:cNvSpPr/>
          <p:nvPr/>
        </p:nvSpPr>
        <p:spPr>
          <a:xfrm>
            <a:off x="4133088" y="1481328"/>
            <a:ext cx="1572768" cy="1645920"/>
          </a:xfrm>
          <a:prstGeom prst="roundRect">
            <a:avLst>
              <a:gd name="adj" fmla="val 4651"/>
            </a:avLst>
          </a:prstGeom>
          <a:solidFill>
            <a:srgbClr val="FFFFFF"/>
          </a:solidFill>
          <a:ln w="12700">
            <a:solidFill>
              <a:srgbClr val="B8CCE4"/>
            </a:solidFill>
            <a:prstDash val="solid"/>
          </a:ln>
        </p:spPr>
        <p:txBody>
          <a:bodyPr/>
          <a:lstStyle/>
          <a:p>
            <a:endParaRPr lang="en-IN"/>
          </a:p>
        </p:txBody>
      </p:sp>
      <p:sp>
        <p:nvSpPr>
          <p:cNvPr id="13" name="Shape 11"/>
          <p:cNvSpPr/>
          <p:nvPr/>
        </p:nvSpPr>
        <p:spPr>
          <a:xfrm>
            <a:off x="4334256" y="1591056"/>
            <a:ext cx="1170432" cy="73152"/>
          </a:xfrm>
          <a:prstGeom prst="rect">
            <a:avLst/>
          </a:prstGeom>
          <a:solidFill>
            <a:srgbClr val="DCE6F1"/>
          </a:solidFill>
          <a:ln w="12700">
            <a:solidFill>
              <a:srgbClr val="DCE6F1"/>
            </a:solidFill>
            <a:prstDash val="solid"/>
          </a:ln>
        </p:spPr>
        <p:txBody>
          <a:bodyPr/>
          <a:lstStyle/>
          <a:p>
            <a:endParaRPr lang="en-IN"/>
          </a:p>
        </p:txBody>
      </p:sp>
      <p:sp>
        <p:nvSpPr>
          <p:cNvPr id="14" name="Text 12"/>
          <p:cNvSpPr/>
          <p:nvPr/>
        </p:nvSpPr>
        <p:spPr>
          <a:xfrm>
            <a:off x="4224528" y="1737360"/>
            <a:ext cx="1389888" cy="219456"/>
          </a:xfrm>
          <a:prstGeom prst="rect">
            <a:avLst/>
          </a:prstGeom>
          <a:noFill/>
          <a:ln/>
        </p:spPr>
        <p:txBody>
          <a:bodyPr wrap="square" lIns="0" tIns="0" rIns="0" bIns="0" rtlCol="0" anchor="ctr"/>
          <a:lstStyle/>
          <a:p>
            <a:pPr marL="0" indent="0" algn="ctr">
              <a:buNone/>
            </a:pPr>
            <a:r>
              <a:rPr lang="en-US" sz="1050" b="1" dirty="0">
                <a:solidFill>
                  <a:srgbClr val="4F81BD"/>
                </a:solidFill>
                <a:latin typeface="Calibri" pitchFamily="34" charset="0"/>
                <a:ea typeface="Calibri" pitchFamily="34" charset="-122"/>
                <a:cs typeface="Calibri" pitchFamily="34" charset="-120"/>
              </a:rPr>
              <a:t>3. Sparse Features</a:t>
            </a:r>
            <a:endParaRPr lang="en-US" sz="1050" dirty="0"/>
          </a:p>
        </p:txBody>
      </p:sp>
      <p:sp>
        <p:nvSpPr>
          <p:cNvPr id="15" name="Text 13"/>
          <p:cNvSpPr/>
          <p:nvPr/>
        </p:nvSpPr>
        <p:spPr>
          <a:xfrm>
            <a:off x="4242816" y="2011680"/>
            <a:ext cx="1353312" cy="1005840"/>
          </a:xfrm>
          <a:prstGeom prst="rect">
            <a:avLst/>
          </a:prstGeom>
          <a:noFill/>
          <a:ln/>
        </p:spPr>
        <p:txBody>
          <a:bodyPr wrap="square" lIns="254" tIns="254" rIns="254" bIns="254" rtlCol="0" anchor="ctr">
            <a:normAutofit/>
          </a:bodyPr>
          <a:lstStyle/>
          <a:p>
            <a:pPr marL="0" indent="0" algn="l">
              <a:buNone/>
            </a:pPr>
            <a:r>
              <a:rPr lang="en-US" sz="920" dirty="0">
                <a:solidFill>
                  <a:srgbClr val="000000"/>
                </a:solidFill>
                <a:latin typeface="Calibri" pitchFamily="34" charset="0"/>
                <a:ea typeface="Calibri" pitchFamily="34" charset="-122"/>
                <a:cs typeface="Calibri" pitchFamily="34" charset="-120"/>
              </a:rPr>
              <a:t>Each review becomes a</a:t>
            </a: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weighted word-feature vector</a:t>
            </a:r>
            <a:endParaRPr lang="en-US" sz="920" dirty="0"/>
          </a:p>
          <a:p>
            <a:pPr marL="0" indent="0" algn="l">
              <a:buNone/>
            </a:pP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More informative terms</a:t>
            </a: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receive stronger weights</a:t>
            </a:r>
            <a:endParaRPr lang="en-US" sz="920" dirty="0"/>
          </a:p>
        </p:txBody>
      </p:sp>
      <p:sp>
        <p:nvSpPr>
          <p:cNvPr id="16" name="Shape 14"/>
          <p:cNvSpPr/>
          <p:nvPr/>
        </p:nvSpPr>
        <p:spPr>
          <a:xfrm>
            <a:off x="5897880" y="1481328"/>
            <a:ext cx="1627632" cy="1645920"/>
          </a:xfrm>
          <a:prstGeom prst="roundRect">
            <a:avLst>
              <a:gd name="adj" fmla="val 4494"/>
            </a:avLst>
          </a:prstGeom>
          <a:solidFill>
            <a:srgbClr val="FFFFFF"/>
          </a:solidFill>
          <a:ln w="12700">
            <a:solidFill>
              <a:srgbClr val="B8CCE4"/>
            </a:solidFill>
            <a:prstDash val="solid"/>
          </a:ln>
        </p:spPr>
        <p:txBody>
          <a:bodyPr/>
          <a:lstStyle/>
          <a:p>
            <a:endParaRPr lang="en-IN"/>
          </a:p>
        </p:txBody>
      </p:sp>
      <p:sp>
        <p:nvSpPr>
          <p:cNvPr id="17" name="Shape 15"/>
          <p:cNvSpPr/>
          <p:nvPr/>
        </p:nvSpPr>
        <p:spPr>
          <a:xfrm>
            <a:off x="6099048" y="1591056"/>
            <a:ext cx="1225296" cy="73152"/>
          </a:xfrm>
          <a:prstGeom prst="rect">
            <a:avLst/>
          </a:prstGeom>
          <a:solidFill>
            <a:srgbClr val="DCE6F1"/>
          </a:solidFill>
          <a:ln w="12700">
            <a:solidFill>
              <a:srgbClr val="DCE6F1"/>
            </a:solidFill>
            <a:prstDash val="solid"/>
          </a:ln>
        </p:spPr>
        <p:txBody>
          <a:bodyPr/>
          <a:lstStyle/>
          <a:p>
            <a:endParaRPr lang="en-IN"/>
          </a:p>
        </p:txBody>
      </p:sp>
      <p:sp>
        <p:nvSpPr>
          <p:cNvPr id="18" name="Text 16"/>
          <p:cNvSpPr/>
          <p:nvPr/>
        </p:nvSpPr>
        <p:spPr>
          <a:xfrm>
            <a:off x="5989320" y="1737360"/>
            <a:ext cx="1444752" cy="219456"/>
          </a:xfrm>
          <a:prstGeom prst="rect">
            <a:avLst/>
          </a:prstGeom>
          <a:noFill/>
          <a:ln/>
        </p:spPr>
        <p:txBody>
          <a:bodyPr wrap="square" lIns="0" tIns="0" rIns="0" bIns="0" rtlCol="0" anchor="ctr"/>
          <a:lstStyle/>
          <a:p>
            <a:pPr marL="0" indent="0" algn="ctr">
              <a:buNone/>
            </a:pPr>
            <a:r>
              <a:rPr lang="en-US" sz="1050" b="1" dirty="0">
                <a:solidFill>
                  <a:srgbClr val="4F81BD"/>
                </a:solidFill>
                <a:latin typeface="Calibri" pitchFamily="34" charset="0"/>
                <a:ea typeface="Calibri" pitchFamily="34" charset="-122"/>
                <a:cs typeface="Calibri" pitchFamily="34" charset="-120"/>
              </a:rPr>
              <a:t>4. Logistic Regression</a:t>
            </a:r>
            <a:endParaRPr lang="en-US" sz="1050" dirty="0"/>
          </a:p>
        </p:txBody>
      </p:sp>
      <p:sp>
        <p:nvSpPr>
          <p:cNvPr id="19" name="Text 17"/>
          <p:cNvSpPr/>
          <p:nvPr/>
        </p:nvSpPr>
        <p:spPr>
          <a:xfrm>
            <a:off x="6007608" y="2011680"/>
            <a:ext cx="1408176" cy="1005840"/>
          </a:xfrm>
          <a:prstGeom prst="rect">
            <a:avLst/>
          </a:prstGeom>
          <a:noFill/>
          <a:ln/>
        </p:spPr>
        <p:txBody>
          <a:bodyPr wrap="square" lIns="254" tIns="254" rIns="254" bIns="254" rtlCol="0" anchor="ctr">
            <a:normAutofit/>
          </a:bodyPr>
          <a:lstStyle/>
          <a:p>
            <a:pPr marL="0" indent="0" algn="l">
              <a:buNone/>
            </a:pPr>
            <a:r>
              <a:rPr lang="en-US" sz="920" dirty="0">
                <a:solidFill>
                  <a:srgbClr val="000000"/>
                </a:solidFill>
                <a:latin typeface="Calibri" pitchFamily="34" charset="0"/>
                <a:ea typeface="Calibri" pitchFamily="34" charset="-122"/>
                <a:cs typeface="Calibri" pitchFamily="34" charset="-120"/>
              </a:rPr>
              <a:t>C = 2.5</a:t>
            </a: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max_iter = 1500</a:t>
            </a: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class_weight = balanced</a:t>
            </a: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random_state = 42</a:t>
            </a:r>
            <a:endParaRPr lang="en-US" sz="920" dirty="0"/>
          </a:p>
        </p:txBody>
      </p:sp>
      <p:sp>
        <p:nvSpPr>
          <p:cNvPr id="20" name="Shape 18"/>
          <p:cNvSpPr/>
          <p:nvPr/>
        </p:nvSpPr>
        <p:spPr>
          <a:xfrm>
            <a:off x="2039112" y="2249424"/>
            <a:ext cx="201168" cy="0"/>
          </a:xfrm>
          <a:prstGeom prst="line">
            <a:avLst/>
          </a:prstGeom>
          <a:noFill/>
          <a:ln w="12700">
            <a:solidFill>
              <a:srgbClr val="B8CCE4"/>
            </a:solidFill>
            <a:prstDash val="solid"/>
          </a:ln>
        </p:spPr>
        <p:txBody>
          <a:bodyPr/>
          <a:lstStyle/>
          <a:p>
            <a:endParaRPr lang="en-IN"/>
          </a:p>
        </p:txBody>
      </p:sp>
      <p:sp>
        <p:nvSpPr>
          <p:cNvPr id="21" name="Shape 19"/>
          <p:cNvSpPr/>
          <p:nvPr/>
        </p:nvSpPr>
        <p:spPr>
          <a:xfrm>
            <a:off x="3931920" y="2249424"/>
            <a:ext cx="201168" cy="0"/>
          </a:xfrm>
          <a:prstGeom prst="line">
            <a:avLst/>
          </a:prstGeom>
          <a:noFill/>
          <a:ln w="12700">
            <a:solidFill>
              <a:srgbClr val="B8CCE4"/>
            </a:solidFill>
            <a:prstDash val="solid"/>
          </a:ln>
        </p:spPr>
        <p:txBody>
          <a:bodyPr/>
          <a:lstStyle/>
          <a:p>
            <a:endParaRPr lang="en-IN"/>
          </a:p>
        </p:txBody>
      </p:sp>
      <p:sp>
        <p:nvSpPr>
          <p:cNvPr id="22" name="Shape 20"/>
          <p:cNvSpPr/>
          <p:nvPr/>
        </p:nvSpPr>
        <p:spPr>
          <a:xfrm>
            <a:off x="5705856" y="2249424"/>
            <a:ext cx="192024" cy="0"/>
          </a:xfrm>
          <a:prstGeom prst="line">
            <a:avLst/>
          </a:prstGeom>
          <a:noFill/>
          <a:ln w="12700">
            <a:solidFill>
              <a:srgbClr val="B8CCE4"/>
            </a:solidFill>
            <a:prstDash val="solid"/>
          </a:ln>
        </p:spPr>
        <p:txBody>
          <a:bodyPr/>
          <a:lstStyle/>
          <a:p>
            <a:endParaRPr lang="en-IN"/>
          </a:p>
        </p:txBody>
      </p:sp>
      <p:sp>
        <p:nvSpPr>
          <p:cNvPr id="23" name="Shape 21"/>
          <p:cNvSpPr/>
          <p:nvPr/>
        </p:nvSpPr>
        <p:spPr>
          <a:xfrm>
            <a:off x="502920" y="3749040"/>
            <a:ext cx="1371600" cy="365760"/>
          </a:xfrm>
          <a:prstGeom prst="rect">
            <a:avLst/>
          </a:prstGeom>
          <a:solidFill>
            <a:srgbClr val="DCE6F1"/>
          </a:solidFill>
          <a:ln w="12700">
            <a:solidFill>
              <a:srgbClr val="B8CCE4"/>
            </a:solidFill>
            <a:prstDash val="solid"/>
          </a:ln>
        </p:spPr>
        <p:txBody>
          <a:bodyPr/>
          <a:lstStyle/>
          <a:p>
            <a:endParaRPr lang="en-IN"/>
          </a:p>
        </p:txBody>
      </p:sp>
      <p:sp>
        <p:nvSpPr>
          <p:cNvPr id="24" name="Text 22"/>
          <p:cNvSpPr/>
          <p:nvPr/>
        </p:nvSpPr>
        <p:spPr>
          <a:xfrm>
            <a:off x="548640" y="3785616"/>
            <a:ext cx="1280160" cy="292608"/>
          </a:xfrm>
          <a:prstGeom prst="rect">
            <a:avLst/>
          </a:prstGeom>
          <a:noFill/>
          <a:ln/>
        </p:spPr>
        <p:txBody>
          <a:bodyPr wrap="square" lIns="254" tIns="254" rIns="254" bIns="254" rtlCol="0" anchor="ctr">
            <a:normAutofit/>
          </a:bodyPr>
          <a:lstStyle/>
          <a:p>
            <a:pPr marL="0" indent="0" algn="ctr">
              <a:buNone/>
            </a:pPr>
            <a:r>
              <a:rPr lang="en-US" sz="960" b="1" dirty="0">
                <a:solidFill>
                  <a:srgbClr val="000000"/>
                </a:solidFill>
                <a:latin typeface="Calibri" pitchFamily="34" charset="0"/>
                <a:ea typeface="Calibri" pitchFamily="34" charset="-122"/>
                <a:cs typeface="Calibri" pitchFamily="34" charset="-120"/>
              </a:rPr>
              <a:t>Output Class</a:t>
            </a:r>
            <a:endParaRPr lang="en-US" sz="960" dirty="0"/>
          </a:p>
        </p:txBody>
      </p:sp>
      <p:sp>
        <p:nvSpPr>
          <p:cNvPr id="25" name="Shape 23"/>
          <p:cNvSpPr/>
          <p:nvPr/>
        </p:nvSpPr>
        <p:spPr>
          <a:xfrm>
            <a:off x="1874520" y="3749040"/>
            <a:ext cx="3474720" cy="365760"/>
          </a:xfrm>
          <a:prstGeom prst="rect">
            <a:avLst/>
          </a:prstGeom>
          <a:solidFill>
            <a:srgbClr val="DCE6F1"/>
          </a:solidFill>
          <a:ln w="12700">
            <a:solidFill>
              <a:srgbClr val="B8CCE4"/>
            </a:solidFill>
            <a:prstDash val="solid"/>
          </a:ln>
        </p:spPr>
        <p:txBody>
          <a:bodyPr/>
          <a:lstStyle/>
          <a:p>
            <a:endParaRPr lang="en-IN"/>
          </a:p>
        </p:txBody>
      </p:sp>
      <p:sp>
        <p:nvSpPr>
          <p:cNvPr id="26" name="Text 24"/>
          <p:cNvSpPr/>
          <p:nvPr/>
        </p:nvSpPr>
        <p:spPr>
          <a:xfrm>
            <a:off x="1920240" y="3785616"/>
            <a:ext cx="3383280" cy="292608"/>
          </a:xfrm>
          <a:prstGeom prst="rect">
            <a:avLst/>
          </a:prstGeom>
          <a:noFill/>
          <a:ln/>
        </p:spPr>
        <p:txBody>
          <a:bodyPr wrap="square" lIns="254" tIns="254" rIns="254" bIns="254" rtlCol="0" anchor="ctr">
            <a:normAutofit/>
          </a:bodyPr>
          <a:lstStyle/>
          <a:p>
            <a:pPr marL="0" indent="0" algn="ctr">
              <a:buNone/>
            </a:pPr>
            <a:r>
              <a:rPr lang="en-US" sz="960" b="1" dirty="0">
                <a:solidFill>
                  <a:srgbClr val="000000"/>
                </a:solidFill>
                <a:latin typeface="Calibri" pitchFamily="34" charset="0"/>
                <a:ea typeface="Calibri" pitchFamily="34" charset="-122"/>
                <a:cs typeface="Calibri" pitchFamily="34" charset="-120"/>
              </a:rPr>
              <a:t>What SentiLens Produces</a:t>
            </a:r>
            <a:endParaRPr lang="en-US" sz="960" dirty="0"/>
          </a:p>
        </p:txBody>
      </p:sp>
      <p:sp>
        <p:nvSpPr>
          <p:cNvPr id="27" name="Shape 25"/>
          <p:cNvSpPr/>
          <p:nvPr/>
        </p:nvSpPr>
        <p:spPr>
          <a:xfrm>
            <a:off x="5349240" y="3749040"/>
            <a:ext cx="2834640" cy="365760"/>
          </a:xfrm>
          <a:prstGeom prst="rect">
            <a:avLst/>
          </a:prstGeom>
          <a:solidFill>
            <a:srgbClr val="DCE6F1"/>
          </a:solidFill>
          <a:ln w="12700">
            <a:solidFill>
              <a:srgbClr val="B8CCE4"/>
            </a:solidFill>
            <a:prstDash val="solid"/>
          </a:ln>
        </p:spPr>
        <p:txBody>
          <a:bodyPr/>
          <a:lstStyle/>
          <a:p>
            <a:endParaRPr lang="en-IN"/>
          </a:p>
        </p:txBody>
      </p:sp>
      <p:sp>
        <p:nvSpPr>
          <p:cNvPr id="28" name="Text 26"/>
          <p:cNvSpPr/>
          <p:nvPr/>
        </p:nvSpPr>
        <p:spPr>
          <a:xfrm>
            <a:off x="5394960" y="3785616"/>
            <a:ext cx="2743200" cy="292608"/>
          </a:xfrm>
          <a:prstGeom prst="rect">
            <a:avLst/>
          </a:prstGeom>
          <a:noFill/>
          <a:ln/>
        </p:spPr>
        <p:txBody>
          <a:bodyPr wrap="square" lIns="254" tIns="254" rIns="254" bIns="254" rtlCol="0" anchor="ctr">
            <a:normAutofit/>
          </a:bodyPr>
          <a:lstStyle/>
          <a:p>
            <a:pPr marL="0" indent="0" algn="ctr">
              <a:buNone/>
            </a:pPr>
            <a:r>
              <a:rPr lang="en-US" sz="960" b="1" dirty="0">
                <a:solidFill>
                  <a:srgbClr val="000000"/>
                </a:solidFill>
                <a:latin typeface="Calibri" pitchFamily="34" charset="0"/>
                <a:ea typeface="Calibri" pitchFamily="34" charset="-122"/>
                <a:cs typeface="Calibri" pitchFamily="34" charset="-120"/>
              </a:rPr>
              <a:t>Typical Indicative Terms</a:t>
            </a:r>
            <a:endParaRPr lang="en-US" sz="960" dirty="0"/>
          </a:p>
        </p:txBody>
      </p:sp>
      <p:sp>
        <p:nvSpPr>
          <p:cNvPr id="29" name="Shape 27"/>
          <p:cNvSpPr/>
          <p:nvPr/>
        </p:nvSpPr>
        <p:spPr>
          <a:xfrm>
            <a:off x="502920" y="4114800"/>
            <a:ext cx="1371600" cy="566928"/>
          </a:xfrm>
          <a:prstGeom prst="rect">
            <a:avLst/>
          </a:prstGeom>
          <a:solidFill>
            <a:srgbClr val="F3F6FA"/>
          </a:solidFill>
          <a:ln w="12700">
            <a:solidFill>
              <a:srgbClr val="D9D9D9"/>
            </a:solidFill>
            <a:prstDash val="solid"/>
          </a:ln>
        </p:spPr>
        <p:txBody>
          <a:bodyPr/>
          <a:lstStyle/>
          <a:p>
            <a:endParaRPr lang="en-IN"/>
          </a:p>
        </p:txBody>
      </p:sp>
      <p:sp>
        <p:nvSpPr>
          <p:cNvPr id="30" name="Text 28"/>
          <p:cNvSpPr/>
          <p:nvPr/>
        </p:nvSpPr>
        <p:spPr>
          <a:xfrm>
            <a:off x="548640" y="4151376"/>
            <a:ext cx="1280160" cy="493776"/>
          </a:xfrm>
          <a:prstGeom prst="rect">
            <a:avLst/>
          </a:prstGeom>
          <a:noFill/>
          <a:ln/>
        </p:spPr>
        <p:txBody>
          <a:bodyPr wrap="square" lIns="254" tIns="254" rIns="254" bIns="254" rtlCol="0" anchor="ctr">
            <a:normAutofit/>
          </a:bodyPr>
          <a:lstStyle/>
          <a:p>
            <a:pPr marL="0" indent="0" algn="l">
              <a:buNone/>
            </a:pPr>
            <a:r>
              <a:rPr lang="en-US" sz="920" b="1" dirty="0">
                <a:solidFill>
                  <a:srgbClr val="000000"/>
                </a:solidFill>
                <a:latin typeface="Calibri" pitchFamily="34" charset="0"/>
                <a:ea typeface="Calibri" pitchFamily="34" charset="-122"/>
                <a:cs typeface="Calibri" pitchFamily="34" charset="-120"/>
              </a:rPr>
              <a:t>Negative</a:t>
            </a:r>
            <a:endParaRPr lang="en-US" sz="920" dirty="0"/>
          </a:p>
        </p:txBody>
      </p:sp>
      <p:sp>
        <p:nvSpPr>
          <p:cNvPr id="31" name="Shape 29"/>
          <p:cNvSpPr/>
          <p:nvPr/>
        </p:nvSpPr>
        <p:spPr>
          <a:xfrm>
            <a:off x="1874520" y="4114800"/>
            <a:ext cx="3474720" cy="566928"/>
          </a:xfrm>
          <a:prstGeom prst="rect">
            <a:avLst/>
          </a:prstGeom>
          <a:solidFill>
            <a:srgbClr val="FFFFFF"/>
          </a:solidFill>
          <a:ln w="12700">
            <a:solidFill>
              <a:srgbClr val="D9D9D9"/>
            </a:solidFill>
            <a:prstDash val="solid"/>
          </a:ln>
        </p:spPr>
        <p:txBody>
          <a:bodyPr/>
          <a:lstStyle/>
          <a:p>
            <a:endParaRPr lang="en-IN"/>
          </a:p>
        </p:txBody>
      </p:sp>
      <p:sp>
        <p:nvSpPr>
          <p:cNvPr id="32" name="Text 30"/>
          <p:cNvSpPr/>
          <p:nvPr/>
        </p:nvSpPr>
        <p:spPr>
          <a:xfrm>
            <a:off x="1920240" y="4151376"/>
            <a:ext cx="3383280" cy="493776"/>
          </a:xfrm>
          <a:prstGeom prst="rect">
            <a:avLst/>
          </a:prstGeom>
          <a:noFill/>
          <a:ln/>
        </p:spPr>
        <p:txBody>
          <a:bodyPr wrap="square" lIns="254" tIns="254" rIns="254" bIns="254" rtlCol="0" anchor="ctr">
            <a:normAutofit/>
          </a:bodyPr>
          <a:lstStyle/>
          <a:p>
            <a:pPr marL="0" indent="0" algn="l">
              <a:buNone/>
            </a:pPr>
            <a:r>
              <a:rPr lang="en-US" sz="910" dirty="0">
                <a:solidFill>
                  <a:srgbClr val="000000"/>
                </a:solidFill>
                <a:latin typeface="Calibri" pitchFamily="34" charset="0"/>
                <a:ea typeface="Calibri" pitchFamily="34" charset="-122"/>
                <a:cs typeface="Calibri" pitchFamily="34" charset="-120"/>
              </a:rPr>
              <a:t>Probability that the review expresses dissatisfaction</a:t>
            </a:r>
            <a:endParaRPr lang="en-US" sz="910" dirty="0"/>
          </a:p>
        </p:txBody>
      </p:sp>
      <p:sp>
        <p:nvSpPr>
          <p:cNvPr id="33" name="Shape 31"/>
          <p:cNvSpPr/>
          <p:nvPr/>
        </p:nvSpPr>
        <p:spPr>
          <a:xfrm>
            <a:off x="5349240" y="4114800"/>
            <a:ext cx="2834640" cy="566928"/>
          </a:xfrm>
          <a:prstGeom prst="rect">
            <a:avLst/>
          </a:prstGeom>
          <a:solidFill>
            <a:srgbClr val="FFFFFF"/>
          </a:solidFill>
          <a:ln w="12700">
            <a:solidFill>
              <a:srgbClr val="D9D9D9"/>
            </a:solidFill>
            <a:prstDash val="solid"/>
          </a:ln>
        </p:spPr>
        <p:txBody>
          <a:bodyPr/>
          <a:lstStyle/>
          <a:p>
            <a:endParaRPr lang="en-IN"/>
          </a:p>
        </p:txBody>
      </p:sp>
      <p:sp>
        <p:nvSpPr>
          <p:cNvPr id="34" name="Text 32"/>
          <p:cNvSpPr/>
          <p:nvPr/>
        </p:nvSpPr>
        <p:spPr>
          <a:xfrm>
            <a:off x="5394960" y="4151376"/>
            <a:ext cx="2743200" cy="493776"/>
          </a:xfrm>
          <a:prstGeom prst="rect">
            <a:avLst/>
          </a:prstGeom>
          <a:noFill/>
          <a:ln/>
        </p:spPr>
        <p:txBody>
          <a:bodyPr wrap="square" lIns="254" tIns="254" rIns="254" bIns="254" rtlCol="0" anchor="ctr">
            <a:normAutofit/>
          </a:bodyPr>
          <a:lstStyle/>
          <a:p>
            <a:pPr marL="0" indent="0" algn="l">
              <a:buNone/>
            </a:pPr>
            <a:r>
              <a:rPr lang="en-US" sz="900" dirty="0">
                <a:solidFill>
                  <a:srgbClr val="000000"/>
                </a:solidFill>
                <a:latin typeface="Calibri" pitchFamily="34" charset="0"/>
                <a:ea typeface="Calibri" pitchFamily="34" charset="-122"/>
                <a:cs typeface="Calibri" pitchFamily="34" charset="-120"/>
              </a:rPr>
              <a:t>worst, fraud, bad, horrible, support, order</a:t>
            </a:r>
            <a:endParaRPr lang="en-US" sz="900" dirty="0"/>
          </a:p>
        </p:txBody>
      </p:sp>
      <p:sp>
        <p:nvSpPr>
          <p:cNvPr id="35" name="Shape 33"/>
          <p:cNvSpPr/>
          <p:nvPr/>
        </p:nvSpPr>
        <p:spPr>
          <a:xfrm>
            <a:off x="502920" y="4681728"/>
            <a:ext cx="1371600" cy="566928"/>
          </a:xfrm>
          <a:prstGeom prst="rect">
            <a:avLst/>
          </a:prstGeom>
          <a:solidFill>
            <a:srgbClr val="F3F6FA"/>
          </a:solidFill>
          <a:ln w="12700">
            <a:solidFill>
              <a:srgbClr val="D9D9D9"/>
            </a:solidFill>
            <a:prstDash val="solid"/>
          </a:ln>
        </p:spPr>
        <p:txBody>
          <a:bodyPr/>
          <a:lstStyle/>
          <a:p>
            <a:endParaRPr lang="en-IN"/>
          </a:p>
        </p:txBody>
      </p:sp>
      <p:sp>
        <p:nvSpPr>
          <p:cNvPr id="36" name="Text 34"/>
          <p:cNvSpPr/>
          <p:nvPr/>
        </p:nvSpPr>
        <p:spPr>
          <a:xfrm>
            <a:off x="548640" y="4718304"/>
            <a:ext cx="1280160" cy="493776"/>
          </a:xfrm>
          <a:prstGeom prst="rect">
            <a:avLst/>
          </a:prstGeom>
          <a:noFill/>
          <a:ln/>
        </p:spPr>
        <p:txBody>
          <a:bodyPr wrap="square" lIns="254" tIns="254" rIns="254" bIns="254" rtlCol="0" anchor="ctr">
            <a:normAutofit/>
          </a:bodyPr>
          <a:lstStyle/>
          <a:p>
            <a:pPr marL="0" indent="0" algn="l">
              <a:buNone/>
            </a:pPr>
            <a:r>
              <a:rPr lang="en-US" sz="920" b="1" dirty="0">
                <a:solidFill>
                  <a:srgbClr val="000000"/>
                </a:solidFill>
                <a:latin typeface="Calibri" pitchFamily="34" charset="0"/>
                <a:ea typeface="Calibri" pitchFamily="34" charset="-122"/>
                <a:cs typeface="Calibri" pitchFamily="34" charset="-120"/>
              </a:rPr>
              <a:t>Neutral</a:t>
            </a:r>
            <a:endParaRPr lang="en-US" sz="920" dirty="0"/>
          </a:p>
        </p:txBody>
      </p:sp>
      <p:sp>
        <p:nvSpPr>
          <p:cNvPr id="37" name="Shape 35"/>
          <p:cNvSpPr/>
          <p:nvPr/>
        </p:nvSpPr>
        <p:spPr>
          <a:xfrm>
            <a:off x="1874520" y="4681728"/>
            <a:ext cx="3474720" cy="566928"/>
          </a:xfrm>
          <a:prstGeom prst="rect">
            <a:avLst/>
          </a:prstGeom>
          <a:solidFill>
            <a:srgbClr val="FFFFFF"/>
          </a:solidFill>
          <a:ln w="12700">
            <a:solidFill>
              <a:srgbClr val="D9D9D9"/>
            </a:solidFill>
            <a:prstDash val="solid"/>
          </a:ln>
        </p:spPr>
        <p:txBody>
          <a:bodyPr/>
          <a:lstStyle/>
          <a:p>
            <a:endParaRPr lang="en-IN"/>
          </a:p>
        </p:txBody>
      </p:sp>
      <p:sp>
        <p:nvSpPr>
          <p:cNvPr id="38" name="Text 36"/>
          <p:cNvSpPr/>
          <p:nvPr/>
        </p:nvSpPr>
        <p:spPr>
          <a:xfrm>
            <a:off x="1920240" y="4718304"/>
            <a:ext cx="3383280" cy="493776"/>
          </a:xfrm>
          <a:prstGeom prst="rect">
            <a:avLst/>
          </a:prstGeom>
          <a:noFill/>
          <a:ln/>
        </p:spPr>
        <p:txBody>
          <a:bodyPr wrap="square" lIns="254" tIns="254" rIns="254" bIns="254" rtlCol="0" anchor="ctr">
            <a:normAutofit/>
          </a:bodyPr>
          <a:lstStyle/>
          <a:p>
            <a:pPr marL="0" indent="0" algn="l">
              <a:buNone/>
            </a:pPr>
            <a:r>
              <a:rPr lang="en-US" sz="910" dirty="0">
                <a:solidFill>
                  <a:srgbClr val="000000"/>
                </a:solidFill>
                <a:latin typeface="Calibri" pitchFamily="34" charset="0"/>
                <a:ea typeface="Calibri" pitchFamily="34" charset="-122"/>
                <a:cs typeface="Calibri" pitchFamily="34" charset="-120"/>
              </a:rPr>
              <a:t>Probability that the review shows mixed or balanced opinion</a:t>
            </a:r>
            <a:endParaRPr lang="en-US" sz="910" dirty="0"/>
          </a:p>
        </p:txBody>
      </p:sp>
      <p:sp>
        <p:nvSpPr>
          <p:cNvPr id="39" name="Shape 37"/>
          <p:cNvSpPr/>
          <p:nvPr/>
        </p:nvSpPr>
        <p:spPr>
          <a:xfrm>
            <a:off x="5349240" y="4681728"/>
            <a:ext cx="2834640" cy="566928"/>
          </a:xfrm>
          <a:prstGeom prst="rect">
            <a:avLst/>
          </a:prstGeom>
          <a:solidFill>
            <a:srgbClr val="FFFFFF"/>
          </a:solidFill>
          <a:ln w="12700">
            <a:solidFill>
              <a:srgbClr val="D9D9D9"/>
            </a:solidFill>
            <a:prstDash val="solid"/>
          </a:ln>
        </p:spPr>
        <p:txBody>
          <a:bodyPr/>
          <a:lstStyle/>
          <a:p>
            <a:endParaRPr lang="en-IN"/>
          </a:p>
        </p:txBody>
      </p:sp>
      <p:sp>
        <p:nvSpPr>
          <p:cNvPr id="40" name="Text 38"/>
          <p:cNvSpPr/>
          <p:nvPr/>
        </p:nvSpPr>
        <p:spPr>
          <a:xfrm>
            <a:off x="5394960" y="4718304"/>
            <a:ext cx="2743200" cy="493776"/>
          </a:xfrm>
          <a:prstGeom prst="rect">
            <a:avLst/>
          </a:prstGeom>
          <a:noFill/>
          <a:ln/>
        </p:spPr>
        <p:txBody>
          <a:bodyPr wrap="square" lIns="254" tIns="254" rIns="254" bIns="254" rtlCol="0" anchor="ctr">
            <a:normAutofit/>
          </a:bodyPr>
          <a:lstStyle/>
          <a:p>
            <a:pPr marL="0" indent="0" algn="l">
              <a:buNone/>
            </a:pPr>
            <a:r>
              <a:rPr lang="en-US" sz="900" dirty="0">
                <a:solidFill>
                  <a:srgbClr val="000000"/>
                </a:solidFill>
                <a:latin typeface="Calibri" pitchFamily="34" charset="0"/>
                <a:ea typeface="Calibri" pitchFamily="34" charset="-122"/>
                <a:cs typeface="Calibri" pitchFamily="34" charset="-120"/>
              </a:rPr>
              <a:t>stars, but, late delivery, was not, good</a:t>
            </a:r>
            <a:endParaRPr lang="en-US" sz="900" dirty="0"/>
          </a:p>
        </p:txBody>
      </p:sp>
      <p:sp>
        <p:nvSpPr>
          <p:cNvPr id="41" name="Shape 39"/>
          <p:cNvSpPr/>
          <p:nvPr/>
        </p:nvSpPr>
        <p:spPr>
          <a:xfrm>
            <a:off x="502920" y="5248656"/>
            <a:ext cx="1371600" cy="566928"/>
          </a:xfrm>
          <a:prstGeom prst="rect">
            <a:avLst/>
          </a:prstGeom>
          <a:solidFill>
            <a:srgbClr val="F3F6FA"/>
          </a:solidFill>
          <a:ln w="12700">
            <a:solidFill>
              <a:srgbClr val="D9D9D9"/>
            </a:solidFill>
            <a:prstDash val="solid"/>
          </a:ln>
        </p:spPr>
        <p:txBody>
          <a:bodyPr/>
          <a:lstStyle/>
          <a:p>
            <a:endParaRPr lang="en-IN"/>
          </a:p>
        </p:txBody>
      </p:sp>
      <p:sp>
        <p:nvSpPr>
          <p:cNvPr id="42" name="Text 40"/>
          <p:cNvSpPr/>
          <p:nvPr/>
        </p:nvSpPr>
        <p:spPr>
          <a:xfrm>
            <a:off x="548640" y="5285232"/>
            <a:ext cx="1280160" cy="493776"/>
          </a:xfrm>
          <a:prstGeom prst="rect">
            <a:avLst/>
          </a:prstGeom>
          <a:noFill/>
          <a:ln/>
        </p:spPr>
        <p:txBody>
          <a:bodyPr wrap="square" lIns="254" tIns="254" rIns="254" bIns="254" rtlCol="0" anchor="ctr">
            <a:normAutofit/>
          </a:bodyPr>
          <a:lstStyle/>
          <a:p>
            <a:pPr marL="0" indent="0" algn="l">
              <a:buNone/>
            </a:pPr>
            <a:r>
              <a:rPr lang="en-US" sz="920" b="1" dirty="0">
                <a:solidFill>
                  <a:srgbClr val="000000"/>
                </a:solidFill>
                <a:latin typeface="Calibri" pitchFamily="34" charset="0"/>
                <a:ea typeface="Calibri" pitchFamily="34" charset="-122"/>
                <a:cs typeface="Calibri" pitchFamily="34" charset="-120"/>
              </a:rPr>
              <a:t>Positive</a:t>
            </a:r>
            <a:endParaRPr lang="en-US" sz="920" dirty="0"/>
          </a:p>
        </p:txBody>
      </p:sp>
      <p:sp>
        <p:nvSpPr>
          <p:cNvPr id="43" name="Shape 41"/>
          <p:cNvSpPr/>
          <p:nvPr/>
        </p:nvSpPr>
        <p:spPr>
          <a:xfrm>
            <a:off x="1874520" y="5248656"/>
            <a:ext cx="3474720" cy="566928"/>
          </a:xfrm>
          <a:prstGeom prst="rect">
            <a:avLst/>
          </a:prstGeom>
          <a:solidFill>
            <a:srgbClr val="FFFFFF"/>
          </a:solidFill>
          <a:ln w="12700">
            <a:solidFill>
              <a:srgbClr val="D9D9D9"/>
            </a:solidFill>
            <a:prstDash val="solid"/>
          </a:ln>
        </p:spPr>
        <p:txBody>
          <a:bodyPr/>
          <a:lstStyle/>
          <a:p>
            <a:endParaRPr lang="en-IN"/>
          </a:p>
        </p:txBody>
      </p:sp>
      <p:sp>
        <p:nvSpPr>
          <p:cNvPr id="44" name="Text 42"/>
          <p:cNvSpPr/>
          <p:nvPr/>
        </p:nvSpPr>
        <p:spPr>
          <a:xfrm>
            <a:off x="1920240" y="5285232"/>
            <a:ext cx="3383280" cy="493776"/>
          </a:xfrm>
          <a:prstGeom prst="rect">
            <a:avLst/>
          </a:prstGeom>
          <a:noFill/>
          <a:ln/>
        </p:spPr>
        <p:txBody>
          <a:bodyPr wrap="square" lIns="254" tIns="254" rIns="254" bIns="254" rtlCol="0" anchor="ctr">
            <a:normAutofit/>
          </a:bodyPr>
          <a:lstStyle/>
          <a:p>
            <a:pPr marL="0" indent="0" algn="l">
              <a:buNone/>
            </a:pPr>
            <a:r>
              <a:rPr lang="en-US" sz="910" dirty="0">
                <a:solidFill>
                  <a:srgbClr val="000000"/>
                </a:solidFill>
                <a:latin typeface="Calibri" pitchFamily="34" charset="0"/>
                <a:ea typeface="Calibri" pitchFamily="34" charset="-122"/>
                <a:cs typeface="Calibri" pitchFamily="34" charset="-120"/>
              </a:rPr>
              <a:t>Probability that the review expresses satisfaction</a:t>
            </a:r>
            <a:endParaRPr lang="en-US" sz="910" dirty="0"/>
          </a:p>
        </p:txBody>
      </p:sp>
      <p:sp>
        <p:nvSpPr>
          <p:cNvPr id="45" name="Shape 43"/>
          <p:cNvSpPr/>
          <p:nvPr/>
        </p:nvSpPr>
        <p:spPr>
          <a:xfrm>
            <a:off x="5349240" y="5248656"/>
            <a:ext cx="2834640" cy="566928"/>
          </a:xfrm>
          <a:prstGeom prst="rect">
            <a:avLst/>
          </a:prstGeom>
          <a:solidFill>
            <a:srgbClr val="FFFFFF"/>
          </a:solidFill>
          <a:ln w="12700">
            <a:solidFill>
              <a:srgbClr val="D9D9D9"/>
            </a:solidFill>
            <a:prstDash val="solid"/>
          </a:ln>
        </p:spPr>
        <p:txBody>
          <a:bodyPr/>
          <a:lstStyle/>
          <a:p>
            <a:endParaRPr lang="en-IN"/>
          </a:p>
        </p:txBody>
      </p:sp>
      <p:sp>
        <p:nvSpPr>
          <p:cNvPr id="46" name="Text 44"/>
          <p:cNvSpPr/>
          <p:nvPr/>
        </p:nvSpPr>
        <p:spPr>
          <a:xfrm>
            <a:off x="5394960" y="5285232"/>
            <a:ext cx="2743200" cy="493776"/>
          </a:xfrm>
          <a:prstGeom prst="rect">
            <a:avLst/>
          </a:prstGeom>
          <a:noFill/>
          <a:ln/>
        </p:spPr>
        <p:txBody>
          <a:bodyPr wrap="square" lIns="254" tIns="254" rIns="254" bIns="254" rtlCol="0" anchor="ctr">
            <a:normAutofit/>
          </a:bodyPr>
          <a:lstStyle/>
          <a:p>
            <a:pPr marL="0" indent="0" algn="l">
              <a:buNone/>
            </a:pPr>
            <a:r>
              <a:rPr lang="en-US" sz="900" dirty="0">
                <a:solidFill>
                  <a:srgbClr val="000000"/>
                </a:solidFill>
                <a:latin typeface="Calibri" pitchFamily="34" charset="0"/>
                <a:ea typeface="Calibri" pitchFamily="34" charset="-122"/>
                <a:cs typeface="Calibri" pitchFamily="34" charset="-120"/>
              </a:rPr>
              <a:t>great, best, amazing, quick and easy, thanks</a:t>
            </a:r>
            <a:endParaRPr lang="en-US" sz="900" dirty="0"/>
          </a:p>
        </p:txBody>
      </p:sp>
      <p:sp>
        <p:nvSpPr>
          <p:cNvPr id="47" name="Shape 45"/>
          <p:cNvSpPr/>
          <p:nvPr/>
        </p:nvSpPr>
        <p:spPr>
          <a:xfrm>
            <a:off x="5394960" y="3310128"/>
            <a:ext cx="2697480" cy="256032"/>
          </a:xfrm>
          <a:prstGeom prst="rect">
            <a:avLst/>
          </a:prstGeom>
          <a:solidFill>
            <a:srgbClr val="F7F7F7"/>
          </a:solidFill>
          <a:ln w="12700">
            <a:solidFill>
              <a:srgbClr val="D9D9D9"/>
            </a:solidFill>
            <a:prstDash val="solid"/>
          </a:ln>
        </p:spPr>
        <p:txBody>
          <a:bodyPr/>
          <a:lstStyle/>
          <a:p>
            <a:endParaRPr lang="en-IN"/>
          </a:p>
        </p:txBody>
      </p:sp>
      <p:sp>
        <p:nvSpPr>
          <p:cNvPr id="48" name="Text 46"/>
          <p:cNvSpPr/>
          <p:nvPr/>
        </p:nvSpPr>
        <p:spPr>
          <a:xfrm>
            <a:off x="5486400" y="3374136"/>
            <a:ext cx="2514600" cy="109728"/>
          </a:xfrm>
          <a:prstGeom prst="rect">
            <a:avLst/>
          </a:prstGeom>
          <a:noFill/>
          <a:ln/>
        </p:spPr>
        <p:txBody>
          <a:bodyPr wrap="square" lIns="0" tIns="0" rIns="0" bIns="0" rtlCol="0" anchor="ctr">
            <a:normAutofit fontScale="85000" lnSpcReduction="10000"/>
          </a:bodyPr>
          <a:lstStyle/>
          <a:p>
            <a:pPr marL="0" indent="0" algn="ctr">
              <a:buNone/>
            </a:pPr>
            <a:r>
              <a:rPr lang="en-US" sz="920" b="1" dirty="0">
                <a:solidFill>
                  <a:srgbClr val="4F81BD"/>
                </a:solidFill>
                <a:latin typeface="Calibri" pitchFamily="34" charset="0"/>
                <a:ea typeface="Calibri" pitchFamily="34" charset="-122"/>
                <a:cs typeface="Calibri" pitchFamily="34" charset="-120"/>
              </a:rPr>
              <a:t>SentiLens result: 90.17% accuracy | 90.40% weighted F1</a:t>
            </a:r>
            <a:endParaRPr lang="en-US" sz="920" dirty="0"/>
          </a:p>
        </p:txBody>
      </p:sp>
      <p:sp>
        <p:nvSpPr>
          <p:cNvPr id="49" name="Text 47"/>
          <p:cNvSpPr/>
          <p:nvPr/>
        </p:nvSpPr>
        <p:spPr>
          <a:xfrm>
            <a:off x="2971800" y="6217920"/>
            <a:ext cx="3200400" cy="201168"/>
          </a:xfrm>
          <a:prstGeom prst="rect">
            <a:avLst/>
          </a:prstGeom>
          <a:noFill/>
          <a:ln/>
        </p:spPr>
        <p:txBody>
          <a:bodyPr wrap="square" lIns="0" tIns="0" rIns="0" bIns="0" rtlCol="0" anchor="ctr"/>
          <a:lstStyle/>
          <a:p>
            <a:pPr marL="0" indent="0" algn="ctr">
              <a:buNone/>
            </a:pPr>
            <a:r>
              <a:rPr lang="en-US" sz="1000" dirty="0">
                <a:solidFill>
                  <a:srgbClr val="4F81BD"/>
                </a:solidFill>
                <a:latin typeface="Calibri" pitchFamily="34" charset="0"/>
                <a:ea typeface="Calibri" pitchFamily="34" charset="-122"/>
                <a:cs typeface="Calibri" pitchFamily="34" charset="-120"/>
              </a:rPr>
              <a:t>VIT ONLINE MBA</a:t>
            </a:r>
            <a:endParaRPr lang="en-US" sz="1000" dirty="0"/>
          </a:p>
        </p:txBody>
      </p:sp>
      <p:sp>
        <p:nvSpPr>
          <p:cNvPr id="50" name="Text 48"/>
          <p:cNvSpPr/>
          <p:nvPr/>
        </p:nvSpPr>
        <p:spPr>
          <a:xfrm>
            <a:off x="164592" y="6419088"/>
            <a:ext cx="731520" cy="146304"/>
          </a:xfrm>
          <a:prstGeom prst="rect">
            <a:avLst/>
          </a:prstGeom>
          <a:noFill/>
          <a:ln/>
        </p:spPr>
        <p:txBody>
          <a:bodyPr wrap="square" lIns="0" tIns="0" rIns="0" bIns="0" rtlCol="0" anchor="ctr"/>
          <a:lstStyle/>
          <a:p>
            <a:pPr marL="0" indent="0">
              <a:buNone/>
            </a:pPr>
            <a:r>
              <a:rPr lang="en-US" sz="550" dirty="0">
                <a:solidFill>
                  <a:srgbClr val="666666"/>
                </a:solidFill>
                <a:latin typeface="Calibri" pitchFamily="34" charset="0"/>
                <a:ea typeface="Calibri" pitchFamily="34" charset="-122"/>
                <a:cs typeface="Calibri" pitchFamily="34" charset="-120"/>
              </a:rPr>
              <a:t>Slide 06</a:t>
            </a:r>
            <a:endParaRPr lang="en-US" sz="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SentiLens Example Prediction</a:t>
            </a:r>
            <a:endParaRPr lang="en-US" sz="2400" dirty="0"/>
          </a:p>
        </p:txBody>
      </p:sp>
      <p:sp>
        <p:nvSpPr>
          <p:cNvPr id="3" name="Shape 1"/>
          <p:cNvSpPr/>
          <p:nvPr/>
        </p:nvSpPr>
        <p:spPr>
          <a:xfrm>
            <a:off x="502920" y="1207008"/>
            <a:ext cx="7635240" cy="384048"/>
          </a:xfrm>
          <a:prstGeom prst="rect">
            <a:avLst/>
          </a:prstGeom>
          <a:solidFill>
            <a:srgbClr val="DCE6F1"/>
          </a:solidFill>
          <a:ln w="12700">
            <a:solidFill>
              <a:srgbClr val="B8CCE4"/>
            </a:solidFill>
            <a:prstDash val="solid"/>
          </a:ln>
        </p:spPr>
        <p:txBody>
          <a:bodyPr/>
          <a:lstStyle/>
          <a:p>
            <a:endParaRPr lang="en-IN"/>
          </a:p>
        </p:txBody>
      </p:sp>
      <p:sp>
        <p:nvSpPr>
          <p:cNvPr id="4" name="Text 2"/>
          <p:cNvSpPr/>
          <p:nvPr/>
        </p:nvSpPr>
        <p:spPr>
          <a:xfrm>
            <a:off x="548640" y="1243584"/>
            <a:ext cx="7543800" cy="310896"/>
          </a:xfrm>
          <a:prstGeom prst="rect">
            <a:avLst/>
          </a:prstGeom>
          <a:noFill/>
          <a:ln/>
        </p:spPr>
        <p:txBody>
          <a:bodyPr wrap="square" lIns="254" tIns="254" rIns="254" bIns="254" rtlCol="0" anchor="ctr">
            <a:normAutofit/>
          </a:bodyPr>
          <a:lstStyle/>
          <a:p>
            <a:pPr marL="0" indent="0" algn="ctr">
              <a:buNone/>
            </a:pPr>
            <a:r>
              <a:rPr lang="en-US" sz="1000" b="1" dirty="0">
                <a:solidFill>
                  <a:srgbClr val="000000"/>
                </a:solidFill>
                <a:latin typeface="Calibri" pitchFamily="34" charset="0"/>
                <a:ea typeface="Calibri" pitchFamily="34" charset="-122"/>
                <a:cs typeface="Calibri" pitchFamily="34" charset="-120"/>
              </a:rPr>
              <a:t>Input Review</a:t>
            </a:r>
            <a:endParaRPr lang="en-US" sz="1000" dirty="0"/>
          </a:p>
        </p:txBody>
      </p:sp>
      <p:sp>
        <p:nvSpPr>
          <p:cNvPr id="5" name="Shape 3"/>
          <p:cNvSpPr/>
          <p:nvPr/>
        </p:nvSpPr>
        <p:spPr>
          <a:xfrm>
            <a:off x="502920" y="1591056"/>
            <a:ext cx="7635240" cy="822960"/>
          </a:xfrm>
          <a:prstGeom prst="rect">
            <a:avLst/>
          </a:prstGeom>
          <a:solidFill>
            <a:srgbClr val="FFFFFF"/>
          </a:solidFill>
          <a:ln w="12700">
            <a:solidFill>
              <a:srgbClr val="D9D9D9"/>
            </a:solidFill>
            <a:prstDash val="solid"/>
          </a:ln>
        </p:spPr>
        <p:txBody>
          <a:bodyPr/>
          <a:lstStyle/>
          <a:p>
            <a:endParaRPr lang="en-IN"/>
          </a:p>
        </p:txBody>
      </p:sp>
      <p:sp>
        <p:nvSpPr>
          <p:cNvPr id="6" name="Text 4"/>
          <p:cNvSpPr/>
          <p:nvPr/>
        </p:nvSpPr>
        <p:spPr>
          <a:xfrm>
            <a:off x="548640" y="1627632"/>
            <a:ext cx="7543800" cy="749808"/>
          </a:xfrm>
          <a:prstGeom prst="rect">
            <a:avLst/>
          </a:prstGeom>
          <a:noFill/>
          <a:ln/>
        </p:spPr>
        <p:txBody>
          <a:bodyPr wrap="square" lIns="254" tIns="254" rIns="254" bIns="254" rtlCol="0" anchor="ctr">
            <a:normAutofit/>
          </a:bodyPr>
          <a:lstStyle/>
          <a:p>
            <a:pPr marL="0" indent="0" algn="l">
              <a:buNone/>
            </a:pPr>
            <a:r>
              <a:rPr lang="en-US" sz="960" dirty="0">
                <a:solidFill>
                  <a:srgbClr val="000000"/>
                </a:solidFill>
                <a:latin typeface="Calibri" pitchFamily="34" charset="0"/>
                <a:ea typeface="Calibri" pitchFamily="34" charset="-122"/>
                <a:cs typeface="Calibri" pitchFamily="34" charset="-120"/>
              </a:rPr>
              <a:t>I ordered food and I waited for an hour and then they cancelled the order because of no delivery man very bad experience I recommend not trusting this app</a:t>
            </a:r>
            <a:endParaRPr lang="en-US" sz="960" dirty="0"/>
          </a:p>
        </p:txBody>
      </p:sp>
      <p:sp>
        <p:nvSpPr>
          <p:cNvPr id="7" name="Shape 5"/>
          <p:cNvSpPr/>
          <p:nvPr/>
        </p:nvSpPr>
        <p:spPr>
          <a:xfrm>
            <a:off x="658368" y="2697480"/>
            <a:ext cx="1874520" cy="1600200"/>
          </a:xfrm>
          <a:prstGeom prst="roundRect">
            <a:avLst>
              <a:gd name="adj" fmla="val 4571"/>
            </a:avLst>
          </a:prstGeom>
          <a:solidFill>
            <a:srgbClr val="FFFFFF"/>
          </a:solidFill>
          <a:ln w="12700">
            <a:solidFill>
              <a:srgbClr val="B8CCE4"/>
            </a:solidFill>
            <a:prstDash val="solid"/>
          </a:ln>
        </p:spPr>
        <p:txBody>
          <a:bodyPr/>
          <a:lstStyle/>
          <a:p>
            <a:endParaRPr lang="en-IN"/>
          </a:p>
        </p:txBody>
      </p:sp>
      <p:sp>
        <p:nvSpPr>
          <p:cNvPr id="8" name="Shape 6"/>
          <p:cNvSpPr/>
          <p:nvPr/>
        </p:nvSpPr>
        <p:spPr>
          <a:xfrm>
            <a:off x="859536" y="2807208"/>
            <a:ext cx="1472184" cy="73152"/>
          </a:xfrm>
          <a:prstGeom prst="rect">
            <a:avLst/>
          </a:prstGeom>
          <a:solidFill>
            <a:srgbClr val="DCE6F1"/>
          </a:solidFill>
          <a:ln w="12700">
            <a:solidFill>
              <a:srgbClr val="DCE6F1"/>
            </a:solidFill>
            <a:prstDash val="solid"/>
          </a:ln>
        </p:spPr>
        <p:txBody>
          <a:bodyPr/>
          <a:lstStyle/>
          <a:p>
            <a:endParaRPr lang="en-IN"/>
          </a:p>
        </p:txBody>
      </p:sp>
      <p:sp>
        <p:nvSpPr>
          <p:cNvPr id="9" name="Text 7"/>
          <p:cNvSpPr/>
          <p:nvPr/>
        </p:nvSpPr>
        <p:spPr>
          <a:xfrm>
            <a:off x="749808" y="2953512"/>
            <a:ext cx="1691640" cy="219456"/>
          </a:xfrm>
          <a:prstGeom prst="rect">
            <a:avLst/>
          </a:prstGeom>
          <a:noFill/>
          <a:ln/>
        </p:spPr>
        <p:txBody>
          <a:bodyPr wrap="square" lIns="0" tIns="0" rIns="0" bIns="0" rtlCol="0" anchor="ctr"/>
          <a:lstStyle/>
          <a:p>
            <a:pPr marL="0" indent="0" algn="ctr">
              <a:buNone/>
            </a:pPr>
            <a:r>
              <a:rPr lang="en-US" sz="1050" b="1" dirty="0">
                <a:solidFill>
                  <a:srgbClr val="4F81BD"/>
                </a:solidFill>
                <a:latin typeface="Calibri" pitchFamily="34" charset="0"/>
                <a:ea typeface="Calibri" pitchFamily="34" charset="-122"/>
                <a:cs typeface="Calibri" pitchFamily="34" charset="-120"/>
              </a:rPr>
              <a:t>Signal Words Captured</a:t>
            </a:r>
            <a:endParaRPr lang="en-US" sz="1050" dirty="0"/>
          </a:p>
        </p:txBody>
      </p:sp>
      <p:sp>
        <p:nvSpPr>
          <p:cNvPr id="10" name="Text 8"/>
          <p:cNvSpPr/>
          <p:nvPr/>
        </p:nvSpPr>
        <p:spPr>
          <a:xfrm>
            <a:off x="768096" y="3227832"/>
            <a:ext cx="1655064" cy="960120"/>
          </a:xfrm>
          <a:prstGeom prst="rect">
            <a:avLst/>
          </a:prstGeom>
          <a:noFill/>
          <a:ln/>
        </p:spPr>
        <p:txBody>
          <a:bodyPr wrap="square" lIns="254" tIns="254" rIns="254" bIns="254" rtlCol="0" anchor="ctr">
            <a:normAutofit/>
          </a:bodyPr>
          <a:lstStyle/>
          <a:p>
            <a:pPr marL="0" indent="0" algn="l">
              <a:buNone/>
            </a:pPr>
            <a:r>
              <a:rPr lang="en-US" sz="920" dirty="0">
                <a:solidFill>
                  <a:srgbClr val="000000"/>
                </a:solidFill>
                <a:latin typeface="Calibri" pitchFamily="34" charset="0"/>
                <a:ea typeface="Calibri" pitchFamily="34" charset="-122"/>
                <a:cs typeface="Calibri" pitchFamily="34" charset="-120"/>
              </a:rPr>
              <a:t>waited for an hour</a:t>
            </a: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cancelled the order</a:t>
            </a: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no delivery man</a:t>
            </a: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very bad experience</a:t>
            </a: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not trusting this app</a:t>
            </a:r>
            <a:endParaRPr lang="en-US" sz="920" dirty="0"/>
          </a:p>
        </p:txBody>
      </p:sp>
      <p:sp>
        <p:nvSpPr>
          <p:cNvPr id="11" name="Shape 9"/>
          <p:cNvSpPr/>
          <p:nvPr/>
        </p:nvSpPr>
        <p:spPr>
          <a:xfrm>
            <a:off x="2852928" y="2743200"/>
            <a:ext cx="1600200" cy="1389888"/>
          </a:xfrm>
          <a:prstGeom prst="roundRect">
            <a:avLst>
              <a:gd name="adj" fmla="val 5263"/>
            </a:avLst>
          </a:prstGeom>
          <a:solidFill>
            <a:srgbClr val="FFFFFF"/>
          </a:solidFill>
          <a:ln w="12700">
            <a:solidFill>
              <a:srgbClr val="B8CCE4"/>
            </a:solidFill>
            <a:prstDash val="solid"/>
          </a:ln>
        </p:spPr>
        <p:txBody>
          <a:bodyPr/>
          <a:lstStyle/>
          <a:p>
            <a:endParaRPr lang="en-IN"/>
          </a:p>
        </p:txBody>
      </p:sp>
      <p:sp>
        <p:nvSpPr>
          <p:cNvPr id="12" name="Shape 10"/>
          <p:cNvSpPr/>
          <p:nvPr/>
        </p:nvSpPr>
        <p:spPr>
          <a:xfrm>
            <a:off x="3054096" y="2852928"/>
            <a:ext cx="1197864" cy="73152"/>
          </a:xfrm>
          <a:prstGeom prst="rect">
            <a:avLst/>
          </a:prstGeom>
          <a:solidFill>
            <a:srgbClr val="DCE6F1"/>
          </a:solidFill>
          <a:ln w="12700">
            <a:solidFill>
              <a:srgbClr val="DCE6F1"/>
            </a:solidFill>
            <a:prstDash val="solid"/>
          </a:ln>
        </p:spPr>
        <p:txBody>
          <a:bodyPr/>
          <a:lstStyle/>
          <a:p>
            <a:endParaRPr lang="en-IN"/>
          </a:p>
        </p:txBody>
      </p:sp>
      <p:sp>
        <p:nvSpPr>
          <p:cNvPr id="13" name="Text 11"/>
          <p:cNvSpPr/>
          <p:nvPr/>
        </p:nvSpPr>
        <p:spPr>
          <a:xfrm>
            <a:off x="2944368" y="2999232"/>
            <a:ext cx="1417320" cy="219456"/>
          </a:xfrm>
          <a:prstGeom prst="rect">
            <a:avLst/>
          </a:prstGeom>
          <a:noFill/>
          <a:ln/>
        </p:spPr>
        <p:txBody>
          <a:bodyPr wrap="square" lIns="0" tIns="0" rIns="0" bIns="0" rtlCol="0" anchor="ctr"/>
          <a:lstStyle/>
          <a:p>
            <a:pPr marL="0" indent="0" algn="ctr">
              <a:buNone/>
            </a:pPr>
            <a:r>
              <a:rPr lang="en-US" sz="1050" b="1" dirty="0">
                <a:solidFill>
                  <a:srgbClr val="4F81BD"/>
                </a:solidFill>
                <a:latin typeface="Calibri" pitchFamily="34" charset="0"/>
                <a:ea typeface="Calibri" pitchFamily="34" charset="-122"/>
                <a:cs typeface="Calibri" pitchFamily="34" charset="-120"/>
              </a:rPr>
              <a:t>Theme Context</a:t>
            </a:r>
            <a:endParaRPr lang="en-US" sz="1050" dirty="0"/>
          </a:p>
        </p:txBody>
      </p:sp>
      <p:sp>
        <p:nvSpPr>
          <p:cNvPr id="14" name="Text 12"/>
          <p:cNvSpPr/>
          <p:nvPr/>
        </p:nvSpPr>
        <p:spPr>
          <a:xfrm>
            <a:off x="2962656" y="3273552"/>
            <a:ext cx="1380744" cy="749808"/>
          </a:xfrm>
          <a:prstGeom prst="rect">
            <a:avLst/>
          </a:prstGeom>
          <a:noFill/>
          <a:ln/>
        </p:spPr>
        <p:txBody>
          <a:bodyPr wrap="square" lIns="254" tIns="254" rIns="254" bIns="254" rtlCol="0" anchor="ctr">
            <a:normAutofit/>
          </a:bodyPr>
          <a:lstStyle/>
          <a:p>
            <a:pPr marL="0" indent="0" algn="l">
              <a:buNone/>
            </a:pPr>
            <a:r>
              <a:rPr lang="en-US" sz="920" dirty="0">
                <a:solidFill>
                  <a:srgbClr val="000000"/>
                </a:solidFill>
                <a:latin typeface="Calibri" pitchFamily="34" charset="0"/>
                <a:ea typeface="Calibri" pitchFamily="34" charset="-122"/>
                <a:cs typeface="Calibri" pitchFamily="34" charset="-120"/>
              </a:rPr>
              <a:t>Theme final:</a:t>
            </a: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refund_cancellation</a:t>
            </a:r>
            <a:endParaRPr lang="en-US" sz="920" dirty="0"/>
          </a:p>
          <a:p>
            <a:pPr marL="0" indent="0" algn="l">
              <a:buNone/>
            </a:pP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Actual label: negative</a:t>
            </a:r>
            <a:endParaRPr lang="en-US" sz="920" dirty="0"/>
          </a:p>
        </p:txBody>
      </p:sp>
      <p:sp>
        <p:nvSpPr>
          <p:cNvPr id="15" name="Shape 13"/>
          <p:cNvSpPr/>
          <p:nvPr/>
        </p:nvSpPr>
        <p:spPr>
          <a:xfrm>
            <a:off x="4736592" y="2743200"/>
            <a:ext cx="1664208" cy="1389888"/>
          </a:xfrm>
          <a:prstGeom prst="roundRect">
            <a:avLst>
              <a:gd name="adj" fmla="val 5263"/>
            </a:avLst>
          </a:prstGeom>
          <a:solidFill>
            <a:srgbClr val="FFFFFF"/>
          </a:solidFill>
          <a:ln w="12700">
            <a:solidFill>
              <a:srgbClr val="B8CCE4"/>
            </a:solidFill>
            <a:prstDash val="solid"/>
          </a:ln>
        </p:spPr>
        <p:txBody>
          <a:bodyPr/>
          <a:lstStyle/>
          <a:p>
            <a:endParaRPr lang="en-IN"/>
          </a:p>
        </p:txBody>
      </p:sp>
      <p:sp>
        <p:nvSpPr>
          <p:cNvPr id="16" name="Shape 14"/>
          <p:cNvSpPr/>
          <p:nvPr/>
        </p:nvSpPr>
        <p:spPr>
          <a:xfrm>
            <a:off x="4937760" y="2852928"/>
            <a:ext cx="1261872" cy="73152"/>
          </a:xfrm>
          <a:prstGeom prst="rect">
            <a:avLst/>
          </a:prstGeom>
          <a:solidFill>
            <a:srgbClr val="DCE6F1"/>
          </a:solidFill>
          <a:ln w="12700">
            <a:solidFill>
              <a:srgbClr val="DCE6F1"/>
            </a:solidFill>
            <a:prstDash val="solid"/>
          </a:ln>
        </p:spPr>
        <p:txBody>
          <a:bodyPr/>
          <a:lstStyle/>
          <a:p>
            <a:endParaRPr lang="en-IN"/>
          </a:p>
        </p:txBody>
      </p:sp>
      <p:sp>
        <p:nvSpPr>
          <p:cNvPr id="17" name="Text 15"/>
          <p:cNvSpPr/>
          <p:nvPr/>
        </p:nvSpPr>
        <p:spPr>
          <a:xfrm>
            <a:off x="4828032" y="2999232"/>
            <a:ext cx="1481328" cy="219456"/>
          </a:xfrm>
          <a:prstGeom prst="rect">
            <a:avLst/>
          </a:prstGeom>
          <a:noFill/>
          <a:ln/>
        </p:spPr>
        <p:txBody>
          <a:bodyPr wrap="square" lIns="0" tIns="0" rIns="0" bIns="0" rtlCol="0" anchor="ctr"/>
          <a:lstStyle/>
          <a:p>
            <a:pPr marL="0" indent="0" algn="ctr">
              <a:buNone/>
            </a:pPr>
            <a:r>
              <a:rPr lang="en-US" sz="1050" b="1" dirty="0">
                <a:solidFill>
                  <a:srgbClr val="4F81BD"/>
                </a:solidFill>
                <a:latin typeface="Calibri" pitchFamily="34" charset="0"/>
                <a:ea typeface="Calibri" pitchFamily="34" charset="-122"/>
                <a:cs typeface="Calibri" pitchFamily="34" charset="-120"/>
              </a:rPr>
              <a:t>Predicted Class</a:t>
            </a:r>
            <a:endParaRPr lang="en-US" sz="1050" dirty="0"/>
          </a:p>
        </p:txBody>
      </p:sp>
      <p:sp>
        <p:nvSpPr>
          <p:cNvPr id="18" name="Text 16"/>
          <p:cNvSpPr/>
          <p:nvPr/>
        </p:nvSpPr>
        <p:spPr>
          <a:xfrm>
            <a:off x="4846320" y="3273552"/>
            <a:ext cx="1444752" cy="749808"/>
          </a:xfrm>
          <a:prstGeom prst="rect">
            <a:avLst/>
          </a:prstGeom>
          <a:noFill/>
          <a:ln/>
        </p:spPr>
        <p:txBody>
          <a:bodyPr wrap="square" lIns="254" tIns="254" rIns="254" bIns="254" rtlCol="0" anchor="ctr">
            <a:normAutofit/>
          </a:bodyPr>
          <a:lstStyle/>
          <a:p>
            <a:pPr marL="0" indent="0" algn="l">
              <a:buNone/>
            </a:pPr>
            <a:r>
              <a:rPr lang="en-US" sz="920" dirty="0">
                <a:solidFill>
                  <a:srgbClr val="000000"/>
                </a:solidFill>
                <a:latin typeface="Calibri" pitchFamily="34" charset="0"/>
                <a:ea typeface="Calibri" pitchFamily="34" charset="-122"/>
                <a:cs typeface="Calibri" pitchFamily="34" charset="-120"/>
              </a:rPr>
              <a:t>SentiLens output:</a:t>
            </a: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NEGATIVE</a:t>
            </a:r>
            <a:endParaRPr lang="en-US" sz="920" dirty="0"/>
          </a:p>
          <a:p>
            <a:pPr marL="0" indent="0" algn="l">
              <a:buNone/>
            </a:pP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High-confidence complaint prediction</a:t>
            </a:r>
            <a:endParaRPr lang="en-US" sz="920" dirty="0"/>
          </a:p>
        </p:txBody>
      </p:sp>
      <p:sp>
        <p:nvSpPr>
          <p:cNvPr id="19" name="Shape 17"/>
          <p:cNvSpPr/>
          <p:nvPr/>
        </p:nvSpPr>
        <p:spPr>
          <a:xfrm>
            <a:off x="6583680" y="2743200"/>
            <a:ext cx="1234440" cy="1234440"/>
          </a:xfrm>
          <a:prstGeom prst="roundRect">
            <a:avLst>
              <a:gd name="adj" fmla="val 5926"/>
            </a:avLst>
          </a:prstGeom>
          <a:solidFill>
            <a:srgbClr val="FFFFFF"/>
          </a:solidFill>
          <a:ln w="12700">
            <a:solidFill>
              <a:srgbClr val="B8CCE4"/>
            </a:solidFill>
            <a:prstDash val="solid"/>
          </a:ln>
        </p:spPr>
        <p:txBody>
          <a:bodyPr/>
          <a:lstStyle/>
          <a:p>
            <a:endParaRPr lang="en-IN"/>
          </a:p>
        </p:txBody>
      </p:sp>
      <p:sp>
        <p:nvSpPr>
          <p:cNvPr id="20" name="Shape 18"/>
          <p:cNvSpPr/>
          <p:nvPr/>
        </p:nvSpPr>
        <p:spPr>
          <a:xfrm>
            <a:off x="6784848" y="2852928"/>
            <a:ext cx="832104" cy="73152"/>
          </a:xfrm>
          <a:prstGeom prst="rect">
            <a:avLst/>
          </a:prstGeom>
          <a:solidFill>
            <a:srgbClr val="DCE6F1"/>
          </a:solidFill>
          <a:ln w="12700">
            <a:solidFill>
              <a:srgbClr val="DCE6F1"/>
            </a:solidFill>
            <a:prstDash val="solid"/>
          </a:ln>
        </p:spPr>
        <p:txBody>
          <a:bodyPr/>
          <a:lstStyle/>
          <a:p>
            <a:endParaRPr lang="en-IN"/>
          </a:p>
        </p:txBody>
      </p:sp>
      <p:sp>
        <p:nvSpPr>
          <p:cNvPr id="21" name="Text 19"/>
          <p:cNvSpPr/>
          <p:nvPr/>
        </p:nvSpPr>
        <p:spPr>
          <a:xfrm>
            <a:off x="6675120" y="2999232"/>
            <a:ext cx="1051560" cy="219456"/>
          </a:xfrm>
          <a:prstGeom prst="rect">
            <a:avLst/>
          </a:prstGeom>
          <a:noFill/>
          <a:ln/>
        </p:spPr>
        <p:txBody>
          <a:bodyPr wrap="square" lIns="0" tIns="0" rIns="0" bIns="0" rtlCol="0" anchor="ctr"/>
          <a:lstStyle/>
          <a:p>
            <a:pPr marL="0" indent="0" algn="ctr">
              <a:buNone/>
            </a:pPr>
            <a:r>
              <a:rPr lang="en-US" sz="1050" b="1" dirty="0">
                <a:solidFill>
                  <a:srgbClr val="4F81BD"/>
                </a:solidFill>
                <a:latin typeface="Calibri" pitchFamily="34" charset="0"/>
                <a:ea typeface="Calibri" pitchFamily="34" charset="-122"/>
                <a:cs typeface="Calibri" pitchFamily="34" charset="-120"/>
              </a:rPr>
              <a:t>Probability Scores</a:t>
            </a:r>
            <a:endParaRPr lang="en-US" sz="1050" dirty="0"/>
          </a:p>
        </p:txBody>
      </p:sp>
      <p:sp>
        <p:nvSpPr>
          <p:cNvPr id="22" name="Text 20"/>
          <p:cNvSpPr/>
          <p:nvPr/>
        </p:nvSpPr>
        <p:spPr>
          <a:xfrm>
            <a:off x="6693408" y="3273552"/>
            <a:ext cx="1014984" cy="594360"/>
          </a:xfrm>
          <a:prstGeom prst="rect">
            <a:avLst/>
          </a:prstGeom>
          <a:noFill/>
          <a:ln/>
        </p:spPr>
        <p:txBody>
          <a:bodyPr wrap="square" lIns="254" tIns="254" rIns="254" bIns="254" rtlCol="0" anchor="ctr">
            <a:normAutofit/>
          </a:bodyPr>
          <a:lstStyle/>
          <a:p>
            <a:pPr marL="0" indent="0" algn="l">
              <a:buNone/>
            </a:pPr>
            <a:r>
              <a:rPr lang="en-US" sz="920" dirty="0">
                <a:solidFill>
                  <a:srgbClr val="000000"/>
                </a:solidFill>
                <a:latin typeface="Calibri" pitchFamily="34" charset="0"/>
                <a:ea typeface="Calibri" pitchFamily="34" charset="-122"/>
                <a:cs typeface="Calibri" pitchFamily="34" charset="-120"/>
              </a:rPr>
              <a:t>Negative: 99.31%</a:t>
            </a: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Neutral: 0.11%</a:t>
            </a:r>
            <a:endParaRPr lang="en-US" sz="920" dirty="0"/>
          </a:p>
          <a:p>
            <a:pPr marL="0" indent="0" algn="l">
              <a:buNone/>
            </a:pPr>
            <a:r>
              <a:rPr lang="en-US" sz="920" dirty="0">
                <a:solidFill>
                  <a:srgbClr val="000000"/>
                </a:solidFill>
                <a:latin typeface="Calibri" pitchFamily="34" charset="0"/>
                <a:ea typeface="Calibri" pitchFamily="34" charset="-122"/>
                <a:cs typeface="Calibri" pitchFamily="34" charset="-120"/>
              </a:rPr>
              <a:t>Positive: 0.58%</a:t>
            </a:r>
            <a:endParaRPr lang="en-US" sz="920" dirty="0"/>
          </a:p>
        </p:txBody>
      </p:sp>
      <p:sp>
        <p:nvSpPr>
          <p:cNvPr id="23" name="Shape 21"/>
          <p:cNvSpPr/>
          <p:nvPr/>
        </p:nvSpPr>
        <p:spPr>
          <a:xfrm>
            <a:off x="502920" y="4572000"/>
            <a:ext cx="2240280" cy="365760"/>
          </a:xfrm>
          <a:prstGeom prst="rect">
            <a:avLst/>
          </a:prstGeom>
          <a:solidFill>
            <a:srgbClr val="DCE6F1"/>
          </a:solidFill>
          <a:ln w="12700">
            <a:solidFill>
              <a:srgbClr val="B8CCE4"/>
            </a:solidFill>
            <a:prstDash val="solid"/>
          </a:ln>
        </p:spPr>
        <p:txBody>
          <a:bodyPr/>
          <a:lstStyle/>
          <a:p>
            <a:endParaRPr lang="en-IN"/>
          </a:p>
        </p:txBody>
      </p:sp>
      <p:sp>
        <p:nvSpPr>
          <p:cNvPr id="24" name="Text 22"/>
          <p:cNvSpPr/>
          <p:nvPr/>
        </p:nvSpPr>
        <p:spPr>
          <a:xfrm>
            <a:off x="548640" y="4608576"/>
            <a:ext cx="2148840" cy="292608"/>
          </a:xfrm>
          <a:prstGeom prst="rect">
            <a:avLst/>
          </a:prstGeom>
          <a:noFill/>
          <a:ln/>
        </p:spPr>
        <p:txBody>
          <a:bodyPr wrap="square" lIns="254" tIns="254" rIns="254" bIns="254" rtlCol="0" anchor="ctr">
            <a:normAutofit/>
          </a:bodyPr>
          <a:lstStyle/>
          <a:p>
            <a:pPr marL="0" indent="0" algn="ctr">
              <a:buNone/>
            </a:pPr>
            <a:r>
              <a:rPr lang="en-US" sz="960" b="1" dirty="0">
                <a:solidFill>
                  <a:srgbClr val="000000"/>
                </a:solidFill>
                <a:latin typeface="Calibri" pitchFamily="34" charset="0"/>
                <a:ea typeface="Calibri" pitchFamily="34" charset="-122"/>
                <a:cs typeface="Calibri" pitchFamily="34" charset="-120"/>
              </a:rPr>
              <a:t>Why the Model Predicted Negative</a:t>
            </a:r>
            <a:endParaRPr lang="en-US" sz="960" dirty="0"/>
          </a:p>
        </p:txBody>
      </p:sp>
      <p:sp>
        <p:nvSpPr>
          <p:cNvPr id="25" name="Shape 23"/>
          <p:cNvSpPr/>
          <p:nvPr/>
        </p:nvSpPr>
        <p:spPr>
          <a:xfrm>
            <a:off x="2743200" y="4572000"/>
            <a:ext cx="5394960" cy="365760"/>
          </a:xfrm>
          <a:prstGeom prst="rect">
            <a:avLst/>
          </a:prstGeom>
          <a:solidFill>
            <a:srgbClr val="DCE6F1"/>
          </a:solidFill>
          <a:ln w="12700">
            <a:solidFill>
              <a:srgbClr val="B8CCE4"/>
            </a:solidFill>
            <a:prstDash val="solid"/>
          </a:ln>
        </p:spPr>
        <p:txBody>
          <a:bodyPr/>
          <a:lstStyle/>
          <a:p>
            <a:endParaRPr lang="en-IN"/>
          </a:p>
        </p:txBody>
      </p:sp>
      <p:sp>
        <p:nvSpPr>
          <p:cNvPr id="26" name="Text 24"/>
          <p:cNvSpPr/>
          <p:nvPr/>
        </p:nvSpPr>
        <p:spPr>
          <a:xfrm>
            <a:off x="2788920" y="4608576"/>
            <a:ext cx="5303520" cy="292608"/>
          </a:xfrm>
          <a:prstGeom prst="rect">
            <a:avLst/>
          </a:prstGeom>
          <a:noFill/>
          <a:ln/>
        </p:spPr>
        <p:txBody>
          <a:bodyPr wrap="square" lIns="254" tIns="254" rIns="254" bIns="254" rtlCol="0" anchor="ctr">
            <a:normAutofit/>
          </a:bodyPr>
          <a:lstStyle/>
          <a:p>
            <a:pPr marL="0" indent="0" algn="ctr">
              <a:buNone/>
            </a:pPr>
            <a:r>
              <a:rPr lang="en-US" sz="960" b="1" dirty="0">
                <a:solidFill>
                  <a:srgbClr val="000000"/>
                </a:solidFill>
                <a:latin typeface="Calibri" pitchFamily="34" charset="0"/>
                <a:ea typeface="Calibri" pitchFamily="34" charset="-122"/>
                <a:cs typeface="Calibri" pitchFamily="34" charset="-120"/>
              </a:rPr>
              <a:t>Explanation</a:t>
            </a:r>
            <a:endParaRPr lang="en-US" sz="960" dirty="0"/>
          </a:p>
        </p:txBody>
      </p:sp>
      <p:sp>
        <p:nvSpPr>
          <p:cNvPr id="27" name="Shape 25"/>
          <p:cNvSpPr/>
          <p:nvPr/>
        </p:nvSpPr>
        <p:spPr>
          <a:xfrm>
            <a:off x="502920" y="4937760"/>
            <a:ext cx="2240280" cy="438912"/>
          </a:xfrm>
          <a:prstGeom prst="rect">
            <a:avLst/>
          </a:prstGeom>
          <a:solidFill>
            <a:srgbClr val="F3F6FA"/>
          </a:solidFill>
          <a:ln w="12700">
            <a:solidFill>
              <a:srgbClr val="D9D9D9"/>
            </a:solidFill>
            <a:prstDash val="solid"/>
          </a:ln>
        </p:spPr>
        <p:txBody>
          <a:bodyPr/>
          <a:lstStyle/>
          <a:p>
            <a:endParaRPr lang="en-IN"/>
          </a:p>
        </p:txBody>
      </p:sp>
      <p:sp>
        <p:nvSpPr>
          <p:cNvPr id="28" name="Text 26"/>
          <p:cNvSpPr/>
          <p:nvPr/>
        </p:nvSpPr>
        <p:spPr>
          <a:xfrm>
            <a:off x="548640" y="4974336"/>
            <a:ext cx="2148840" cy="365760"/>
          </a:xfrm>
          <a:prstGeom prst="rect">
            <a:avLst/>
          </a:prstGeom>
          <a:noFill/>
          <a:ln/>
        </p:spPr>
        <p:txBody>
          <a:bodyPr wrap="square" lIns="254" tIns="254" rIns="254" bIns="254" rtlCol="0" anchor="ctr">
            <a:normAutofit/>
          </a:bodyPr>
          <a:lstStyle/>
          <a:p>
            <a:pPr marL="0" indent="0" algn="l">
              <a:buNone/>
            </a:pPr>
            <a:r>
              <a:rPr lang="en-US" sz="910" b="1" dirty="0">
                <a:solidFill>
                  <a:srgbClr val="000000"/>
                </a:solidFill>
                <a:latin typeface="Calibri" pitchFamily="34" charset="0"/>
                <a:ea typeface="Calibri" pitchFamily="34" charset="-122"/>
                <a:cs typeface="Calibri" pitchFamily="34" charset="-120"/>
              </a:rPr>
              <a:t>Complaint intensity</a:t>
            </a:r>
            <a:endParaRPr lang="en-US" sz="910" dirty="0"/>
          </a:p>
        </p:txBody>
      </p:sp>
      <p:sp>
        <p:nvSpPr>
          <p:cNvPr id="29" name="Shape 27"/>
          <p:cNvSpPr/>
          <p:nvPr/>
        </p:nvSpPr>
        <p:spPr>
          <a:xfrm>
            <a:off x="2743200" y="4937760"/>
            <a:ext cx="5394960" cy="438912"/>
          </a:xfrm>
          <a:prstGeom prst="rect">
            <a:avLst/>
          </a:prstGeom>
          <a:solidFill>
            <a:srgbClr val="FFFFFF"/>
          </a:solidFill>
          <a:ln w="12700">
            <a:solidFill>
              <a:srgbClr val="D9D9D9"/>
            </a:solidFill>
            <a:prstDash val="solid"/>
          </a:ln>
        </p:spPr>
        <p:txBody>
          <a:bodyPr/>
          <a:lstStyle/>
          <a:p>
            <a:endParaRPr lang="en-IN"/>
          </a:p>
        </p:txBody>
      </p:sp>
      <p:sp>
        <p:nvSpPr>
          <p:cNvPr id="30" name="Text 28"/>
          <p:cNvSpPr/>
          <p:nvPr/>
        </p:nvSpPr>
        <p:spPr>
          <a:xfrm>
            <a:off x="2788920" y="4974336"/>
            <a:ext cx="5303520" cy="365760"/>
          </a:xfrm>
          <a:prstGeom prst="rect">
            <a:avLst/>
          </a:prstGeom>
          <a:noFill/>
          <a:ln/>
        </p:spPr>
        <p:txBody>
          <a:bodyPr wrap="square" lIns="254" tIns="254" rIns="254" bIns="254" rtlCol="0" anchor="ctr">
            <a:normAutofit/>
          </a:bodyPr>
          <a:lstStyle/>
          <a:p>
            <a:pPr marL="0" indent="0" algn="l">
              <a:buNone/>
            </a:pPr>
            <a:r>
              <a:rPr lang="en-US" sz="900" dirty="0">
                <a:solidFill>
                  <a:srgbClr val="000000"/>
                </a:solidFill>
                <a:latin typeface="Calibri" pitchFamily="34" charset="0"/>
                <a:ea typeface="Calibri" pitchFamily="34" charset="-122"/>
                <a:cs typeface="Calibri" pitchFamily="34" charset="-120"/>
              </a:rPr>
              <a:t>Phrases such as "very bad experience" and "not trusting this app" align strongly with the negative class.</a:t>
            </a:r>
            <a:endParaRPr lang="en-US" sz="900" dirty="0"/>
          </a:p>
        </p:txBody>
      </p:sp>
      <p:sp>
        <p:nvSpPr>
          <p:cNvPr id="31" name="Shape 29"/>
          <p:cNvSpPr/>
          <p:nvPr/>
        </p:nvSpPr>
        <p:spPr>
          <a:xfrm>
            <a:off x="502920" y="5376672"/>
            <a:ext cx="2240280" cy="438912"/>
          </a:xfrm>
          <a:prstGeom prst="rect">
            <a:avLst/>
          </a:prstGeom>
          <a:solidFill>
            <a:srgbClr val="F3F6FA"/>
          </a:solidFill>
          <a:ln w="12700">
            <a:solidFill>
              <a:srgbClr val="D9D9D9"/>
            </a:solidFill>
            <a:prstDash val="solid"/>
          </a:ln>
        </p:spPr>
        <p:txBody>
          <a:bodyPr/>
          <a:lstStyle/>
          <a:p>
            <a:endParaRPr lang="en-IN"/>
          </a:p>
        </p:txBody>
      </p:sp>
      <p:sp>
        <p:nvSpPr>
          <p:cNvPr id="32" name="Text 30"/>
          <p:cNvSpPr/>
          <p:nvPr/>
        </p:nvSpPr>
        <p:spPr>
          <a:xfrm>
            <a:off x="548640" y="5413248"/>
            <a:ext cx="2148840" cy="365760"/>
          </a:xfrm>
          <a:prstGeom prst="rect">
            <a:avLst/>
          </a:prstGeom>
          <a:noFill/>
          <a:ln/>
        </p:spPr>
        <p:txBody>
          <a:bodyPr wrap="square" lIns="254" tIns="254" rIns="254" bIns="254" rtlCol="0" anchor="ctr">
            <a:normAutofit/>
          </a:bodyPr>
          <a:lstStyle/>
          <a:p>
            <a:pPr marL="0" indent="0" algn="l">
              <a:buNone/>
            </a:pPr>
            <a:r>
              <a:rPr lang="en-US" sz="910" b="1" dirty="0">
                <a:solidFill>
                  <a:srgbClr val="000000"/>
                </a:solidFill>
                <a:latin typeface="Calibri" pitchFamily="34" charset="0"/>
                <a:ea typeface="Calibri" pitchFamily="34" charset="-122"/>
                <a:cs typeface="Calibri" pitchFamily="34" charset="-120"/>
              </a:rPr>
              <a:t>Service failure</a:t>
            </a:r>
            <a:endParaRPr lang="en-US" sz="910" dirty="0"/>
          </a:p>
        </p:txBody>
      </p:sp>
      <p:sp>
        <p:nvSpPr>
          <p:cNvPr id="33" name="Shape 31"/>
          <p:cNvSpPr/>
          <p:nvPr/>
        </p:nvSpPr>
        <p:spPr>
          <a:xfrm>
            <a:off x="2743200" y="5376672"/>
            <a:ext cx="5394960" cy="438912"/>
          </a:xfrm>
          <a:prstGeom prst="rect">
            <a:avLst/>
          </a:prstGeom>
          <a:solidFill>
            <a:srgbClr val="FFFFFF"/>
          </a:solidFill>
          <a:ln w="12700">
            <a:solidFill>
              <a:srgbClr val="D9D9D9"/>
            </a:solidFill>
            <a:prstDash val="solid"/>
          </a:ln>
        </p:spPr>
        <p:txBody>
          <a:bodyPr/>
          <a:lstStyle/>
          <a:p>
            <a:endParaRPr lang="en-IN"/>
          </a:p>
        </p:txBody>
      </p:sp>
      <p:sp>
        <p:nvSpPr>
          <p:cNvPr id="34" name="Text 32"/>
          <p:cNvSpPr/>
          <p:nvPr/>
        </p:nvSpPr>
        <p:spPr>
          <a:xfrm>
            <a:off x="2788920" y="5413248"/>
            <a:ext cx="5303520" cy="365760"/>
          </a:xfrm>
          <a:prstGeom prst="rect">
            <a:avLst/>
          </a:prstGeom>
          <a:noFill/>
          <a:ln/>
        </p:spPr>
        <p:txBody>
          <a:bodyPr wrap="square" lIns="254" tIns="254" rIns="254" bIns="254" rtlCol="0" anchor="ctr">
            <a:normAutofit/>
          </a:bodyPr>
          <a:lstStyle/>
          <a:p>
            <a:pPr marL="0" indent="0" algn="l">
              <a:buNone/>
            </a:pPr>
            <a:r>
              <a:rPr lang="en-US" sz="900" dirty="0">
                <a:solidFill>
                  <a:srgbClr val="000000"/>
                </a:solidFill>
                <a:latin typeface="Calibri" pitchFamily="34" charset="0"/>
                <a:ea typeface="Calibri" pitchFamily="34" charset="-122"/>
                <a:cs typeface="Calibri" pitchFamily="34" charset="-120"/>
              </a:rPr>
              <a:t>Cancellation and delivery failure are both frequent negative indicators in the training data.</a:t>
            </a:r>
            <a:endParaRPr lang="en-US" sz="900" dirty="0"/>
          </a:p>
        </p:txBody>
      </p:sp>
      <p:sp>
        <p:nvSpPr>
          <p:cNvPr id="35" name="Shape 33"/>
          <p:cNvSpPr/>
          <p:nvPr/>
        </p:nvSpPr>
        <p:spPr>
          <a:xfrm>
            <a:off x="502920" y="5815584"/>
            <a:ext cx="2240280" cy="438912"/>
          </a:xfrm>
          <a:prstGeom prst="rect">
            <a:avLst/>
          </a:prstGeom>
          <a:solidFill>
            <a:srgbClr val="F3F6FA"/>
          </a:solidFill>
          <a:ln w="12700">
            <a:solidFill>
              <a:srgbClr val="D9D9D9"/>
            </a:solidFill>
            <a:prstDash val="solid"/>
          </a:ln>
        </p:spPr>
        <p:txBody>
          <a:bodyPr/>
          <a:lstStyle/>
          <a:p>
            <a:endParaRPr lang="en-IN"/>
          </a:p>
        </p:txBody>
      </p:sp>
      <p:sp>
        <p:nvSpPr>
          <p:cNvPr id="36" name="Text 34"/>
          <p:cNvSpPr/>
          <p:nvPr/>
        </p:nvSpPr>
        <p:spPr>
          <a:xfrm>
            <a:off x="548640" y="5852160"/>
            <a:ext cx="2148840" cy="365760"/>
          </a:xfrm>
          <a:prstGeom prst="rect">
            <a:avLst/>
          </a:prstGeom>
          <a:noFill/>
          <a:ln/>
        </p:spPr>
        <p:txBody>
          <a:bodyPr wrap="square" lIns="254" tIns="254" rIns="254" bIns="254" rtlCol="0" anchor="ctr">
            <a:normAutofit/>
          </a:bodyPr>
          <a:lstStyle/>
          <a:p>
            <a:pPr marL="0" indent="0" algn="l">
              <a:buNone/>
            </a:pPr>
            <a:r>
              <a:rPr lang="en-US" sz="910" b="1" dirty="0">
                <a:solidFill>
                  <a:srgbClr val="000000"/>
                </a:solidFill>
                <a:latin typeface="Calibri" pitchFamily="34" charset="0"/>
                <a:ea typeface="Calibri" pitchFamily="34" charset="-122"/>
                <a:cs typeface="Calibri" pitchFamily="34" charset="-120"/>
              </a:rPr>
              <a:t>Model behavior</a:t>
            </a:r>
            <a:endParaRPr lang="en-US" sz="910" dirty="0"/>
          </a:p>
        </p:txBody>
      </p:sp>
      <p:sp>
        <p:nvSpPr>
          <p:cNvPr id="37" name="Shape 35"/>
          <p:cNvSpPr/>
          <p:nvPr/>
        </p:nvSpPr>
        <p:spPr>
          <a:xfrm>
            <a:off x="2743200" y="5815584"/>
            <a:ext cx="5394960" cy="438912"/>
          </a:xfrm>
          <a:prstGeom prst="rect">
            <a:avLst/>
          </a:prstGeom>
          <a:solidFill>
            <a:srgbClr val="FFFFFF"/>
          </a:solidFill>
          <a:ln w="12700">
            <a:solidFill>
              <a:srgbClr val="D9D9D9"/>
            </a:solidFill>
            <a:prstDash val="solid"/>
          </a:ln>
        </p:spPr>
        <p:txBody>
          <a:bodyPr/>
          <a:lstStyle/>
          <a:p>
            <a:endParaRPr lang="en-IN"/>
          </a:p>
        </p:txBody>
      </p:sp>
      <p:sp>
        <p:nvSpPr>
          <p:cNvPr id="38" name="Text 36"/>
          <p:cNvSpPr/>
          <p:nvPr/>
        </p:nvSpPr>
        <p:spPr>
          <a:xfrm>
            <a:off x="2788920" y="5852160"/>
            <a:ext cx="5303520" cy="365760"/>
          </a:xfrm>
          <a:prstGeom prst="rect">
            <a:avLst/>
          </a:prstGeom>
          <a:noFill/>
          <a:ln/>
        </p:spPr>
        <p:txBody>
          <a:bodyPr wrap="square" lIns="254" tIns="254" rIns="254" bIns="254" rtlCol="0" anchor="ctr">
            <a:normAutofit/>
          </a:bodyPr>
          <a:lstStyle/>
          <a:p>
            <a:pPr marL="0" indent="0" algn="l">
              <a:buNone/>
            </a:pPr>
            <a:r>
              <a:rPr lang="en-US" sz="900" dirty="0">
                <a:solidFill>
                  <a:srgbClr val="000000"/>
                </a:solidFill>
                <a:latin typeface="Calibri" pitchFamily="34" charset="0"/>
                <a:ea typeface="Calibri" pitchFamily="34" charset="-122"/>
                <a:cs typeface="Calibri" pitchFamily="34" charset="-120"/>
              </a:rPr>
              <a:t>TF-IDF highlights recurring complaint terms, and balanced Logistic Regression converts those weights into class probabilities.</a:t>
            </a:r>
            <a:endParaRPr lang="en-US" sz="900" dirty="0"/>
          </a:p>
        </p:txBody>
      </p:sp>
      <p:sp>
        <p:nvSpPr>
          <p:cNvPr id="39" name="Text 37"/>
          <p:cNvSpPr/>
          <p:nvPr/>
        </p:nvSpPr>
        <p:spPr>
          <a:xfrm>
            <a:off x="2971800" y="6217920"/>
            <a:ext cx="3200400" cy="201168"/>
          </a:xfrm>
          <a:prstGeom prst="rect">
            <a:avLst/>
          </a:prstGeom>
          <a:noFill/>
          <a:ln/>
        </p:spPr>
        <p:txBody>
          <a:bodyPr wrap="square" lIns="0" tIns="0" rIns="0" bIns="0" rtlCol="0" anchor="ctr"/>
          <a:lstStyle/>
          <a:p>
            <a:pPr marL="0" indent="0" algn="ctr">
              <a:buNone/>
            </a:pPr>
            <a:r>
              <a:rPr lang="en-US" sz="1000" dirty="0">
                <a:solidFill>
                  <a:srgbClr val="4F81BD"/>
                </a:solidFill>
                <a:latin typeface="Calibri" pitchFamily="34" charset="0"/>
                <a:ea typeface="Calibri" pitchFamily="34" charset="-122"/>
                <a:cs typeface="Calibri" pitchFamily="34" charset="-120"/>
              </a:rPr>
              <a:t>VIT ONLINE MBA</a:t>
            </a:r>
            <a:endParaRPr lang="en-US" sz="1000" dirty="0"/>
          </a:p>
        </p:txBody>
      </p:sp>
      <p:sp>
        <p:nvSpPr>
          <p:cNvPr id="40" name="Text 38"/>
          <p:cNvSpPr/>
          <p:nvPr/>
        </p:nvSpPr>
        <p:spPr>
          <a:xfrm>
            <a:off x="164592" y="6419088"/>
            <a:ext cx="731520" cy="146304"/>
          </a:xfrm>
          <a:prstGeom prst="rect">
            <a:avLst/>
          </a:prstGeom>
          <a:noFill/>
          <a:ln/>
        </p:spPr>
        <p:txBody>
          <a:bodyPr wrap="square" lIns="0" tIns="0" rIns="0" bIns="0" rtlCol="0" anchor="ctr"/>
          <a:lstStyle/>
          <a:p>
            <a:pPr marL="0" indent="0">
              <a:buNone/>
            </a:pPr>
            <a:r>
              <a:rPr lang="en-US" sz="550" dirty="0">
                <a:solidFill>
                  <a:srgbClr val="666666"/>
                </a:solidFill>
                <a:latin typeface="Calibri" pitchFamily="34" charset="0"/>
                <a:ea typeface="Calibri" pitchFamily="34" charset="-122"/>
                <a:cs typeface="Calibri" pitchFamily="34" charset="-120"/>
              </a:rPr>
              <a:t>Slide 07</a:t>
            </a:r>
            <a:endParaRPr lang="en-US" sz="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Analysis &amp; Interpretation</a:t>
            </a:r>
            <a:endParaRPr lang="en-US" sz="2400" dirty="0"/>
          </a:p>
        </p:txBody>
      </p:sp>
      <p:sp>
        <p:nvSpPr>
          <p:cNvPr id="3" name="Text 1"/>
          <p:cNvSpPr/>
          <p:nvPr/>
        </p:nvSpPr>
        <p:spPr>
          <a:xfrm>
            <a:off x="694944" y="1408176"/>
            <a:ext cx="5394960" cy="4617720"/>
          </a:xfrm>
          <a:prstGeom prst="rect">
            <a:avLst/>
          </a:prstGeom>
          <a:noFill/>
          <a:ln/>
        </p:spPr>
        <p:txBody>
          <a:bodyPr wrap="square" lIns="635" tIns="635" rIns="635" bIns="635" rtlCol="0" anchor="t"/>
          <a:lstStyle/>
          <a:p>
            <a:pPr marL="203200" indent="-203200">
              <a:buSzPct val="100000"/>
              <a:buChar char="•"/>
            </a:pPr>
            <a:r>
              <a:rPr lang="en-US" sz="1590" dirty="0">
                <a:solidFill>
                  <a:srgbClr val="000000"/>
                </a:solidFill>
                <a:latin typeface="Calibri" pitchFamily="34" charset="0"/>
                <a:ea typeface="Calibri" pitchFamily="34" charset="-122"/>
                <a:cs typeface="Calibri" pitchFamily="34" charset="-120"/>
              </a:rPr>
              <a:t>The tuned TF-IDF + Logistic Regression model achieved 90.17% accuracy and 90.40% weighted F1, making it reliable for large-scale sentiment reading.</a:t>
            </a:r>
            <a:endParaRPr lang="en-US" sz="1590" dirty="0"/>
          </a:p>
          <a:p>
            <a:pPr marL="203200" indent="-203200">
              <a:buSzPct val="100000"/>
              <a:buChar char="•"/>
            </a:pPr>
            <a:r>
              <a:rPr lang="en-US" sz="1590" dirty="0">
                <a:solidFill>
                  <a:srgbClr val="000000"/>
                </a:solidFill>
                <a:latin typeface="Calibri" pitchFamily="34" charset="0"/>
                <a:ea typeface="Calibri" pitchFamily="34" charset="-122"/>
                <a:cs typeface="Calibri" pitchFamily="34" charset="-120"/>
              </a:rPr>
              <a:t>Predicted sentiment distribution was positive 20,587, negative 19,505, and neutral 1,505, showing a highly polarized customer voice with very few neutral reviews.</a:t>
            </a:r>
            <a:endParaRPr lang="en-US" sz="1590" dirty="0"/>
          </a:p>
          <a:p>
            <a:pPr marL="203200" indent="-203200">
              <a:buSzPct val="100000"/>
              <a:buChar char="•"/>
            </a:pPr>
            <a:r>
              <a:rPr lang="en-US" sz="1590" dirty="0">
                <a:solidFill>
                  <a:srgbClr val="000000"/>
                </a:solidFill>
                <a:latin typeface="Calibri" pitchFamily="34" charset="0"/>
                <a:ea typeface="Calibri" pitchFamily="34" charset="-122"/>
                <a:cs typeface="Calibri" pitchFamily="34" charset="-120"/>
              </a:rPr>
              <a:t>Delivery generated the highest discussion volume with 16,106 reviews and remained mildly positive overall because positive delivery mentions still exceeded negative ones.</a:t>
            </a:r>
            <a:endParaRPr lang="en-US" sz="1590" dirty="0"/>
          </a:p>
          <a:p>
            <a:pPr marL="203200" indent="-203200">
              <a:buSzPct val="100000"/>
              <a:buChar char="•"/>
            </a:pPr>
            <a:r>
              <a:rPr lang="en-US" sz="1590" dirty="0">
                <a:solidFill>
                  <a:srgbClr val="000000"/>
                </a:solidFill>
                <a:latin typeface="Calibri" pitchFamily="34" charset="0"/>
                <a:ea typeface="Calibri" pitchFamily="34" charset="-122"/>
                <a:cs typeface="Calibri" pitchFamily="34" charset="-120"/>
              </a:rPr>
              <a:t>Refund and cancellation emerged as the most critical pain point: 8,545 reviews in this theme, of which 88.3% were negative.</a:t>
            </a:r>
            <a:endParaRPr lang="en-US" sz="1590" dirty="0"/>
          </a:p>
          <a:p>
            <a:pPr marL="203200" indent="-203200">
              <a:buSzPct val="100000"/>
              <a:buChar char="•"/>
            </a:pPr>
            <a:r>
              <a:rPr lang="en-US" sz="1590" dirty="0">
                <a:solidFill>
                  <a:srgbClr val="000000"/>
                </a:solidFill>
                <a:latin typeface="Calibri" pitchFamily="34" charset="0"/>
                <a:ea typeface="Calibri" pitchFamily="34" charset="-122"/>
                <a:cs typeface="Calibri" pitchFamily="34" charset="-120"/>
              </a:rPr>
              <a:t>Customer support was another major weakness with a 68.3% negative share, indicating service recovery issues harm trust even when the core ordering experience works well.</a:t>
            </a:r>
            <a:endParaRPr lang="en-US" sz="1590" dirty="0"/>
          </a:p>
        </p:txBody>
      </p:sp>
      <p:sp>
        <p:nvSpPr>
          <p:cNvPr id="4" name="Shape 2"/>
          <p:cNvSpPr/>
          <p:nvPr/>
        </p:nvSpPr>
        <p:spPr>
          <a:xfrm>
            <a:off x="6144768" y="1828800"/>
            <a:ext cx="2286000" cy="2514600"/>
          </a:xfrm>
          <a:prstGeom prst="rect">
            <a:avLst/>
          </a:prstGeom>
          <a:solidFill>
            <a:srgbClr val="F7F7F7"/>
          </a:solidFill>
          <a:ln w="12700">
            <a:solidFill>
              <a:srgbClr val="D9D9D9"/>
            </a:solidFill>
            <a:prstDash val="solid"/>
          </a:ln>
        </p:spPr>
        <p:txBody>
          <a:bodyPr/>
          <a:lstStyle/>
          <a:p>
            <a:endParaRPr lang="en-IN"/>
          </a:p>
        </p:txBody>
      </p:sp>
      <p:sp>
        <p:nvSpPr>
          <p:cNvPr id="5" name="Text 3"/>
          <p:cNvSpPr/>
          <p:nvPr/>
        </p:nvSpPr>
        <p:spPr>
          <a:xfrm>
            <a:off x="6272784" y="1938528"/>
            <a:ext cx="2029968" cy="219456"/>
          </a:xfrm>
          <a:prstGeom prst="rect">
            <a:avLst/>
          </a:prstGeom>
          <a:noFill/>
          <a:ln/>
        </p:spPr>
        <p:txBody>
          <a:bodyPr wrap="square" lIns="0" tIns="0" rIns="0" bIns="0" rtlCol="0" anchor="ctr"/>
          <a:lstStyle/>
          <a:p>
            <a:pPr marL="0" indent="0" algn="l">
              <a:buNone/>
            </a:pPr>
            <a:r>
              <a:rPr lang="en-US" sz="1200" b="1" dirty="0">
                <a:solidFill>
                  <a:srgbClr val="4F81BD"/>
                </a:solidFill>
                <a:latin typeface="Calibri" pitchFamily="34" charset="0"/>
                <a:ea typeface="Calibri" pitchFamily="34" charset="-122"/>
                <a:cs typeface="Calibri" pitchFamily="34" charset="-120"/>
              </a:rPr>
              <a:t>Interpretation</a:t>
            </a:r>
            <a:endParaRPr lang="en-US" sz="1200" dirty="0"/>
          </a:p>
        </p:txBody>
      </p:sp>
      <p:sp>
        <p:nvSpPr>
          <p:cNvPr id="6" name="Text 4"/>
          <p:cNvSpPr/>
          <p:nvPr/>
        </p:nvSpPr>
        <p:spPr>
          <a:xfrm>
            <a:off x="6272784" y="2212848"/>
            <a:ext cx="2029968" cy="2002536"/>
          </a:xfrm>
          <a:prstGeom prst="rect">
            <a:avLst/>
          </a:prstGeom>
          <a:noFill/>
          <a:ln/>
        </p:spPr>
        <p:txBody>
          <a:bodyPr wrap="square" lIns="0" tIns="0" rIns="0" bIns="0" rtlCol="0" anchor="t"/>
          <a:lstStyle/>
          <a:p>
            <a:pPr marL="0" indent="0">
              <a:buNone/>
            </a:pPr>
            <a:r>
              <a:rPr lang="en-US" sz="1150" dirty="0">
                <a:solidFill>
                  <a:srgbClr val="000000"/>
                </a:solidFill>
                <a:latin typeface="Calibri" pitchFamily="34" charset="0"/>
                <a:ea typeface="Calibri" pitchFamily="34" charset="-122"/>
                <a:cs typeface="Calibri" pitchFamily="34" charset="-120"/>
              </a:rPr>
              <a:t>Brand strength comes from convenience, app utility, and delivery reach.</a:t>
            </a:r>
            <a:endParaRPr lang="en-US" sz="1150" dirty="0"/>
          </a:p>
          <a:p>
            <a:pPr marL="0" indent="0">
              <a:buNone/>
            </a:pPr>
            <a:r>
              <a:rPr lang="en-US" sz="1150" dirty="0">
                <a:solidFill>
                  <a:srgbClr val="000000"/>
                </a:solidFill>
                <a:latin typeface="Calibri" pitchFamily="34" charset="0"/>
                <a:ea typeface="Calibri" pitchFamily="34" charset="-122"/>
                <a:cs typeface="Calibri" pitchFamily="34" charset="-120"/>
              </a:rPr>
              <a:t>Brand risk comes from refund handling, complaint resolution, and post-order support.</a:t>
            </a:r>
            <a:br>
              <a:rPr lang="en-US" sz="1150" dirty="0">
                <a:solidFill>
                  <a:srgbClr val="000000"/>
                </a:solidFill>
                <a:latin typeface="Calibri" pitchFamily="34" charset="0"/>
                <a:ea typeface="Calibri" pitchFamily="34" charset="-122"/>
                <a:cs typeface="Calibri" pitchFamily="34" charset="-120"/>
              </a:rPr>
            </a:br>
            <a:endParaRPr lang="en-US" sz="1150" dirty="0"/>
          </a:p>
          <a:p>
            <a:pPr marL="0" indent="0">
              <a:buNone/>
            </a:pPr>
            <a:r>
              <a:rPr lang="en-US" sz="1150" dirty="0">
                <a:solidFill>
                  <a:srgbClr val="000000"/>
                </a:solidFill>
                <a:latin typeface="Calibri" pitchFamily="34" charset="0"/>
                <a:ea typeface="Calibri" pitchFamily="34" charset="-122"/>
                <a:cs typeface="Calibri" pitchFamily="34" charset="-120"/>
              </a:rPr>
              <a:t>Managerial priority: improve service recovery before it converts occasional failures into long-term trust damage.</a:t>
            </a:r>
            <a:endParaRPr lang="en-US" sz="1150" dirty="0"/>
          </a:p>
        </p:txBody>
      </p:sp>
      <p:sp>
        <p:nvSpPr>
          <p:cNvPr id="7" name="Text 5"/>
          <p:cNvSpPr/>
          <p:nvPr/>
        </p:nvSpPr>
        <p:spPr>
          <a:xfrm>
            <a:off x="2971800" y="6217920"/>
            <a:ext cx="3200400" cy="201168"/>
          </a:xfrm>
          <a:prstGeom prst="rect">
            <a:avLst/>
          </a:prstGeom>
          <a:noFill/>
          <a:ln/>
        </p:spPr>
        <p:txBody>
          <a:bodyPr wrap="square" lIns="0" tIns="0" rIns="0" bIns="0" rtlCol="0" anchor="ctr"/>
          <a:lstStyle/>
          <a:p>
            <a:pPr marL="0" indent="0" algn="ctr">
              <a:buNone/>
            </a:pPr>
            <a:r>
              <a:rPr lang="en-US" sz="1000" dirty="0">
                <a:solidFill>
                  <a:srgbClr val="4F81BD"/>
                </a:solidFill>
                <a:latin typeface="Calibri" pitchFamily="34" charset="0"/>
                <a:ea typeface="Calibri" pitchFamily="34" charset="-122"/>
                <a:cs typeface="Calibri" pitchFamily="34" charset="-120"/>
              </a:rPr>
              <a:t>VIT ONLINE MBA</a:t>
            </a:r>
            <a:endParaRPr lang="en-US" sz="1000" dirty="0"/>
          </a:p>
        </p:txBody>
      </p:sp>
      <p:sp>
        <p:nvSpPr>
          <p:cNvPr id="8" name="Text 6"/>
          <p:cNvSpPr/>
          <p:nvPr/>
        </p:nvSpPr>
        <p:spPr>
          <a:xfrm>
            <a:off x="164592" y="6419088"/>
            <a:ext cx="731520" cy="146304"/>
          </a:xfrm>
          <a:prstGeom prst="rect">
            <a:avLst/>
          </a:prstGeom>
          <a:noFill/>
          <a:ln/>
        </p:spPr>
        <p:txBody>
          <a:bodyPr wrap="square" lIns="0" tIns="0" rIns="0" bIns="0" rtlCol="0" anchor="ctr"/>
          <a:lstStyle/>
          <a:p>
            <a:pPr marL="0" indent="0">
              <a:buNone/>
            </a:pPr>
            <a:r>
              <a:rPr lang="en-US" sz="550" dirty="0">
                <a:solidFill>
                  <a:srgbClr val="666666"/>
                </a:solidFill>
                <a:latin typeface="Calibri" pitchFamily="34" charset="0"/>
                <a:ea typeface="Calibri" pitchFamily="34" charset="-122"/>
                <a:cs typeface="Calibri" pitchFamily="34" charset="-120"/>
              </a:rPr>
              <a:t>Slide 08</a:t>
            </a:r>
            <a:endParaRPr lang="en-US" sz="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Comparison with Reference Paper</a:t>
            </a:r>
            <a:endParaRPr lang="en-US" sz="2400" dirty="0"/>
          </a:p>
        </p:txBody>
      </p:sp>
      <p:sp>
        <p:nvSpPr>
          <p:cNvPr id="3" name="Shape 1"/>
          <p:cNvSpPr/>
          <p:nvPr/>
        </p:nvSpPr>
        <p:spPr>
          <a:xfrm>
            <a:off x="384048" y="1133856"/>
            <a:ext cx="1325880" cy="438912"/>
          </a:xfrm>
          <a:prstGeom prst="rect">
            <a:avLst/>
          </a:prstGeom>
          <a:solidFill>
            <a:srgbClr val="DCE6F1"/>
          </a:solidFill>
          <a:ln w="12700">
            <a:solidFill>
              <a:srgbClr val="B8CCE4"/>
            </a:solidFill>
            <a:prstDash val="solid"/>
          </a:ln>
        </p:spPr>
        <p:txBody>
          <a:bodyPr/>
          <a:lstStyle/>
          <a:p>
            <a:endParaRPr lang="en-IN"/>
          </a:p>
        </p:txBody>
      </p:sp>
      <p:sp>
        <p:nvSpPr>
          <p:cNvPr id="4" name="Text 2"/>
          <p:cNvSpPr/>
          <p:nvPr/>
        </p:nvSpPr>
        <p:spPr>
          <a:xfrm>
            <a:off x="429768" y="1170432"/>
            <a:ext cx="1234440" cy="365760"/>
          </a:xfrm>
          <a:prstGeom prst="rect">
            <a:avLst/>
          </a:prstGeom>
          <a:noFill/>
          <a:ln/>
        </p:spPr>
        <p:txBody>
          <a:bodyPr wrap="square" lIns="254" tIns="254" rIns="254" bIns="254" rtlCol="0" anchor="ctr">
            <a:normAutofit/>
          </a:bodyPr>
          <a:lstStyle/>
          <a:p>
            <a:pPr marL="0" indent="0" algn="ctr">
              <a:buNone/>
            </a:pPr>
            <a:r>
              <a:rPr lang="en-US" sz="960" b="1" dirty="0">
                <a:solidFill>
                  <a:srgbClr val="000000"/>
                </a:solidFill>
                <a:latin typeface="Calibri" pitchFamily="34" charset="0"/>
                <a:ea typeface="Calibri" pitchFamily="34" charset="-122"/>
                <a:cs typeface="Calibri" pitchFamily="34" charset="-120"/>
              </a:rPr>
              <a:t>Metric</a:t>
            </a:r>
            <a:endParaRPr lang="en-US" sz="960" dirty="0"/>
          </a:p>
        </p:txBody>
      </p:sp>
      <p:sp>
        <p:nvSpPr>
          <p:cNvPr id="5" name="Shape 3"/>
          <p:cNvSpPr/>
          <p:nvPr/>
        </p:nvSpPr>
        <p:spPr>
          <a:xfrm>
            <a:off x="1709928" y="1133856"/>
            <a:ext cx="2240280" cy="438912"/>
          </a:xfrm>
          <a:prstGeom prst="rect">
            <a:avLst/>
          </a:prstGeom>
          <a:solidFill>
            <a:srgbClr val="DCE6F1"/>
          </a:solidFill>
          <a:ln w="12700">
            <a:solidFill>
              <a:srgbClr val="B8CCE4"/>
            </a:solidFill>
            <a:prstDash val="solid"/>
          </a:ln>
        </p:spPr>
        <p:txBody>
          <a:bodyPr/>
          <a:lstStyle/>
          <a:p>
            <a:endParaRPr lang="en-IN"/>
          </a:p>
        </p:txBody>
      </p:sp>
      <p:sp>
        <p:nvSpPr>
          <p:cNvPr id="6" name="Text 4"/>
          <p:cNvSpPr/>
          <p:nvPr/>
        </p:nvSpPr>
        <p:spPr>
          <a:xfrm>
            <a:off x="1755648" y="1170432"/>
            <a:ext cx="2148840" cy="365760"/>
          </a:xfrm>
          <a:prstGeom prst="rect">
            <a:avLst/>
          </a:prstGeom>
          <a:noFill/>
          <a:ln/>
        </p:spPr>
        <p:txBody>
          <a:bodyPr wrap="square" lIns="254" tIns="254" rIns="254" bIns="254" rtlCol="0" anchor="ctr">
            <a:normAutofit/>
          </a:bodyPr>
          <a:lstStyle/>
          <a:p>
            <a:pPr marL="0" indent="0" algn="ctr">
              <a:buNone/>
            </a:pPr>
            <a:r>
              <a:rPr lang="en-US" sz="960" b="1" dirty="0">
                <a:solidFill>
                  <a:srgbClr val="000000"/>
                </a:solidFill>
                <a:latin typeface="Calibri" pitchFamily="34" charset="0"/>
                <a:ea typeface="Calibri" pitchFamily="34" charset="-122"/>
                <a:cs typeface="Calibri" pitchFamily="34" charset="-120"/>
              </a:rPr>
              <a:t>Jonathan et al. (2019)</a:t>
            </a:r>
            <a:endParaRPr lang="en-US" sz="960" dirty="0"/>
          </a:p>
        </p:txBody>
      </p:sp>
      <p:sp>
        <p:nvSpPr>
          <p:cNvPr id="7" name="Shape 5"/>
          <p:cNvSpPr/>
          <p:nvPr/>
        </p:nvSpPr>
        <p:spPr>
          <a:xfrm>
            <a:off x="3950208" y="1133856"/>
            <a:ext cx="2240280" cy="438912"/>
          </a:xfrm>
          <a:prstGeom prst="rect">
            <a:avLst/>
          </a:prstGeom>
          <a:solidFill>
            <a:srgbClr val="DCE6F1"/>
          </a:solidFill>
          <a:ln w="12700">
            <a:solidFill>
              <a:srgbClr val="B8CCE4"/>
            </a:solidFill>
            <a:prstDash val="solid"/>
          </a:ln>
        </p:spPr>
        <p:txBody>
          <a:bodyPr/>
          <a:lstStyle/>
          <a:p>
            <a:endParaRPr lang="en-IN"/>
          </a:p>
        </p:txBody>
      </p:sp>
      <p:sp>
        <p:nvSpPr>
          <p:cNvPr id="8" name="Text 6"/>
          <p:cNvSpPr/>
          <p:nvPr/>
        </p:nvSpPr>
        <p:spPr>
          <a:xfrm>
            <a:off x="3995928" y="1170432"/>
            <a:ext cx="2148840" cy="365760"/>
          </a:xfrm>
          <a:prstGeom prst="rect">
            <a:avLst/>
          </a:prstGeom>
          <a:noFill/>
          <a:ln/>
        </p:spPr>
        <p:txBody>
          <a:bodyPr wrap="square" lIns="254" tIns="254" rIns="254" bIns="254" rtlCol="0" anchor="ctr">
            <a:normAutofit/>
          </a:bodyPr>
          <a:lstStyle/>
          <a:p>
            <a:pPr marL="0" indent="0" algn="ctr">
              <a:buNone/>
            </a:pPr>
            <a:r>
              <a:rPr lang="en-US" sz="930" b="1" dirty="0">
                <a:solidFill>
                  <a:srgbClr val="000000"/>
                </a:solidFill>
                <a:latin typeface="Calibri" pitchFamily="34" charset="0"/>
                <a:ea typeface="Calibri" pitchFamily="34" charset="-122"/>
                <a:cs typeface="Calibri" pitchFamily="34" charset="-120"/>
              </a:rPr>
              <a:t>Our Recreated Random Forest</a:t>
            </a:r>
            <a:endParaRPr lang="en-US" sz="930" dirty="0"/>
          </a:p>
        </p:txBody>
      </p:sp>
      <p:sp>
        <p:nvSpPr>
          <p:cNvPr id="9" name="Shape 7"/>
          <p:cNvSpPr/>
          <p:nvPr/>
        </p:nvSpPr>
        <p:spPr>
          <a:xfrm>
            <a:off x="6190488" y="1133856"/>
            <a:ext cx="2240280" cy="438912"/>
          </a:xfrm>
          <a:prstGeom prst="rect">
            <a:avLst/>
          </a:prstGeom>
          <a:solidFill>
            <a:srgbClr val="DCE6F1"/>
          </a:solidFill>
          <a:ln w="12700">
            <a:solidFill>
              <a:srgbClr val="B8CCE4"/>
            </a:solidFill>
            <a:prstDash val="solid"/>
          </a:ln>
        </p:spPr>
        <p:txBody>
          <a:bodyPr/>
          <a:lstStyle/>
          <a:p>
            <a:endParaRPr lang="en-IN"/>
          </a:p>
        </p:txBody>
      </p:sp>
      <p:sp>
        <p:nvSpPr>
          <p:cNvPr id="10" name="Text 8"/>
          <p:cNvSpPr/>
          <p:nvPr/>
        </p:nvSpPr>
        <p:spPr>
          <a:xfrm>
            <a:off x="6236208" y="1170432"/>
            <a:ext cx="2148840" cy="365760"/>
          </a:xfrm>
          <a:prstGeom prst="rect">
            <a:avLst/>
          </a:prstGeom>
          <a:noFill/>
          <a:ln/>
        </p:spPr>
        <p:txBody>
          <a:bodyPr wrap="square" lIns="254" tIns="254" rIns="254" bIns="254" rtlCol="0" anchor="ctr">
            <a:normAutofit/>
          </a:bodyPr>
          <a:lstStyle/>
          <a:p>
            <a:pPr marL="0" indent="0" algn="ctr">
              <a:buNone/>
            </a:pPr>
            <a:r>
              <a:rPr lang="en-US" sz="960" b="1" dirty="0">
                <a:solidFill>
                  <a:srgbClr val="000000"/>
                </a:solidFill>
                <a:latin typeface="Calibri" pitchFamily="34" charset="0"/>
                <a:ea typeface="Calibri" pitchFamily="34" charset="-122"/>
                <a:cs typeface="Calibri" pitchFamily="34" charset="-120"/>
              </a:rPr>
              <a:t>Our Best Model</a:t>
            </a:r>
            <a:endParaRPr lang="en-US" sz="960" dirty="0"/>
          </a:p>
        </p:txBody>
      </p:sp>
      <p:sp>
        <p:nvSpPr>
          <p:cNvPr id="11" name="Shape 9"/>
          <p:cNvSpPr/>
          <p:nvPr/>
        </p:nvSpPr>
        <p:spPr>
          <a:xfrm>
            <a:off x="384048" y="1719072"/>
            <a:ext cx="1325880" cy="566928"/>
          </a:xfrm>
          <a:prstGeom prst="rect">
            <a:avLst/>
          </a:prstGeom>
          <a:solidFill>
            <a:srgbClr val="F3F6FA"/>
          </a:solidFill>
          <a:ln w="12700">
            <a:solidFill>
              <a:srgbClr val="D9D9D9"/>
            </a:solidFill>
            <a:prstDash val="solid"/>
          </a:ln>
        </p:spPr>
        <p:txBody>
          <a:bodyPr/>
          <a:lstStyle/>
          <a:p>
            <a:endParaRPr lang="en-IN"/>
          </a:p>
        </p:txBody>
      </p:sp>
      <p:sp>
        <p:nvSpPr>
          <p:cNvPr id="12" name="Text 10"/>
          <p:cNvSpPr/>
          <p:nvPr/>
        </p:nvSpPr>
        <p:spPr>
          <a:xfrm>
            <a:off x="429768" y="1755648"/>
            <a:ext cx="1234440" cy="493776"/>
          </a:xfrm>
          <a:prstGeom prst="rect">
            <a:avLst/>
          </a:prstGeom>
          <a:noFill/>
          <a:ln/>
        </p:spPr>
        <p:txBody>
          <a:bodyPr wrap="square" lIns="254" tIns="254" rIns="254" bIns="254" rtlCol="0" anchor="ctr">
            <a:normAutofit/>
          </a:bodyPr>
          <a:lstStyle/>
          <a:p>
            <a:pPr marL="0" indent="0" algn="l">
              <a:buNone/>
            </a:pPr>
            <a:r>
              <a:rPr lang="en-US" sz="980" b="1" dirty="0">
                <a:solidFill>
                  <a:srgbClr val="000000"/>
                </a:solidFill>
                <a:latin typeface="Calibri" pitchFamily="34" charset="0"/>
                <a:ea typeface="Calibri" pitchFamily="34" charset="-122"/>
                <a:cs typeface="Calibri" pitchFamily="34" charset="-120"/>
              </a:rPr>
              <a:t>Dataset / Base</a:t>
            </a:r>
            <a:endParaRPr lang="en-US" sz="980" dirty="0"/>
          </a:p>
        </p:txBody>
      </p:sp>
      <p:sp>
        <p:nvSpPr>
          <p:cNvPr id="13" name="Shape 11"/>
          <p:cNvSpPr/>
          <p:nvPr/>
        </p:nvSpPr>
        <p:spPr>
          <a:xfrm>
            <a:off x="1709928" y="1719072"/>
            <a:ext cx="2240280" cy="566928"/>
          </a:xfrm>
          <a:prstGeom prst="rect">
            <a:avLst/>
          </a:prstGeom>
          <a:solidFill>
            <a:srgbClr val="FFFFFF"/>
          </a:solidFill>
          <a:ln w="12700">
            <a:solidFill>
              <a:srgbClr val="D9D9D9"/>
            </a:solidFill>
            <a:prstDash val="solid"/>
          </a:ln>
        </p:spPr>
        <p:txBody>
          <a:bodyPr/>
          <a:lstStyle/>
          <a:p>
            <a:endParaRPr lang="en-IN"/>
          </a:p>
        </p:txBody>
      </p:sp>
      <p:sp>
        <p:nvSpPr>
          <p:cNvPr id="14" name="Text 12"/>
          <p:cNvSpPr/>
          <p:nvPr/>
        </p:nvSpPr>
        <p:spPr>
          <a:xfrm>
            <a:off x="1755648" y="1755648"/>
            <a:ext cx="2148840" cy="493776"/>
          </a:xfrm>
          <a:prstGeom prst="rect">
            <a:avLst/>
          </a:prstGeom>
          <a:noFill/>
          <a:ln/>
        </p:spPr>
        <p:txBody>
          <a:bodyPr wrap="square" lIns="254" tIns="254" rIns="254" bIns="254" rtlCol="0" anchor="ctr">
            <a:normAutofit/>
          </a:bodyPr>
          <a:lstStyle/>
          <a:p>
            <a:pPr marL="0" indent="0" algn="ctr">
              <a:buNone/>
            </a:pPr>
            <a:r>
              <a:rPr lang="en-US" sz="980" dirty="0">
                <a:solidFill>
                  <a:srgbClr val="000000"/>
                </a:solidFill>
                <a:latin typeface="Calibri" pitchFamily="34" charset="0"/>
                <a:ea typeface="Calibri" pitchFamily="34" charset="-122"/>
                <a:cs typeface="Calibri" pitchFamily="34" charset="-120"/>
              </a:rPr>
              <a:t>Kaggle Bangalore restaurant reviews</a:t>
            </a:r>
            <a:endParaRPr lang="en-US" sz="980" dirty="0"/>
          </a:p>
        </p:txBody>
      </p:sp>
      <p:sp>
        <p:nvSpPr>
          <p:cNvPr id="15" name="Shape 13"/>
          <p:cNvSpPr/>
          <p:nvPr/>
        </p:nvSpPr>
        <p:spPr>
          <a:xfrm>
            <a:off x="3950208" y="1719072"/>
            <a:ext cx="2240280" cy="566928"/>
          </a:xfrm>
          <a:prstGeom prst="rect">
            <a:avLst/>
          </a:prstGeom>
          <a:solidFill>
            <a:srgbClr val="FFFFFF"/>
          </a:solidFill>
          <a:ln w="12700">
            <a:solidFill>
              <a:srgbClr val="D9D9D9"/>
            </a:solidFill>
            <a:prstDash val="solid"/>
          </a:ln>
        </p:spPr>
        <p:txBody>
          <a:bodyPr/>
          <a:lstStyle/>
          <a:p>
            <a:endParaRPr lang="en-IN"/>
          </a:p>
        </p:txBody>
      </p:sp>
      <p:sp>
        <p:nvSpPr>
          <p:cNvPr id="16" name="Text 14"/>
          <p:cNvSpPr/>
          <p:nvPr/>
        </p:nvSpPr>
        <p:spPr>
          <a:xfrm>
            <a:off x="3995928" y="1755648"/>
            <a:ext cx="2148840" cy="493776"/>
          </a:xfrm>
          <a:prstGeom prst="rect">
            <a:avLst/>
          </a:prstGeom>
          <a:noFill/>
          <a:ln/>
        </p:spPr>
        <p:txBody>
          <a:bodyPr wrap="square" lIns="254" tIns="254" rIns="254" bIns="254" rtlCol="0" anchor="ctr">
            <a:normAutofit/>
          </a:bodyPr>
          <a:lstStyle/>
          <a:p>
            <a:pPr marL="0" indent="0" algn="ctr">
              <a:buNone/>
            </a:pPr>
            <a:r>
              <a:rPr lang="en-US" sz="980" dirty="0">
                <a:solidFill>
                  <a:srgbClr val="000000"/>
                </a:solidFill>
                <a:latin typeface="Calibri" pitchFamily="34" charset="0"/>
                <a:ea typeface="Calibri" pitchFamily="34" charset="-122"/>
                <a:cs typeface="Calibri" pitchFamily="34" charset="-120"/>
              </a:rPr>
              <a:t>Zomato Google Play Store set</a:t>
            </a:r>
            <a:endParaRPr lang="en-US" sz="980" dirty="0"/>
          </a:p>
          <a:p>
            <a:pPr marL="0" indent="0" algn="ctr">
              <a:buNone/>
            </a:pPr>
            <a:r>
              <a:rPr lang="en-US" sz="980" dirty="0">
                <a:solidFill>
                  <a:srgbClr val="000000"/>
                </a:solidFill>
                <a:latin typeface="Calibri" pitchFamily="34" charset="0"/>
                <a:ea typeface="Calibri" pitchFamily="34" charset="-122"/>
                <a:cs typeface="Calibri" pitchFamily="34" charset="-120"/>
              </a:rPr>
              <a:t>(33,277 train / 8,320 test)</a:t>
            </a:r>
            <a:endParaRPr lang="en-US" sz="980" dirty="0"/>
          </a:p>
        </p:txBody>
      </p:sp>
      <p:sp>
        <p:nvSpPr>
          <p:cNvPr id="17" name="Shape 15"/>
          <p:cNvSpPr/>
          <p:nvPr/>
        </p:nvSpPr>
        <p:spPr>
          <a:xfrm>
            <a:off x="6190488" y="1719072"/>
            <a:ext cx="2240280" cy="566928"/>
          </a:xfrm>
          <a:prstGeom prst="rect">
            <a:avLst/>
          </a:prstGeom>
          <a:solidFill>
            <a:srgbClr val="FFFFFF"/>
          </a:solidFill>
          <a:ln w="12700">
            <a:solidFill>
              <a:srgbClr val="D9D9D9"/>
            </a:solidFill>
            <a:prstDash val="solid"/>
          </a:ln>
        </p:spPr>
        <p:txBody>
          <a:bodyPr/>
          <a:lstStyle/>
          <a:p>
            <a:endParaRPr lang="en-IN"/>
          </a:p>
        </p:txBody>
      </p:sp>
      <p:sp>
        <p:nvSpPr>
          <p:cNvPr id="18" name="Text 16"/>
          <p:cNvSpPr/>
          <p:nvPr/>
        </p:nvSpPr>
        <p:spPr>
          <a:xfrm>
            <a:off x="6236208" y="1755648"/>
            <a:ext cx="2148840" cy="493776"/>
          </a:xfrm>
          <a:prstGeom prst="rect">
            <a:avLst/>
          </a:prstGeom>
          <a:noFill/>
          <a:ln/>
        </p:spPr>
        <p:txBody>
          <a:bodyPr wrap="square" lIns="254" tIns="254" rIns="254" bIns="254" rtlCol="0" anchor="ctr">
            <a:normAutofit/>
          </a:bodyPr>
          <a:lstStyle/>
          <a:p>
            <a:pPr marL="0" indent="0" algn="ctr">
              <a:buNone/>
            </a:pPr>
            <a:r>
              <a:rPr lang="en-US" sz="980" dirty="0">
                <a:solidFill>
                  <a:srgbClr val="000000"/>
                </a:solidFill>
                <a:latin typeface="Calibri" pitchFamily="34" charset="0"/>
                <a:ea typeface="Calibri" pitchFamily="34" charset="-122"/>
                <a:cs typeface="Calibri" pitchFamily="34" charset="-120"/>
              </a:rPr>
              <a:t>Zomato Google Play Store set</a:t>
            </a:r>
            <a:endParaRPr lang="en-US" sz="980" dirty="0"/>
          </a:p>
          <a:p>
            <a:pPr marL="0" indent="0" algn="ctr">
              <a:buNone/>
            </a:pPr>
            <a:r>
              <a:rPr lang="en-US" sz="980" dirty="0">
                <a:solidFill>
                  <a:srgbClr val="000000"/>
                </a:solidFill>
                <a:latin typeface="Calibri" pitchFamily="34" charset="0"/>
                <a:ea typeface="Calibri" pitchFamily="34" charset="-122"/>
                <a:cs typeface="Calibri" pitchFamily="34" charset="-120"/>
              </a:rPr>
              <a:t>(33,277 train / 8,320 test)</a:t>
            </a:r>
            <a:endParaRPr lang="en-US" sz="980" dirty="0"/>
          </a:p>
        </p:txBody>
      </p:sp>
      <p:sp>
        <p:nvSpPr>
          <p:cNvPr id="19" name="Shape 17"/>
          <p:cNvSpPr/>
          <p:nvPr/>
        </p:nvSpPr>
        <p:spPr>
          <a:xfrm>
            <a:off x="384048" y="2286000"/>
            <a:ext cx="1325880" cy="475488"/>
          </a:xfrm>
          <a:prstGeom prst="rect">
            <a:avLst/>
          </a:prstGeom>
          <a:solidFill>
            <a:srgbClr val="F3F6FA"/>
          </a:solidFill>
          <a:ln w="12700">
            <a:solidFill>
              <a:srgbClr val="D9D9D9"/>
            </a:solidFill>
            <a:prstDash val="solid"/>
          </a:ln>
        </p:spPr>
        <p:txBody>
          <a:bodyPr/>
          <a:lstStyle/>
          <a:p>
            <a:endParaRPr lang="en-IN"/>
          </a:p>
        </p:txBody>
      </p:sp>
      <p:sp>
        <p:nvSpPr>
          <p:cNvPr id="20" name="Text 18"/>
          <p:cNvSpPr/>
          <p:nvPr/>
        </p:nvSpPr>
        <p:spPr>
          <a:xfrm>
            <a:off x="429768" y="2322576"/>
            <a:ext cx="1234440" cy="402336"/>
          </a:xfrm>
          <a:prstGeom prst="rect">
            <a:avLst/>
          </a:prstGeom>
          <a:noFill/>
          <a:ln/>
        </p:spPr>
        <p:txBody>
          <a:bodyPr wrap="square" lIns="254" tIns="254" rIns="254" bIns="254" rtlCol="0" anchor="ctr">
            <a:normAutofit/>
          </a:bodyPr>
          <a:lstStyle/>
          <a:p>
            <a:pPr marL="0" indent="0" algn="l">
              <a:buNone/>
            </a:pPr>
            <a:r>
              <a:rPr lang="en-US" sz="980" b="1" dirty="0">
                <a:solidFill>
                  <a:srgbClr val="000000"/>
                </a:solidFill>
                <a:latin typeface="Calibri" pitchFamily="34" charset="0"/>
                <a:ea typeface="Calibri" pitchFamily="34" charset="-122"/>
                <a:cs typeface="Calibri" pitchFamily="34" charset="-120"/>
              </a:rPr>
              <a:t>Model</a:t>
            </a:r>
            <a:endParaRPr lang="en-US" sz="980" dirty="0"/>
          </a:p>
        </p:txBody>
      </p:sp>
      <p:sp>
        <p:nvSpPr>
          <p:cNvPr id="21" name="Shape 19"/>
          <p:cNvSpPr/>
          <p:nvPr/>
        </p:nvSpPr>
        <p:spPr>
          <a:xfrm>
            <a:off x="1709928" y="2286000"/>
            <a:ext cx="2240280" cy="475488"/>
          </a:xfrm>
          <a:prstGeom prst="rect">
            <a:avLst/>
          </a:prstGeom>
          <a:solidFill>
            <a:srgbClr val="FFFFFF"/>
          </a:solidFill>
          <a:ln w="12700">
            <a:solidFill>
              <a:srgbClr val="D9D9D9"/>
            </a:solidFill>
            <a:prstDash val="solid"/>
          </a:ln>
        </p:spPr>
        <p:txBody>
          <a:bodyPr/>
          <a:lstStyle/>
          <a:p>
            <a:endParaRPr lang="en-IN"/>
          </a:p>
        </p:txBody>
      </p:sp>
      <p:sp>
        <p:nvSpPr>
          <p:cNvPr id="22" name="Text 20"/>
          <p:cNvSpPr/>
          <p:nvPr/>
        </p:nvSpPr>
        <p:spPr>
          <a:xfrm>
            <a:off x="1755648" y="2322576"/>
            <a:ext cx="2148840" cy="402336"/>
          </a:xfrm>
          <a:prstGeom prst="rect">
            <a:avLst/>
          </a:prstGeom>
          <a:noFill/>
          <a:ln/>
        </p:spPr>
        <p:txBody>
          <a:bodyPr wrap="square" lIns="254" tIns="254" rIns="254" bIns="254" rtlCol="0" anchor="ctr">
            <a:normAutofit/>
          </a:bodyPr>
          <a:lstStyle/>
          <a:p>
            <a:pPr marL="0" indent="0" algn="ctr">
              <a:buNone/>
            </a:pPr>
            <a:r>
              <a:rPr lang="en-US" sz="980" dirty="0">
                <a:solidFill>
                  <a:srgbClr val="000000"/>
                </a:solidFill>
                <a:latin typeface="Calibri" pitchFamily="34" charset="0"/>
                <a:ea typeface="Calibri" pitchFamily="34" charset="-122"/>
                <a:cs typeface="Calibri" pitchFamily="34" charset="-120"/>
              </a:rPr>
              <a:t>TF-IDF + Random Forest</a:t>
            </a:r>
            <a:endParaRPr lang="en-US" sz="980" dirty="0"/>
          </a:p>
        </p:txBody>
      </p:sp>
      <p:sp>
        <p:nvSpPr>
          <p:cNvPr id="23" name="Shape 21"/>
          <p:cNvSpPr/>
          <p:nvPr/>
        </p:nvSpPr>
        <p:spPr>
          <a:xfrm>
            <a:off x="3950208" y="2286000"/>
            <a:ext cx="2240280" cy="475488"/>
          </a:xfrm>
          <a:prstGeom prst="rect">
            <a:avLst/>
          </a:prstGeom>
          <a:solidFill>
            <a:srgbClr val="FFFFFF"/>
          </a:solidFill>
          <a:ln w="12700">
            <a:solidFill>
              <a:srgbClr val="D9D9D9"/>
            </a:solidFill>
            <a:prstDash val="solid"/>
          </a:ln>
        </p:spPr>
        <p:txBody>
          <a:bodyPr/>
          <a:lstStyle/>
          <a:p>
            <a:endParaRPr lang="en-IN"/>
          </a:p>
        </p:txBody>
      </p:sp>
      <p:sp>
        <p:nvSpPr>
          <p:cNvPr id="24" name="Text 22"/>
          <p:cNvSpPr/>
          <p:nvPr/>
        </p:nvSpPr>
        <p:spPr>
          <a:xfrm>
            <a:off x="3995928" y="2322576"/>
            <a:ext cx="2148840" cy="402336"/>
          </a:xfrm>
          <a:prstGeom prst="rect">
            <a:avLst/>
          </a:prstGeom>
          <a:noFill/>
          <a:ln/>
        </p:spPr>
        <p:txBody>
          <a:bodyPr wrap="square" lIns="254" tIns="254" rIns="254" bIns="254" rtlCol="0" anchor="ctr">
            <a:normAutofit/>
          </a:bodyPr>
          <a:lstStyle/>
          <a:p>
            <a:pPr marL="0" indent="0" algn="ctr">
              <a:buNone/>
            </a:pPr>
            <a:r>
              <a:rPr lang="en-US" sz="980" dirty="0">
                <a:solidFill>
                  <a:srgbClr val="000000"/>
                </a:solidFill>
                <a:latin typeface="Calibri" pitchFamily="34" charset="0"/>
                <a:ea typeface="Calibri" pitchFamily="34" charset="-122"/>
                <a:cs typeface="Calibri" pitchFamily="34" charset="-120"/>
              </a:rPr>
              <a:t>TF-IDF + Random Forest</a:t>
            </a:r>
            <a:endParaRPr lang="en-US" sz="980" dirty="0"/>
          </a:p>
        </p:txBody>
      </p:sp>
      <p:sp>
        <p:nvSpPr>
          <p:cNvPr id="25" name="Shape 23"/>
          <p:cNvSpPr/>
          <p:nvPr/>
        </p:nvSpPr>
        <p:spPr>
          <a:xfrm>
            <a:off x="6190488" y="2286000"/>
            <a:ext cx="2240280" cy="475488"/>
          </a:xfrm>
          <a:prstGeom prst="rect">
            <a:avLst/>
          </a:prstGeom>
          <a:solidFill>
            <a:srgbClr val="FFFFFF"/>
          </a:solidFill>
          <a:ln w="12700">
            <a:solidFill>
              <a:srgbClr val="D9D9D9"/>
            </a:solidFill>
            <a:prstDash val="solid"/>
          </a:ln>
        </p:spPr>
        <p:txBody>
          <a:bodyPr/>
          <a:lstStyle/>
          <a:p>
            <a:endParaRPr lang="en-IN"/>
          </a:p>
        </p:txBody>
      </p:sp>
      <p:sp>
        <p:nvSpPr>
          <p:cNvPr id="26" name="Text 24"/>
          <p:cNvSpPr/>
          <p:nvPr/>
        </p:nvSpPr>
        <p:spPr>
          <a:xfrm>
            <a:off x="6236208" y="2322576"/>
            <a:ext cx="2148840" cy="402336"/>
          </a:xfrm>
          <a:prstGeom prst="rect">
            <a:avLst/>
          </a:prstGeom>
          <a:noFill/>
          <a:ln/>
        </p:spPr>
        <p:txBody>
          <a:bodyPr wrap="square" lIns="254" tIns="254" rIns="254" bIns="254" rtlCol="0" anchor="ctr">
            <a:normAutofit/>
          </a:bodyPr>
          <a:lstStyle/>
          <a:p>
            <a:pPr marL="0" indent="0" algn="ctr">
              <a:buNone/>
            </a:pPr>
            <a:r>
              <a:rPr lang="en-US" sz="980" dirty="0">
                <a:solidFill>
                  <a:srgbClr val="000000"/>
                </a:solidFill>
                <a:latin typeface="Calibri" pitchFamily="34" charset="0"/>
                <a:ea typeface="Calibri" pitchFamily="34" charset="-122"/>
                <a:cs typeface="Calibri" pitchFamily="34" charset="-120"/>
              </a:rPr>
              <a:t>TF-IDF + Logistic Regression</a:t>
            </a:r>
            <a:endParaRPr lang="en-US" sz="980" dirty="0"/>
          </a:p>
        </p:txBody>
      </p:sp>
      <p:sp>
        <p:nvSpPr>
          <p:cNvPr id="27" name="Shape 25"/>
          <p:cNvSpPr/>
          <p:nvPr/>
        </p:nvSpPr>
        <p:spPr>
          <a:xfrm>
            <a:off x="384048" y="2761488"/>
            <a:ext cx="1325880" cy="475488"/>
          </a:xfrm>
          <a:prstGeom prst="rect">
            <a:avLst/>
          </a:prstGeom>
          <a:solidFill>
            <a:srgbClr val="F3F6FA"/>
          </a:solidFill>
          <a:ln w="12700">
            <a:solidFill>
              <a:srgbClr val="D9D9D9"/>
            </a:solidFill>
            <a:prstDash val="solid"/>
          </a:ln>
        </p:spPr>
        <p:txBody>
          <a:bodyPr/>
          <a:lstStyle/>
          <a:p>
            <a:endParaRPr lang="en-IN"/>
          </a:p>
        </p:txBody>
      </p:sp>
      <p:sp>
        <p:nvSpPr>
          <p:cNvPr id="28" name="Text 26"/>
          <p:cNvSpPr/>
          <p:nvPr/>
        </p:nvSpPr>
        <p:spPr>
          <a:xfrm>
            <a:off x="429768" y="2798064"/>
            <a:ext cx="1234440" cy="402336"/>
          </a:xfrm>
          <a:prstGeom prst="rect">
            <a:avLst/>
          </a:prstGeom>
          <a:noFill/>
          <a:ln/>
        </p:spPr>
        <p:txBody>
          <a:bodyPr wrap="square" lIns="254" tIns="254" rIns="254" bIns="254" rtlCol="0" anchor="ctr">
            <a:normAutofit/>
          </a:bodyPr>
          <a:lstStyle/>
          <a:p>
            <a:pPr marL="0" indent="0" algn="l">
              <a:buNone/>
            </a:pPr>
            <a:r>
              <a:rPr lang="en-US" sz="980" b="1" dirty="0">
                <a:solidFill>
                  <a:srgbClr val="000000"/>
                </a:solidFill>
                <a:latin typeface="Calibri" pitchFamily="34" charset="0"/>
                <a:ea typeface="Calibri" pitchFamily="34" charset="-122"/>
                <a:cs typeface="Calibri" pitchFamily="34" charset="-120"/>
              </a:rPr>
              <a:t>Accuracy</a:t>
            </a:r>
            <a:endParaRPr lang="en-US" sz="980" dirty="0"/>
          </a:p>
        </p:txBody>
      </p:sp>
      <p:sp>
        <p:nvSpPr>
          <p:cNvPr id="29" name="Shape 27"/>
          <p:cNvSpPr/>
          <p:nvPr/>
        </p:nvSpPr>
        <p:spPr>
          <a:xfrm>
            <a:off x="1709928" y="2761488"/>
            <a:ext cx="2240280" cy="475488"/>
          </a:xfrm>
          <a:prstGeom prst="rect">
            <a:avLst/>
          </a:prstGeom>
          <a:solidFill>
            <a:srgbClr val="FFFFFF"/>
          </a:solidFill>
          <a:ln w="12700">
            <a:solidFill>
              <a:srgbClr val="D9D9D9"/>
            </a:solidFill>
            <a:prstDash val="solid"/>
          </a:ln>
        </p:spPr>
        <p:txBody>
          <a:bodyPr/>
          <a:lstStyle/>
          <a:p>
            <a:endParaRPr lang="en-IN"/>
          </a:p>
        </p:txBody>
      </p:sp>
      <p:sp>
        <p:nvSpPr>
          <p:cNvPr id="30" name="Text 28"/>
          <p:cNvSpPr/>
          <p:nvPr/>
        </p:nvSpPr>
        <p:spPr>
          <a:xfrm>
            <a:off x="1755648" y="2798064"/>
            <a:ext cx="2148840" cy="402336"/>
          </a:xfrm>
          <a:prstGeom prst="rect">
            <a:avLst/>
          </a:prstGeom>
          <a:noFill/>
          <a:ln/>
        </p:spPr>
        <p:txBody>
          <a:bodyPr wrap="square" lIns="254" tIns="254" rIns="254" bIns="254" rtlCol="0" anchor="ctr">
            <a:normAutofit/>
          </a:bodyPr>
          <a:lstStyle/>
          <a:p>
            <a:pPr marL="0" indent="0" algn="ctr">
              <a:buNone/>
            </a:pPr>
            <a:r>
              <a:rPr lang="en-US" sz="980" dirty="0">
                <a:solidFill>
                  <a:srgbClr val="000000"/>
                </a:solidFill>
                <a:latin typeface="Calibri" pitchFamily="34" charset="0"/>
                <a:ea typeface="Calibri" pitchFamily="34" charset="-122"/>
                <a:cs typeface="Calibri" pitchFamily="34" charset="-120"/>
              </a:rPr>
              <a:t>92.44%</a:t>
            </a:r>
            <a:endParaRPr lang="en-US" sz="980" dirty="0"/>
          </a:p>
        </p:txBody>
      </p:sp>
      <p:sp>
        <p:nvSpPr>
          <p:cNvPr id="31" name="Shape 29"/>
          <p:cNvSpPr/>
          <p:nvPr/>
        </p:nvSpPr>
        <p:spPr>
          <a:xfrm>
            <a:off x="3950208" y="2761488"/>
            <a:ext cx="2240280" cy="475488"/>
          </a:xfrm>
          <a:prstGeom prst="rect">
            <a:avLst/>
          </a:prstGeom>
          <a:solidFill>
            <a:srgbClr val="FFFFFF"/>
          </a:solidFill>
          <a:ln w="12700">
            <a:solidFill>
              <a:srgbClr val="D9D9D9"/>
            </a:solidFill>
            <a:prstDash val="solid"/>
          </a:ln>
        </p:spPr>
        <p:txBody>
          <a:bodyPr/>
          <a:lstStyle/>
          <a:p>
            <a:endParaRPr lang="en-IN"/>
          </a:p>
        </p:txBody>
      </p:sp>
      <p:sp>
        <p:nvSpPr>
          <p:cNvPr id="32" name="Text 30"/>
          <p:cNvSpPr/>
          <p:nvPr/>
        </p:nvSpPr>
        <p:spPr>
          <a:xfrm>
            <a:off x="3995928" y="2798064"/>
            <a:ext cx="2148840" cy="402336"/>
          </a:xfrm>
          <a:prstGeom prst="rect">
            <a:avLst/>
          </a:prstGeom>
          <a:noFill/>
          <a:ln/>
        </p:spPr>
        <p:txBody>
          <a:bodyPr wrap="square" lIns="254" tIns="254" rIns="254" bIns="254" rtlCol="0" anchor="ctr">
            <a:normAutofit/>
          </a:bodyPr>
          <a:lstStyle/>
          <a:p>
            <a:pPr marL="0" indent="0" algn="ctr">
              <a:buNone/>
            </a:pPr>
            <a:r>
              <a:rPr lang="en-US" sz="980" dirty="0">
                <a:solidFill>
                  <a:srgbClr val="000000"/>
                </a:solidFill>
                <a:latin typeface="Calibri" pitchFamily="34" charset="0"/>
                <a:ea typeface="Calibri" pitchFamily="34" charset="-122"/>
                <a:cs typeface="Calibri" pitchFamily="34" charset="-120"/>
              </a:rPr>
              <a:t>88.58%</a:t>
            </a:r>
            <a:endParaRPr lang="en-US" sz="980" dirty="0"/>
          </a:p>
        </p:txBody>
      </p:sp>
      <p:sp>
        <p:nvSpPr>
          <p:cNvPr id="33" name="Shape 31"/>
          <p:cNvSpPr/>
          <p:nvPr/>
        </p:nvSpPr>
        <p:spPr>
          <a:xfrm>
            <a:off x="6190488" y="2761488"/>
            <a:ext cx="2240280" cy="475488"/>
          </a:xfrm>
          <a:prstGeom prst="rect">
            <a:avLst/>
          </a:prstGeom>
          <a:solidFill>
            <a:srgbClr val="FFFFFF"/>
          </a:solidFill>
          <a:ln w="12700">
            <a:solidFill>
              <a:srgbClr val="D9D9D9"/>
            </a:solidFill>
            <a:prstDash val="solid"/>
          </a:ln>
        </p:spPr>
        <p:txBody>
          <a:bodyPr/>
          <a:lstStyle/>
          <a:p>
            <a:endParaRPr lang="en-IN"/>
          </a:p>
        </p:txBody>
      </p:sp>
      <p:sp>
        <p:nvSpPr>
          <p:cNvPr id="34" name="Text 32"/>
          <p:cNvSpPr/>
          <p:nvPr/>
        </p:nvSpPr>
        <p:spPr>
          <a:xfrm>
            <a:off x="6236208" y="2798064"/>
            <a:ext cx="2148840" cy="402336"/>
          </a:xfrm>
          <a:prstGeom prst="rect">
            <a:avLst/>
          </a:prstGeom>
          <a:noFill/>
          <a:ln/>
        </p:spPr>
        <p:txBody>
          <a:bodyPr wrap="square" lIns="254" tIns="254" rIns="254" bIns="254" rtlCol="0" anchor="ctr">
            <a:normAutofit/>
          </a:bodyPr>
          <a:lstStyle/>
          <a:p>
            <a:pPr marL="0" indent="0" algn="ctr">
              <a:buNone/>
            </a:pPr>
            <a:r>
              <a:rPr lang="en-US" sz="980" dirty="0">
                <a:solidFill>
                  <a:srgbClr val="000000"/>
                </a:solidFill>
                <a:latin typeface="Calibri" pitchFamily="34" charset="0"/>
                <a:ea typeface="Calibri" pitchFamily="34" charset="-122"/>
                <a:cs typeface="Calibri" pitchFamily="34" charset="-120"/>
              </a:rPr>
              <a:t>90.17%</a:t>
            </a:r>
            <a:endParaRPr lang="en-US" sz="980" dirty="0"/>
          </a:p>
        </p:txBody>
      </p:sp>
      <p:sp>
        <p:nvSpPr>
          <p:cNvPr id="35" name="Shape 33"/>
          <p:cNvSpPr/>
          <p:nvPr/>
        </p:nvSpPr>
        <p:spPr>
          <a:xfrm>
            <a:off x="384048" y="3236976"/>
            <a:ext cx="1325880" cy="475488"/>
          </a:xfrm>
          <a:prstGeom prst="rect">
            <a:avLst/>
          </a:prstGeom>
          <a:solidFill>
            <a:srgbClr val="F3F6FA"/>
          </a:solidFill>
          <a:ln w="12700">
            <a:solidFill>
              <a:srgbClr val="D9D9D9"/>
            </a:solidFill>
            <a:prstDash val="solid"/>
          </a:ln>
        </p:spPr>
        <p:txBody>
          <a:bodyPr/>
          <a:lstStyle/>
          <a:p>
            <a:endParaRPr lang="en-IN"/>
          </a:p>
        </p:txBody>
      </p:sp>
      <p:sp>
        <p:nvSpPr>
          <p:cNvPr id="36" name="Text 34"/>
          <p:cNvSpPr/>
          <p:nvPr/>
        </p:nvSpPr>
        <p:spPr>
          <a:xfrm>
            <a:off x="429768" y="3273552"/>
            <a:ext cx="1234440" cy="402336"/>
          </a:xfrm>
          <a:prstGeom prst="rect">
            <a:avLst/>
          </a:prstGeom>
          <a:noFill/>
          <a:ln/>
        </p:spPr>
        <p:txBody>
          <a:bodyPr wrap="square" lIns="254" tIns="254" rIns="254" bIns="254" rtlCol="0" anchor="ctr">
            <a:normAutofit/>
          </a:bodyPr>
          <a:lstStyle/>
          <a:p>
            <a:pPr marL="0" indent="0" algn="l">
              <a:buNone/>
            </a:pPr>
            <a:r>
              <a:rPr lang="en-US" sz="980" b="1" dirty="0">
                <a:solidFill>
                  <a:srgbClr val="000000"/>
                </a:solidFill>
                <a:latin typeface="Calibri" pitchFamily="34" charset="0"/>
                <a:ea typeface="Calibri" pitchFamily="34" charset="-122"/>
                <a:cs typeface="Calibri" pitchFamily="34" charset="-120"/>
              </a:rPr>
              <a:t>Average Precision / Recall</a:t>
            </a:r>
            <a:endParaRPr lang="en-US" sz="980" dirty="0"/>
          </a:p>
        </p:txBody>
      </p:sp>
      <p:sp>
        <p:nvSpPr>
          <p:cNvPr id="37" name="Shape 35"/>
          <p:cNvSpPr/>
          <p:nvPr/>
        </p:nvSpPr>
        <p:spPr>
          <a:xfrm>
            <a:off x="1709928" y="3236976"/>
            <a:ext cx="2240280" cy="475488"/>
          </a:xfrm>
          <a:prstGeom prst="rect">
            <a:avLst/>
          </a:prstGeom>
          <a:solidFill>
            <a:srgbClr val="FFFFFF"/>
          </a:solidFill>
          <a:ln w="12700">
            <a:solidFill>
              <a:srgbClr val="D9D9D9"/>
            </a:solidFill>
            <a:prstDash val="solid"/>
          </a:ln>
        </p:spPr>
        <p:txBody>
          <a:bodyPr/>
          <a:lstStyle/>
          <a:p>
            <a:endParaRPr lang="en-IN"/>
          </a:p>
        </p:txBody>
      </p:sp>
      <p:sp>
        <p:nvSpPr>
          <p:cNvPr id="38" name="Text 36"/>
          <p:cNvSpPr/>
          <p:nvPr/>
        </p:nvSpPr>
        <p:spPr>
          <a:xfrm>
            <a:off x="1755648" y="3273552"/>
            <a:ext cx="2148840" cy="402336"/>
          </a:xfrm>
          <a:prstGeom prst="rect">
            <a:avLst/>
          </a:prstGeom>
          <a:noFill/>
          <a:ln/>
        </p:spPr>
        <p:txBody>
          <a:bodyPr wrap="square" lIns="254" tIns="254" rIns="254" bIns="254" rtlCol="0" anchor="ctr">
            <a:normAutofit/>
          </a:bodyPr>
          <a:lstStyle/>
          <a:p>
            <a:pPr marL="0" indent="0" algn="ctr">
              <a:buNone/>
            </a:pPr>
            <a:r>
              <a:rPr lang="en-US" sz="980" dirty="0">
                <a:solidFill>
                  <a:srgbClr val="000000"/>
                </a:solidFill>
                <a:latin typeface="Calibri" pitchFamily="34" charset="0"/>
                <a:ea typeface="Calibri" pitchFamily="34" charset="-122"/>
                <a:cs typeface="Calibri" pitchFamily="34" charset="-120"/>
              </a:rPr>
              <a:t>0.93 / 0.87</a:t>
            </a:r>
            <a:endParaRPr lang="en-US" sz="980" dirty="0"/>
          </a:p>
        </p:txBody>
      </p:sp>
      <p:sp>
        <p:nvSpPr>
          <p:cNvPr id="39" name="Shape 37"/>
          <p:cNvSpPr/>
          <p:nvPr/>
        </p:nvSpPr>
        <p:spPr>
          <a:xfrm>
            <a:off x="3950208" y="3236976"/>
            <a:ext cx="2240280" cy="475488"/>
          </a:xfrm>
          <a:prstGeom prst="rect">
            <a:avLst/>
          </a:prstGeom>
          <a:solidFill>
            <a:srgbClr val="FFFFFF"/>
          </a:solidFill>
          <a:ln w="12700">
            <a:solidFill>
              <a:srgbClr val="D9D9D9"/>
            </a:solidFill>
            <a:prstDash val="solid"/>
          </a:ln>
        </p:spPr>
        <p:txBody>
          <a:bodyPr/>
          <a:lstStyle/>
          <a:p>
            <a:endParaRPr lang="en-IN"/>
          </a:p>
        </p:txBody>
      </p:sp>
      <p:sp>
        <p:nvSpPr>
          <p:cNvPr id="40" name="Text 38"/>
          <p:cNvSpPr/>
          <p:nvPr/>
        </p:nvSpPr>
        <p:spPr>
          <a:xfrm>
            <a:off x="3995928" y="3273552"/>
            <a:ext cx="2148840" cy="402336"/>
          </a:xfrm>
          <a:prstGeom prst="rect">
            <a:avLst/>
          </a:prstGeom>
          <a:noFill/>
          <a:ln/>
        </p:spPr>
        <p:txBody>
          <a:bodyPr wrap="square" lIns="254" tIns="254" rIns="254" bIns="254" rtlCol="0" anchor="ctr">
            <a:normAutofit/>
          </a:bodyPr>
          <a:lstStyle/>
          <a:p>
            <a:pPr marL="0" indent="0" algn="ctr">
              <a:buNone/>
            </a:pPr>
            <a:r>
              <a:rPr lang="en-US" sz="980" dirty="0">
                <a:solidFill>
                  <a:srgbClr val="000000"/>
                </a:solidFill>
                <a:latin typeface="Calibri" pitchFamily="34" charset="0"/>
                <a:ea typeface="Calibri" pitchFamily="34" charset="-122"/>
                <a:cs typeface="Calibri" pitchFamily="34" charset="-120"/>
              </a:rPr>
              <a:t>0.6519 / 0.6135</a:t>
            </a:r>
            <a:endParaRPr lang="en-US" sz="980" dirty="0"/>
          </a:p>
        </p:txBody>
      </p:sp>
      <p:sp>
        <p:nvSpPr>
          <p:cNvPr id="41" name="Shape 39"/>
          <p:cNvSpPr/>
          <p:nvPr/>
        </p:nvSpPr>
        <p:spPr>
          <a:xfrm>
            <a:off x="6190488" y="3236976"/>
            <a:ext cx="2240280" cy="475488"/>
          </a:xfrm>
          <a:prstGeom prst="rect">
            <a:avLst/>
          </a:prstGeom>
          <a:solidFill>
            <a:srgbClr val="FFFFFF"/>
          </a:solidFill>
          <a:ln w="12700">
            <a:solidFill>
              <a:srgbClr val="D9D9D9"/>
            </a:solidFill>
            <a:prstDash val="solid"/>
          </a:ln>
        </p:spPr>
        <p:txBody>
          <a:bodyPr/>
          <a:lstStyle/>
          <a:p>
            <a:endParaRPr lang="en-IN"/>
          </a:p>
        </p:txBody>
      </p:sp>
      <p:sp>
        <p:nvSpPr>
          <p:cNvPr id="42" name="Text 40"/>
          <p:cNvSpPr/>
          <p:nvPr/>
        </p:nvSpPr>
        <p:spPr>
          <a:xfrm>
            <a:off x="6236208" y="3273552"/>
            <a:ext cx="2148840" cy="402336"/>
          </a:xfrm>
          <a:prstGeom prst="rect">
            <a:avLst/>
          </a:prstGeom>
          <a:noFill/>
          <a:ln/>
        </p:spPr>
        <p:txBody>
          <a:bodyPr wrap="square" lIns="254" tIns="254" rIns="254" bIns="254" rtlCol="0" anchor="ctr">
            <a:normAutofit/>
          </a:bodyPr>
          <a:lstStyle/>
          <a:p>
            <a:pPr marL="0" indent="0" algn="ctr">
              <a:buNone/>
            </a:pPr>
            <a:r>
              <a:rPr lang="en-US" sz="980" dirty="0">
                <a:solidFill>
                  <a:srgbClr val="000000"/>
                </a:solidFill>
                <a:latin typeface="Calibri" pitchFamily="34" charset="0"/>
                <a:ea typeface="Calibri" pitchFamily="34" charset="-122"/>
                <a:cs typeface="Calibri" pitchFamily="34" charset="-120"/>
              </a:rPr>
              <a:t>0.6771 / 0.6868</a:t>
            </a:r>
            <a:endParaRPr lang="en-US" sz="980" dirty="0"/>
          </a:p>
        </p:txBody>
      </p:sp>
      <p:sp>
        <p:nvSpPr>
          <p:cNvPr id="43" name="Shape 41"/>
          <p:cNvSpPr/>
          <p:nvPr/>
        </p:nvSpPr>
        <p:spPr>
          <a:xfrm>
            <a:off x="384048" y="3712464"/>
            <a:ext cx="1325880" cy="475488"/>
          </a:xfrm>
          <a:prstGeom prst="rect">
            <a:avLst/>
          </a:prstGeom>
          <a:solidFill>
            <a:srgbClr val="F3F6FA"/>
          </a:solidFill>
          <a:ln w="12700">
            <a:solidFill>
              <a:srgbClr val="D9D9D9"/>
            </a:solidFill>
            <a:prstDash val="solid"/>
          </a:ln>
        </p:spPr>
        <p:txBody>
          <a:bodyPr/>
          <a:lstStyle/>
          <a:p>
            <a:endParaRPr lang="en-IN"/>
          </a:p>
        </p:txBody>
      </p:sp>
      <p:sp>
        <p:nvSpPr>
          <p:cNvPr id="44" name="Text 42"/>
          <p:cNvSpPr/>
          <p:nvPr/>
        </p:nvSpPr>
        <p:spPr>
          <a:xfrm>
            <a:off x="429768" y="3749040"/>
            <a:ext cx="1234440" cy="402336"/>
          </a:xfrm>
          <a:prstGeom prst="rect">
            <a:avLst/>
          </a:prstGeom>
          <a:noFill/>
          <a:ln/>
        </p:spPr>
        <p:txBody>
          <a:bodyPr wrap="square" lIns="254" tIns="254" rIns="254" bIns="254" rtlCol="0" anchor="ctr">
            <a:normAutofit/>
          </a:bodyPr>
          <a:lstStyle/>
          <a:p>
            <a:pPr marL="0" indent="0" algn="l">
              <a:buNone/>
            </a:pPr>
            <a:r>
              <a:rPr lang="en-US" sz="980" b="1" dirty="0">
                <a:solidFill>
                  <a:srgbClr val="000000"/>
                </a:solidFill>
                <a:latin typeface="Calibri" pitchFamily="34" charset="0"/>
                <a:ea typeface="Calibri" pitchFamily="34" charset="-122"/>
                <a:cs typeface="Calibri" pitchFamily="34" charset="-120"/>
              </a:rPr>
              <a:t>Neutral Recall</a:t>
            </a:r>
            <a:endParaRPr lang="en-US" sz="980" dirty="0"/>
          </a:p>
        </p:txBody>
      </p:sp>
      <p:sp>
        <p:nvSpPr>
          <p:cNvPr id="45" name="Shape 43"/>
          <p:cNvSpPr/>
          <p:nvPr/>
        </p:nvSpPr>
        <p:spPr>
          <a:xfrm>
            <a:off x="1709928" y="3712464"/>
            <a:ext cx="2240280" cy="475488"/>
          </a:xfrm>
          <a:prstGeom prst="rect">
            <a:avLst/>
          </a:prstGeom>
          <a:solidFill>
            <a:srgbClr val="FFFFFF"/>
          </a:solidFill>
          <a:ln w="12700">
            <a:solidFill>
              <a:srgbClr val="D9D9D9"/>
            </a:solidFill>
            <a:prstDash val="solid"/>
          </a:ln>
        </p:spPr>
        <p:txBody>
          <a:bodyPr/>
          <a:lstStyle/>
          <a:p>
            <a:endParaRPr lang="en-IN"/>
          </a:p>
        </p:txBody>
      </p:sp>
      <p:sp>
        <p:nvSpPr>
          <p:cNvPr id="46" name="Text 44"/>
          <p:cNvSpPr/>
          <p:nvPr/>
        </p:nvSpPr>
        <p:spPr>
          <a:xfrm>
            <a:off x="1755648" y="3749040"/>
            <a:ext cx="2148840" cy="402336"/>
          </a:xfrm>
          <a:prstGeom prst="rect">
            <a:avLst/>
          </a:prstGeom>
          <a:noFill/>
          <a:ln/>
        </p:spPr>
        <p:txBody>
          <a:bodyPr wrap="square" lIns="254" tIns="254" rIns="254" bIns="254" rtlCol="0" anchor="ctr">
            <a:normAutofit/>
          </a:bodyPr>
          <a:lstStyle/>
          <a:p>
            <a:pPr marL="0" indent="0" algn="ctr">
              <a:buNone/>
            </a:pPr>
            <a:r>
              <a:rPr lang="en-US" sz="980" dirty="0">
                <a:solidFill>
                  <a:srgbClr val="000000"/>
                </a:solidFill>
                <a:latin typeface="Calibri" pitchFamily="34" charset="0"/>
                <a:ea typeface="Calibri" pitchFamily="34" charset="-122"/>
                <a:cs typeface="Calibri" pitchFamily="34" charset="-120"/>
              </a:rPr>
              <a:t>0.73</a:t>
            </a:r>
            <a:endParaRPr lang="en-US" sz="980" dirty="0"/>
          </a:p>
        </p:txBody>
      </p:sp>
      <p:sp>
        <p:nvSpPr>
          <p:cNvPr id="47" name="Shape 45"/>
          <p:cNvSpPr/>
          <p:nvPr/>
        </p:nvSpPr>
        <p:spPr>
          <a:xfrm>
            <a:off x="3950208" y="3712464"/>
            <a:ext cx="2240280" cy="475488"/>
          </a:xfrm>
          <a:prstGeom prst="rect">
            <a:avLst/>
          </a:prstGeom>
          <a:solidFill>
            <a:srgbClr val="FFFFFF"/>
          </a:solidFill>
          <a:ln w="12700">
            <a:solidFill>
              <a:srgbClr val="D9D9D9"/>
            </a:solidFill>
            <a:prstDash val="solid"/>
          </a:ln>
        </p:spPr>
        <p:txBody>
          <a:bodyPr/>
          <a:lstStyle/>
          <a:p>
            <a:endParaRPr lang="en-IN"/>
          </a:p>
        </p:txBody>
      </p:sp>
      <p:sp>
        <p:nvSpPr>
          <p:cNvPr id="48" name="Text 46"/>
          <p:cNvSpPr/>
          <p:nvPr/>
        </p:nvSpPr>
        <p:spPr>
          <a:xfrm>
            <a:off x="3995928" y="3749040"/>
            <a:ext cx="2148840" cy="402336"/>
          </a:xfrm>
          <a:prstGeom prst="rect">
            <a:avLst/>
          </a:prstGeom>
          <a:noFill/>
          <a:ln/>
        </p:spPr>
        <p:txBody>
          <a:bodyPr wrap="square" lIns="254" tIns="254" rIns="254" bIns="254" rtlCol="0" anchor="ctr">
            <a:normAutofit/>
          </a:bodyPr>
          <a:lstStyle/>
          <a:p>
            <a:pPr marL="0" indent="0" algn="ctr">
              <a:buNone/>
            </a:pPr>
            <a:r>
              <a:rPr lang="en-US" sz="980" dirty="0">
                <a:solidFill>
                  <a:srgbClr val="000000"/>
                </a:solidFill>
                <a:latin typeface="Calibri" pitchFamily="34" charset="0"/>
                <a:ea typeface="Calibri" pitchFamily="34" charset="-122"/>
                <a:cs typeface="Calibri" pitchFamily="34" charset="-120"/>
              </a:rPr>
              <a:t>0.0169</a:t>
            </a:r>
            <a:endParaRPr lang="en-US" sz="980" dirty="0"/>
          </a:p>
        </p:txBody>
      </p:sp>
      <p:sp>
        <p:nvSpPr>
          <p:cNvPr id="49" name="Shape 47"/>
          <p:cNvSpPr/>
          <p:nvPr/>
        </p:nvSpPr>
        <p:spPr>
          <a:xfrm>
            <a:off x="6190488" y="3712464"/>
            <a:ext cx="2240280" cy="475488"/>
          </a:xfrm>
          <a:prstGeom prst="rect">
            <a:avLst/>
          </a:prstGeom>
          <a:solidFill>
            <a:srgbClr val="FFFFFF"/>
          </a:solidFill>
          <a:ln w="12700">
            <a:solidFill>
              <a:srgbClr val="D9D9D9"/>
            </a:solidFill>
            <a:prstDash val="solid"/>
          </a:ln>
        </p:spPr>
        <p:txBody>
          <a:bodyPr/>
          <a:lstStyle/>
          <a:p>
            <a:endParaRPr lang="en-IN"/>
          </a:p>
        </p:txBody>
      </p:sp>
      <p:sp>
        <p:nvSpPr>
          <p:cNvPr id="50" name="Text 48"/>
          <p:cNvSpPr/>
          <p:nvPr/>
        </p:nvSpPr>
        <p:spPr>
          <a:xfrm>
            <a:off x="6236208" y="3749040"/>
            <a:ext cx="2148840" cy="402336"/>
          </a:xfrm>
          <a:prstGeom prst="rect">
            <a:avLst/>
          </a:prstGeom>
          <a:noFill/>
          <a:ln/>
        </p:spPr>
        <p:txBody>
          <a:bodyPr wrap="square" lIns="254" tIns="254" rIns="254" bIns="254" rtlCol="0" anchor="ctr">
            <a:normAutofit/>
          </a:bodyPr>
          <a:lstStyle/>
          <a:p>
            <a:pPr marL="0" indent="0" algn="ctr">
              <a:buNone/>
            </a:pPr>
            <a:r>
              <a:rPr lang="en-US" sz="980" dirty="0">
                <a:solidFill>
                  <a:srgbClr val="000000"/>
                </a:solidFill>
                <a:latin typeface="Calibri" pitchFamily="34" charset="0"/>
                <a:ea typeface="Calibri" pitchFamily="34" charset="-122"/>
                <a:cs typeface="Calibri" pitchFamily="34" charset="-120"/>
              </a:rPr>
              <a:t>0.2152</a:t>
            </a:r>
            <a:endParaRPr lang="en-US" sz="980" dirty="0"/>
          </a:p>
        </p:txBody>
      </p:sp>
      <p:sp>
        <p:nvSpPr>
          <p:cNvPr id="51" name="Text 49"/>
          <p:cNvSpPr/>
          <p:nvPr/>
        </p:nvSpPr>
        <p:spPr>
          <a:xfrm>
            <a:off x="475488" y="5240795"/>
            <a:ext cx="7726680" cy="402336"/>
          </a:xfrm>
          <a:prstGeom prst="rect">
            <a:avLst/>
          </a:prstGeom>
          <a:noFill/>
          <a:ln/>
        </p:spPr>
        <p:txBody>
          <a:bodyPr wrap="square" lIns="0" tIns="0" rIns="0" bIns="0" rtlCol="0" anchor="ctr">
            <a:normAutofit/>
          </a:bodyPr>
          <a:lstStyle/>
          <a:p>
            <a:pPr marL="0" indent="0" algn="l">
              <a:buNone/>
            </a:pPr>
            <a:r>
              <a:rPr lang="en-US" sz="1000" dirty="0">
                <a:solidFill>
                  <a:srgbClr val="000000"/>
                </a:solidFill>
                <a:latin typeface="Calibri" pitchFamily="34" charset="0"/>
                <a:ea typeface="Calibri" pitchFamily="34" charset="-122"/>
                <a:cs typeface="Calibri" pitchFamily="34" charset="-120"/>
              </a:rPr>
              <a:t>Takeaway: the published paper reports stronger Random Forest results on a different dataset, but on our Zomato Google Play data the tuned Logistic Regression model performs better than the recreated Random Forest benchmark.</a:t>
            </a:r>
            <a:endParaRPr lang="en-US" sz="1000" dirty="0"/>
          </a:p>
        </p:txBody>
      </p:sp>
      <p:sp>
        <p:nvSpPr>
          <p:cNvPr id="52" name="Text 50"/>
          <p:cNvSpPr/>
          <p:nvPr/>
        </p:nvSpPr>
        <p:spPr>
          <a:xfrm>
            <a:off x="475488" y="5632704"/>
            <a:ext cx="7909560" cy="493776"/>
          </a:xfrm>
          <a:prstGeom prst="rect">
            <a:avLst/>
          </a:prstGeom>
          <a:noFill/>
          <a:ln/>
        </p:spPr>
        <p:txBody>
          <a:bodyPr wrap="square" lIns="0" tIns="0" rIns="0" bIns="0" rtlCol="0" anchor="ctr"/>
          <a:lstStyle/>
          <a:p>
            <a:pPr marL="0" indent="0" algn="l">
              <a:buNone/>
            </a:pPr>
            <a:r>
              <a:rPr lang="en-US" sz="950" i="1" dirty="0">
                <a:solidFill>
                  <a:srgbClr val="666666"/>
                </a:solidFill>
                <a:latin typeface="Calibri" pitchFamily="34" charset="0"/>
                <a:ea typeface="Calibri" pitchFamily="34" charset="-122"/>
                <a:cs typeface="Calibri" pitchFamily="34" charset="-120"/>
              </a:rPr>
              <a:t>Note: this is a methodological comparison only. The paper and our project use different data sources and label construction, so the scores are not directly equivalent.</a:t>
            </a:r>
            <a:endParaRPr lang="en-US" sz="950" dirty="0"/>
          </a:p>
        </p:txBody>
      </p:sp>
      <p:sp>
        <p:nvSpPr>
          <p:cNvPr id="53" name="Text 51"/>
          <p:cNvSpPr/>
          <p:nvPr/>
        </p:nvSpPr>
        <p:spPr>
          <a:xfrm>
            <a:off x="2971800" y="6217920"/>
            <a:ext cx="3200400" cy="201168"/>
          </a:xfrm>
          <a:prstGeom prst="rect">
            <a:avLst/>
          </a:prstGeom>
          <a:noFill/>
          <a:ln/>
        </p:spPr>
        <p:txBody>
          <a:bodyPr wrap="square" lIns="0" tIns="0" rIns="0" bIns="0" rtlCol="0" anchor="ctr"/>
          <a:lstStyle/>
          <a:p>
            <a:pPr marL="0" indent="0" algn="ctr">
              <a:buNone/>
            </a:pPr>
            <a:r>
              <a:rPr lang="en-US" sz="1000" dirty="0">
                <a:solidFill>
                  <a:srgbClr val="4F81BD"/>
                </a:solidFill>
                <a:latin typeface="Calibri" pitchFamily="34" charset="0"/>
                <a:ea typeface="Calibri" pitchFamily="34" charset="-122"/>
                <a:cs typeface="Calibri" pitchFamily="34" charset="-120"/>
              </a:rPr>
              <a:t>VIT ONLINE MBA</a:t>
            </a:r>
            <a:endParaRPr lang="en-US" sz="1000" dirty="0"/>
          </a:p>
        </p:txBody>
      </p:sp>
      <p:sp>
        <p:nvSpPr>
          <p:cNvPr id="54" name="Text 52"/>
          <p:cNvSpPr/>
          <p:nvPr/>
        </p:nvSpPr>
        <p:spPr>
          <a:xfrm>
            <a:off x="164592" y="6419088"/>
            <a:ext cx="731520" cy="146304"/>
          </a:xfrm>
          <a:prstGeom prst="rect">
            <a:avLst/>
          </a:prstGeom>
          <a:noFill/>
          <a:ln/>
        </p:spPr>
        <p:txBody>
          <a:bodyPr wrap="square" lIns="0" tIns="0" rIns="0" bIns="0" rtlCol="0" anchor="ctr"/>
          <a:lstStyle/>
          <a:p>
            <a:pPr marL="0" indent="0">
              <a:buNone/>
            </a:pPr>
            <a:r>
              <a:rPr lang="en-US" sz="550" dirty="0">
                <a:solidFill>
                  <a:srgbClr val="666666"/>
                </a:solidFill>
                <a:latin typeface="Calibri" pitchFamily="34" charset="0"/>
                <a:ea typeface="Calibri" pitchFamily="34" charset="-122"/>
                <a:cs typeface="Calibri" pitchFamily="34" charset="-120"/>
              </a:rPr>
              <a:t>Slide 09</a:t>
            </a:r>
            <a:endParaRPr lang="en-US" sz="550" dirty="0"/>
          </a:p>
        </p:txBody>
      </p:sp>
      <p:sp>
        <p:nvSpPr>
          <p:cNvPr id="56" name="Shape 41">
            <a:extLst>
              <a:ext uri="{FF2B5EF4-FFF2-40B4-BE49-F238E27FC236}">
                <a16:creationId xmlns:a16="http://schemas.microsoft.com/office/drawing/2014/main" id="{5F988694-38FA-4FC0-8488-424722C11791}"/>
              </a:ext>
            </a:extLst>
          </p:cNvPr>
          <p:cNvSpPr/>
          <p:nvPr/>
        </p:nvSpPr>
        <p:spPr>
          <a:xfrm>
            <a:off x="384048" y="4197096"/>
            <a:ext cx="1325880" cy="475488"/>
          </a:xfrm>
          <a:prstGeom prst="rect">
            <a:avLst/>
          </a:prstGeom>
          <a:solidFill>
            <a:srgbClr val="F3F6FA"/>
          </a:solidFill>
          <a:ln w="12700">
            <a:solidFill>
              <a:srgbClr val="D9D9D9"/>
            </a:solidFill>
            <a:prstDash val="solid"/>
          </a:ln>
        </p:spPr>
        <p:txBody>
          <a:bodyPr/>
          <a:lstStyle/>
          <a:p>
            <a:endParaRPr lang="en-IN"/>
          </a:p>
        </p:txBody>
      </p:sp>
      <p:sp>
        <p:nvSpPr>
          <p:cNvPr id="58" name="Text 42">
            <a:extLst>
              <a:ext uri="{FF2B5EF4-FFF2-40B4-BE49-F238E27FC236}">
                <a16:creationId xmlns:a16="http://schemas.microsoft.com/office/drawing/2014/main" id="{67B9FA80-8B58-DBC1-D14E-9A47BD9B38E8}"/>
              </a:ext>
            </a:extLst>
          </p:cNvPr>
          <p:cNvSpPr/>
          <p:nvPr/>
        </p:nvSpPr>
        <p:spPr>
          <a:xfrm>
            <a:off x="429768" y="4233672"/>
            <a:ext cx="1234440" cy="402336"/>
          </a:xfrm>
          <a:prstGeom prst="rect">
            <a:avLst/>
          </a:prstGeom>
          <a:noFill/>
          <a:ln/>
        </p:spPr>
        <p:txBody>
          <a:bodyPr wrap="square" lIns="254" tIns="254" rIns="254" bIns="254" rtlCol="0" anchor="ctr">
            <a:normAutofit/>
          </a:bodyPr>
          <a:lstStyle/>
          <a:p>
            <a:pPr marL="0" indent="0" algn="l">
              <a:buNone/>
            </a:pPr>
            <a:r>
              <a:rPr lang="en-US" sz="980" b="1" dirty="0">
                <a:solidFill>
                  <a:srgbClr val="000000"/>
                </a:solidFill>
                <a:latin typeface="Calibri" pitchFamily="34" charset="0"/>
                <a:ea typeface="Calibri" pitchFamily="34" charset="-122"/>
                <a:cs typeface="Calibri" pitchFamily="34" charset="-120"/>
              </a:rPr>
              <a:t>Business Interpretation</a:t>
            </a:r>
            <a:endParaRPr lang="en-US" sz="980" dirty="0"/>
          </a:p>
        </p:txBody>
      </p:sp>
      <p:sp>
        <p:nvSpPr>
          <p:cNvPr id="60" name="Shape 43">
            <a:extLst>
              <a:ext uri="{FF2B5EF4-FFF2-40B4-BE49-F238E27FC236}">
                <a16:creationId xmlns:a16="http://schemas.microsoft.com/office/drawing/2014/main" id="{DBEB90A7-4785-9D63-7240-3180E87BEE9E}"/>
              </a:ext>
            </a:extLst>
          </p:cNvPr>
          <p:cNvSpPr/>
          <p:nvPr/>
        </p:nvSpPr>
        <p:spPr>
          <a:xfrm>
            <a:off x="1709928" y="4197096"/>
            <a:ext cx="2240280" cy="475488"/>
          </a:xfrm>
          <a:prstGeom prst="rect">
            <a:avLst/>
          </a:prstGeom>
          <a:solidFill>
            <a:srgbClr val="FFFFFF"/>
          </a:solidFill>
          <a:ln w="12700">
            <a:solidFill>
              <a:srgbClr val="D9D9D9"/>
            </a:solidFill>
            <a:prstDash val="solid"/>
          </a:ln>
        </p:spPr>
        <p:txBody>
          <a:bodyPr/>
          <a:lstStyle/>
          <a:p>
            <a:endParaRPr lang="en-IN" dirty="0"/>
          </a:p>
        </p:txBody>
      </p:sp>
      <p:sp>
        <p:nvSpPr>
          <p:cNvPr id="62" name="Text 44">
            <a:extLst>
              <a:ext uri="{FF2B5EF4-FFF2-40B4-BE49-F238E27FC236}">
                <a16:creationId xmlns:a16="http://schemas.microsoft.com/office/drawing/2014/main" id="{A679AE4E-2E09-4ADE-3993-1FDD5C475C74}"/>
              </a:ext>
            </a:extLst>
          </p:cNvPr>
          <p:cNvSpPr/>
          <p:nvPr/>
        </p:nvSpPr>
        <p:spPr>
          <a:xfrm>
            <a:off x="1755648" y="4233672"/>
            <a:ext cx="2148840" cy="402336"/>
          </a:xfrm>
          <a:prstGeom prst="rect">
            <a:avLst/>
          </a:prstGeom>
          <a:noFill/>
          <a:ln/>
        </p:spPr>
        <p:txBody>
          <a:bodyPr wrap="square" lIns="254" tIns="254" rIns="254" bIns="254" rtlCol="0" anchor="ctr">
            <a:normAutofit/>
          </a:bodyPr>
          <a:lstStyle/>
          <a:p>
            <a:pPr algn="ctr"/>
            <a:r>
              <a:rPr lang="en-US" sz="980" dirty="0">
                <a:solidFill>
                  <a:srgbClr val="000000"/>
                </a:solidFill>
                <a:latin typeface="Calibri" pitchFamily="34" charset="0"/>
                <a:ea typeface="Calibri" pitchFamily="34" charset="-122"/>
                <a:cs typeface="Calibri" pitchFamily="34" charset="-120"/>
              </a:rPr>
              <a:t>Limited</a:t>
            </a:r>
            <a:endParaRPr lang="en-US" sz="980" dirty="0"/>
          </a:p>
        </p:txBody>
      </p:sp>
      <p:sp>
        <p:nvSpPr>
          <p:cNvPr id="64" name="Shape 45">
            <a:extLst>
              <a:ext uri="{FF2B5EF4-FFF2-40B4-BE49-F238E27FC236}">
                <a16:creationId xmlns:a16="http://schemas.microsoft.com/office/drawing/2014/main" id="{637E5A71-78B9-3833-509D-1DE6B86931CB}"/>
              </a:ext>
            </a:extLst>
          </p:cNvPr>
          <p:cNvSpPr/>
          <p:nvPr/>
        </p:nvSpPr>
        <p:spPr>
          <a:xfrm>
            <a:off x="3950208" y="4197096"/>
            <a:ext cx="2240280" cy="475488"/>
          </a:xfrm>
          <a:prstGeom prst="rect">
            <a:avLst/>
          </a:prstGeom>
          <a:solidFill>
            <a:srgbClr val="FFFFFF"/>
          </a:solidFill>
          <a:ln w="12700">
            <a:solidFill>
              <a:srgbClr val="D9D9D9"/>
            </a:solidFill>
            <a:prstDash val="solid"/>
          </a:ln>
        </p:spPr>
        <p:txBody>
          <a:bodyPr/>
          <a:lstStyle/>
          <a:p>
            <a:endParaRPr lang="en-IN"/>
          </a:p>
        </p:txBody>
      </p:sp>
      <p:sp>
        <p:nvSpPr>
          <p:cNvPr id="66" name="Text 46">
            <a:extLst>
              <a:ext uri="{FF2B5EF4-FFF2-40B4-BE49-F238E27FC236}">
                <a16:creationId xmlns:a16="http://schemas.microsoft.com/office/drawing/2014/main" id="{DB0F72CF-8B7F-BE8B-C187-AE02E4873AD8}"/>
              </a:ext>
            </a:extLst>
          </p:cNvPr>
          <p:cNvSpPr/>
          <p:nvPr/>
        </p:nvSpPr>
        <p:spPr>
          <a:xfrm>
            <a:off x="3995928" y="4233672"/>
            <a:ext cx="2148840" cy="402336"/>
          </a:xfrm>
          <a:prstGeom prst="rect">
            <a:avLst/>
          </a:prstGeom>
          <a:noFill/>
          <a:ln/>
        </p:spPr>
        <p:txBody>
          <a:bodyPr wrap="square" lIns="254" tIns="254" rIns="254" bIns="254" rtlCol="0" anchor="ctr">
            <a:normAutofit/>
          </a:bodyPr>
          <a:lstStyle/>
          <a:p>
            <a:pPr marL="0" indent="0" algn="ctr">
              <a:buNone/>
            </a:pPr>
            <a:endParaRPr lang="en-US" sz="980" dirty="0"/>
          </a:p>
        </p:txBody>
      </p:sp>
      <p:sp>
        <p:nvSpPr>
          <p:cNvPr id="68" name="Shape 47">
            <a:extLst>
              <a:ext uri="{FF2B5EF4-FFF2-40B4-BE49-F238E27FC236}">
                <a16:creationId xmlns:a16="http://schemas.microsoft.com/office/drawing/2014/main" id="{DA858E8C-4752-4CF7-F302-C536F5248098}"/>
              </a:ext>
            </a:extLst>
          </p:cNvPr>
          <p:cNvSpPr/>
          <p:nvPr/>
        </p:nvSpPr>
        <p:spPr>
          <a:xfrm>
            <a:off x="6190488" y="4197096"/>
            <a:ext cx="2240280" cy="475488"/>
          </a:xfrm>
          <a:prstGeom prst="rect">
            <a:avLst/>
          </a:prstGeom>
          <a:solidFill>
            <a:srgbClr val="FFFFFF"/>
          </a:solidFill>
          <a:ln w="12700">
            <a:solidFill>
              <a:srgbClr val="D9D9D9"/>
            </a:solidFill>
            <a:prstDash val="solid"/>
          </a:ln>
        </p:spPr>
        <p:txBody>
          <a:bodyPr/>
          <a:lstStyle/>
          <a:p>
            <a:endParaRPr lang="en-IN" dirty="0"/>
          </a:p>
        </p:txBody>
      </p:sp>
      <p:sp>
        <p:nvSpPr>
          <p:cNvPr id="70" name="Text 48">
            <a:extLst>
              <a:ext uri="{FF2B5EF4-FFF2-40B4-BE49-F238E27FC236}">
                <a16:creationId xmlns:a16="http://schemas.microsoft.com/office/drawing/2014/main" id="{664BD473-9C96-C4D5-267D-3C4CE9254F65}"/>
              </a:ext>
            </a:extLst>
          </p:cNvPr>
          <p:cNvSpPr/>
          <p:nvPr/>
        </p:nvSpPr>
        <p:spPr>
          <a:xfrm>
            <a:off x="6236208" y="4233672"/>
            <a:ext cx="2148840" cy="402336"/>
          </a:xfrm>
          <a:prstGeom prst="rect">
            <a:avLst/>
          </a:prstGeom>
          <a:noFill/>
          <a:ln/>
        </p:spPr>
        <p:txBody>
          <a:bodyPr wrap="square" lIns="254" tIns="254" rIns="254" bIns="254" rtlCol="0" anchor="ctr">
            <a:normAutofit/>
          </a:bodyPr>
          <a:lstStyle/>
          <a:p>
            <a:pPr algn="ctr"/>
            <a:r>
              <a:rPr lang="en-US" sz="980" dirty="0">
                <a:solidFill>
                  <a:srgbClr val="000000"/>
                </a:solidFill>
                <a:latin typeface="Calibri" pitchFamily="34" charset="0"/>
                <a:ea typeface="Calibri" pitchFamily="34" charset="-122"/>
                <a:cs typeface="Calibri" pitchFamily="34" charset="-120"/>
              </a:rPr>
              <a:t>Strong, because it feeds theme summaries and gives dashboard outputs</a:t>
            </a:r>
            <a:endParaRPr lang="en-US" sz="9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Evaluation &amp; Comparison Explanation</a:t>
            </a:r>
            <a:endParaRPr lang="en-US" sz="2400" dirty="0"/>
          </a:p>
        </p:txBody>
      </p:sp>
      <p:sp>
        <p:nvSpPr>
          <p:cNvPr id="3" name="Shape 1"/>
          <p:cNvSpPr/>
          <p:nvPr/>
        </p:nvSpPr>
        <p:spPr>
          <a:xfrm>
            <a:off x="502920" y="1234440"/>
            <a:ext cx="1508760" cy="384048"/>
          </a:xfrm>
          <a:prstGeom prst="rect">
            <a:avLst/>
          </a:prstGeom>
          <a:solidFill>
            <a:srgbClr val="DCE6F1"/>
          </a:solidFill>
          <a:ln w="12700">
            <a:solidFill>
              <a:srgbClr val="B8CCE4"/>
            </a:solidFill>
            <a:prstDash val="solid"/>
          </a:ln>
        </p:spPr>
        <p:txBody>
          <a:bodyPr/>
          <a:lstStyle/>
          <a:p>
            <a:endParaRPr lang="en-IN"/>
          </a:p>
        </p:txBody>
      </p:sp>
      <p:sp>
        <p:nvSpPr>
          <p:cNvPr id="4" name="Text 2"/>
          <p:cNvSpPr/>
          <p:nvPr/>
        </p:nvSpPr>
        <p:spPr>
          <a:xfrm>
            <a:off x="548640" y="1271016"/>
            <a:ext cx="1417320" cy="310896"/>
          </a:xfrm>
          <a:prstGeom prst="rect">
            <a:avLst/>
          </a:prstGeom>
          <a:noFill/>
          <a:ln/>
        </p:spPr>
        <p:txBody>
          <a:bodyPr wrap="square" lIns="254" tIns="254" rIns="254" bIns="254" rtlCol="0" anchor="ctr">
            <a:normAutofit/>
          </a:bodyPr>
          <a:lstStyle/>
          <a:p>
            <a:pPr marL="0" indent="0" algn="ctr">
              <a:buNone/>
            </a:pPr>
            <a:r>
              <a:rPr lang="en-US" sz="1000" b="1" dirty="0">
                <a:solidFill>
                  <a:srgbClr val="000000"/>
                </a:solidFill>
                <a:latin typeface="Calibri" pitchFamily="34" charset="0"/>
                <a:ea typeface="Calibri" pitchFamily="34" charset="-122"/>
                <a:cs typeface="Calibri" pitchFamily="34" charset="-120"/>
              </a:rPr>
              <a:t>Aspect</a:t>
            </a:r>
            <a:endParaRPr lang="en-US" sz="1000" dirty="0"/>
          </a:p>
        </p:txBody>
      </p:sp>
      <p:sp>
        <p:nvSpPr>
          <p:cNvPr id="5" name="Shape 3"/>
          <p:cNvSpPr/>
          <p:nvPr/>
        </p:nvSpPr>
        <p:spPr>
          <a:xfrm>
            <a:off x="2011680" y="1234440"/>
            <a:ext cx="6126480" cy="384048"/>
          </a:xfrm>
          <a:prstGeom prst="rect">
            <a:avLst/>
          </a:prstGeom>
          <a:solidFill>
            <a:srgbClr val="DCE6F1"/>
          </a:solidFill>
          <a:ln w="12700">
            <a:solidFill>
              <a:srgbClr val="B8CCE4"/>
            </a:solidFill>
            <a:prstDash val="solid"/>
          </a:ln>
        </p:spPr>
        <p:txBody>
          <a:bodyPr/>
          <a:lstStyle/>
          <a:p>
            <a:endParaRPr lang="en-IN"/>
          </a:p>
        </p:txBody>
      </p:sp>
      <p:sp>
        <p:nvSpPr>
          <p:cNvPr id="6" name="Text 4"/>
          <p:cNvSpPr/>
          <p:nvPr/>
        </p:nvSpPr>
        <p:spPr>
          <a:xfrm>
            <a:off x="2057400" y="1271016"/>
            <a:ext cx="6035040" cy="310896"/>
          </a:xfrm>
          <a:prstGeom prst="rect">
            <a:avLst/>
          </a:prstGeom>
          <a:noFill/>
          <a:ln/>
        </p:spPr>
        <p:txBody>
          <a:bodyPr wrap="square" lIns="254" tIns="254" rIns="254" bIns="254" rtlCol="0" anchor="ctr">
            <a:normAutofit/>
          </a:bodyPr>
          <a:lstStyle/>
          <a:p>
            <a:pPr marL="0" indent="0" algn="ctr">
              <a:buNone/>
            </a:pPr>
            <a:r>
              <a:rPr lang="en-US" sz="1000" b="1" dirty="0">
                <a:solidFill>
                  <a:srgbClr val="000000"/>
                </a:solidFill>
                <a:latin typeface="Calibri" pitchFamily="34" charset="0"/>
                <a:ea typeface="Calibri" pitchFamily="34" charset="-122"/>
                <a:cs typeface="Calibri" pitchFamily="34" charset="-120"/>
              </a:rPr>
              <a:t>Tabular Explanation</a:t>
            </a:r>
            <a:endParaRPr lang="en-US" sz="1000" dirty="0"/>
          </a:p>
        </p:txBody>
      </p:sp>
      <p:sp>
        <p:nvSpPr>
          <p:cNvPr id="7" name="Shape 5"/>
          <p:cNvSpPr/>
          <p:nvPr/>
        </p:nvSpPr>
        <p:spPr>
          <a:xfrm>
            <a:off x="502920" y="1618488"/>
            <a:ext cx="1508760" cy="877824"/>
          </a:xfrm>
          <a:prstGeom prst="rect">
            <a:avLst/>
          </a:prstGeom>
          <a:solidFill>
            <a:srgbClr val="F3F6FA"/>
          </a:solidFill>
          <a:ln w="12700">
            <a:solidFill>
              <a:srgbClr val="D9D9D9"/>
            </a:solidFill>
            <a:prstDash val="solid"/>
          </a:ln>
        </p:spPr>
        <p:txBody>
          <a:bodyPr/>
          <a:lstStyle/>
          <a:p>
            <a:endParaRPr lang="en-IN"/>
          </a:p>
        </p:txBody>
      </p:sp>
      <p:sp>
        <p:nvSpPr>
          <p:cNvPr id="8" name="Text 6"/>
          <p:cNvSpPr/>
          <p:nvPr/>
        </p:nvSpPr>
        <p:spPr>
          <a:xfrm>
            <a:off x="548640" y="1655064"/>
            <a:ext cx="1417320" cy="804672"/>
          </a:xfrm>
          <a:prstGeom prst="rect">
            <a:avLst/>
          </a:prstGeom>
          <a:noFill/>
          <a:ln/>
        </p:spPr>
        <p:txBody>
          <a:bodyPr wrap="square" lIns="254" tIns="254" rIns="254" bIns="254" rtlCol="0" anchor="ctr">
            <a:normAutofit/>
          </a:bodyPr>
          <a:lstStyle/>
          <a:p>
            <a:pPr marL="0" indent="0" algn="l">
              <a:buNone/>
            </a:pPr>
            <a:r>
              <a:rPr lang="en-US" sz="960" b="1" dirty="0">
                <a:solidFill>
                  <a:srgbClr val="000000"/>
                </a:solidFill>
                <a:latin typeface="Calibri" pitchFamily="34" charset="0"/>
                <a:ea typeface="Calibri" pitchFamily="34" charset="-122"/>
                <a:cs typeface="Calibri" pitchFamily="34" charset="-120"/>
              </a:rPr>
              <a:t>Data Source</a:t>
            </a:r>
            <a:endParaRPr lang="en-US" sz="960" dirty="0"/>
          </a:p>
        </p:txBody>
      </p:sp>
      <p:sp>
        <p:nvSpPr>
          <p:cNvPr id="9" name="Shape 7"/>
          <p:cNvSpPr/>
          <p:nvPr/>
        </p:nvSpPr>
        <p:spPr>
          <a:xfrm>
            <a:off x="2011680" y="1618488"/>
            <a:ext cx="6126480" cy="877824"/>
          </a:xfrm>
          <a:prstGeom prst="rect">
            <a:avLst/>
          </a:prstGeom>
          <a:solidFill>
            <a:srgbClr val="FFFFFF"/>
          </a:solidFill>
          <a:ln w="12700">
            <a:solidFill>
              <a:srgbClr val="D9D9D9"/>
            </a:solidFill>
            <a:prstDash val="solid"/>
          </a:ln>
        </p:spPr>
        <p:txBody>
          <a:bodyPr/>
          <a:lstStyle/>
          <a:p>
            <a:endParaRPr lang="en-IN"/>
          </a:p>
        </p:txBody>
      </p:sp>
      <p:sp>
        <p:nvSpPr>
          <p:cNvPr id="10" name="Text 8"/>
          <p:cNvSpPr/>
          <p:nvPr/>
        </p:nvSpPr>
        <p:spPr>
          <a:xfrm>
            <a:off x="2057400" y="1655064"/>
            <a:ext cx="6035040" cy="804672"/>
          </a:xfrm>
          <a:prstGeom prst="rect">
            <a:avLst/>
          </a:prstGeom>
          <a:noFill/>
          <a:ln/>
        </p:spPr>
        <p:txBody>
          <a:bodyPr wrap="square" lIns="254" tIns="254" rIns="254" bIns="254" rtlCol="0" anchor="ctr">
            <a:normAutofit/>
          </a:bodyPr>
          <a:lstStyle/>
          <a:p>
            <a:pPr marL="0" indent="0" algn="l">
              <a:buNone/>
            </a:pPr>
            <a:r>
              <a:rPr lang="en-US" sz="940" dirty="0">
                <a:solidFill>
                  <a:srgbClr val="000000"/>
                </a:solidFill>
                <a:latin typeface="Calibri" pitchFamily="34" charset="0"/>
                <a:ea typeface="Calibri" pitchFamily="34" charset="-122"/>
                <a:cs typeface="Calibri" pitchFamily="34" charset="-120"/>
              </a:rPr>
              <a:t>Jonathan et al. (2019) used Kaggle Bangalore restaurant reviews, while our project uses Google Play Store reviews for Zomato only. This means the comparison is useful for positioning, not for exact one-to-one replication.</a:t>
            </a:r>
            <a:endParaRPr lang="en-US" sz="940" dirty="0"/>
          </a:p>
        </p:txBody>
      </p:sp>
      <p:sp>
        <p:nvSpPr>
          <p:cNvPr id="11" name="Shape 9"/>
          <p:cNvSpPr/>
          <p:nvPr/>
        </p:nvSpPr>
        <p:spPr>
          <a:xfrm>
            <a:off x="502920" y="2496312"/>
            <a:ext cx="1508760" cy="877824"/>
          </a:xfrm>
          <a:prstGeom prst="rect">
            <a:avLst/>
          </a:prstGeom>
          <a:solidFill>
            <a:srgbClr val="F3F6FA"/>
          </a:solidFill>
          <a:ln w="12700">
            <a:solidFill>
              <a:srgbClr val="D9D9D9"/>
            </a:solidFill>
            <a:prstDash val="solid"/>
          </a:ln>
        </p:spPr>
        <p:txBody>
          <a:bodyPr/>
          <a:lstStyle/>
          <a:p>
            <a:endParaRPr lang="en-IN"/>
          </a:p>
        </p:txBody>
      </p:sp>
      <p:sp>
        <p:nvSpPr>
          <p:cNvPr id="12" name="Text 10"/>
          <p:cNvSpPr/>
          <p:nvPr/>
        </p:nvSpPr>
        <p:spPr>
          <a:xfrm>
            <a:off x="548640" y="2532888"/>
            <a:ext cx="1417320" cy="804672"/>
          </a:xfrm>
          <a:prstGeom prst="rect">
            <a:avLst/>
          </a:prstGeom>
          <a:noFill/>
          <a:ln/>
        </p:spPr>
        <p:txBody>
          <a:bodyPr wrap="square" lIns="254" tIns="254" rIns="254" bIns="254" rtlCol="0" anchor="ctr">
            <a:normAutofit/>
          </a:bodyPr>
          <a:lstStyle/>
          <a:p>
            <a:pPr marL="0" indent="0" algn="l">
              <a:buNone/>
            </a:pPr>
            <a:r>
              <a:rPr lang="en-US" sz="960" b="1" dirty="0">
                <a:solidFill>
                  <a:srgbClr val="000000"/>
                </a:solidFill>
                <a:latin typeface="Calibri" pitchFamily="34" charset="0"/>
                <a:ea typeface="Calibri" pitchFamily="34" charset="-122"/>
                <a:cs typeface="Calibri" pitchFamily="34" charset="-120"/>
              </a:rPr>
              <a:t>Model Result</a:t>
            </a:r>
            <a:endParaRPr lang="en-US" sz="960" dirty="0"/>
          </a:p>
        </p:txBody>
      </p:sp>
      <p:sp>
        <p:nvSpPr>
          <p:cNvPr id="13" name="Shape 11"/>
          <p:cNvSpPr/>
          <p:nvPr/>
        </p:nvSpPr>
        <p:spPr>
          <a:xfrm>
            <a:off x="2011680" y="2496312"/>
            <a:ext cx="6126480" cy="877824"/>
          </a:xfrm>
          <a:prstGeom prst="rect">
            <a:avLst/>
          </a:prstGeom>
          <a:solidFill>
            <a:srgbClr val="FFFFFF"/>
          </a:solidFill>
          <a:ln w="12700">
            <a:solidFill>
              <a:srgbClr val="D9D9D9"/>
            </a:solidFill>
            <a:prstDash val="solid"/>
          </a:ln>
        </p:spPr>
        <p:txBody>
          <a:bodyPr/>
          <a:lstStyle/>
          <a:p>
            <a:endParaRPr lang="en-IN"/>
          </a:p>
        </p:txBody>
      </p:sp>
      <p:sp>
        <p:nvSpPr>
          <p:cNvPr id="14" name="Text 12"/>
          <p:cNvSpPr/>
          <p:nvPr/>
        </p:nvSpPr>
        <p:spPr>
          <a:xfrm>
            <a:off x="2057400" y="2532888"/>
            <a:ext cx="6035040" cy="804672"/>
          </a:xfrm>
          <a:prstGeom prst="rect">
            <a:avLst/>
          </a:prstGeom>
          <a:noFill/>
          <a:ln/>
        </p:spPr>
        <p:txBody>
          <a:bodyPr wrap="square" lIns="254" tIns="254" rIns="254" bIns="254" rtlCol="0" anchor="ctr">
            <a:normAutofit/>
          </a:bodyPr>
          <a:lstStyle/>
          <a:p>
            <a:pPr marL="0" indent="0" algn="l">
              <a:buNone/>
            </a:pPr>
            <a:r>
              <a:rPr lang="en-US" sz="940" dirty="0">
                <a:solidFill>
                  <a:srgbClr val="000000"/>
                </a:solidFill>
                <a:latin typeface="Calibri" pitchFamily="34" charset="0"/>
                <a:ea typeface="Calibri" pitchFamily="34" charset="-122"/>
                <a:cs typeface="Calibri" pitchFamily="34" charset="-120"/>
              </a:rPr>
              <a:t>The paper reports 92.44% Random Forest accuracy, but when we recreate a Random Forest-style benchmark on our own data it drops to 88.58%. Our tuned TF-IDF + Logistic Regression model improves that to 90.17% on the same split.</a:t>
            </a:r>
            <a:endParaRPr lang="en-US" sz="940" dirty="0"/>
          </a:p>
        </p:txBody>
      </p:sp>
      <p:sp>
        <p:nvSpPr>
          <p:cNvPr id="15" name="Shape 13"/>
          <p:cNvSpPr/>
          <p:nvPr/>
        </p:nvSpPr>
        <p:spPr>
          <a:xfrm>
            <a:off x="502920" y="3374136"/>
            <a:ext cx="1508760" cy="877824"/>
          </a:xfrm>
          <a:prstGeom prst="rect">
            <a:avLst/>
          </a:prstGeom>
          <a:solidFill>
            <a:srgbClr val="F3F6FA"/>
          </a:solidFill>
          <a:ln w="12700">
            <a:solidFill>
              <a:srgbClr val="D9D9D9"/>
            </a:solidFill>
            <a:prstDash val="solid"/>
          </a:ln>
        </p:spPr>
        <p:txBody>
          <a:bodyPr/>
          <a:lstStyle/>
          <a:p>
            <a:endParaRPr lang="en-IN"/>
          </a:p>
        </p:txBody>
      </p:sp>
      <p:sp>
        <p:nvSpPr>
          <p:cNvPr id="16" name="Text 14"/>
          <p:cNvSpPr/>
          <p:nvPr/>
        </p:nvSpPr>
        <p:spPr>
          <a:xfrm>
            <a:off x="548640" y="3410712"/>
            <a:ext cx="1417320" cy="804672"/>
          </a:xfrm>
          <a:prstGeom prst="rect">
            <a:avLst/>
          </a:prstGeom>
          <a:noFill/>
          <a:ln/>
        </p:spPr>
        <p:txBody>
          <a:bodyPr wrap="square" lIns="254" tIns="254" rIns="254" bIns="254" rtlCol="0" anchor="ctr">
            <a:normAutofit/>
          </a:bodyPr>
          <a:lstStyle/>
          <a:p>
            <a:pPr marL="0" indent="0" algn="l">
              <a:buNone/>
            </a:pPr>
            <a:r>
              <a:rPr lang="en-US" sz="960" b="1" dirty="0">
                <a:solidFill>
                  <a:srgbClr val="000000"/>
                </a:solidFill>
                <a:latin typeface="Calibri" pitchFamily="34" charset="0"/>
                <a:ea typeface="Calibri" pitchFamily="34" charset="-122"/>
                <a:cs typeface="Calibri" pitchFamily="34" charset="-120"/>
              </a:rPr>
              <a:t>Class Insight</a:t>
            </a:r>
            <a:endParaRPr lang="en-US" sz="960" dirty="0"/>
          </a:p>
        </p:txBody>
      </p:sp>
      <p:sp>
        <p:nvSpPr>
          <p:cNvPr id="17" name="Shape 15"/>
          <p:cNvSpPr/>
          <p:nvPr/>
        </p:nvSpPr>
        <p:spPr>
          <a:xfrm>
            <a:off x="2011680" y="3374136"/>
            <a:ext cx="6126480" cy="877824"/>
          </a:xfrm>
          <a:prstGeom prst="rect">
            <a:avLst/>
          </a:prstGeom>
          <a:solidFill>
            <a:srgbClr val="FFFFFF"/>
          </a:solidFill>
          <a:ln w="12700">
            <a:solidFill>
              <a:srgbClr val="D9D9D9"/>
            </a:solidFill>
            <a:prstDash val="solid"/>
          </a:ln>
        </p:spPr>
        <p:txBody>
          <a:bodyPr/>
          <a:lstStyle/>
          <a:p>
            <a:endParaRPr lang="en-IN"/>
          </a:p>
        </p:txBody>
      </p:sp>
      <p:sp>
        <p:nvSpPr>
          <p:cNvPr id="18" name="Text 16"/>
          <p:cNvSpPr/>
          <p:nvPr/>
        </p:nvSpPr>
        <p:spPr>
          <a:xfrm>
            <a:off x="2057400" y="3410712"/>
            <a:ext cx="6035040" cy="804672"/>
          </a:xfrm>
          <a:prstGeom prst="rect">
            <a:avLst/>
          </a:prstGeom>
          <a:noFill/>
          <a:ln/>
        </p:spPr>
        <p:txBody>
          <a:bodyPr wrap="square" lIns="254" tIns="254" rIns="254" bIns="254" rtlCol="0" anchor="ctr">
            <a:normAutofit/>
          </a:bodyPr>
          <a:lstStyle/>
          <a:p>
            <a:pPr marL="0" indent="0" algn="l">
              <a:buNone/>
            </a:pPr>
            <a:r>
              <a:rPr lang="en-US" sz="940" dirty="0">
                <a:solidFill>
                  <a:srgbClr val="000000"/>
                </a:solidFill>
                <a:latin typeface="Calibri" pitchFamily="34" charset="0"/>
                <a:ea typeface="Calibri" pitchFamily="34" charset="-122"/>
                <a:cs typeface="Calibri" pitchFamily="34" charset="-120"/>
              </a:rPr>
              <a:t>Neutral sentiment remains the hardest class in our dataset. Neutral recall falls sharply for recreated Random Forest and improves under Logistic Regression, showing that the best model handles mixed reviews more effectively.</a:t>
            </a:r>
            <a:endParaRPr lang="en-US" sz="940" dirty="0"/>
          </a:p>
        </p:txBody>
      </p:sp>
      <p:sp>
        <p:nvSpPr>
          <p:cNvPr id="23" name="Text 21"/>
          <p:cNvSpPr/>
          <p:nvPr/>
        </p:nvSpPr>
        <p:spPr>
          <a:xfrm>
            <a:off x="548640" y="5257800"/>
            <a:ext cx="7498080" cy="438912"/>
          </a:xfrm>
          <a:prstGeom prst="rect">
            <a:avLst/>
          </a:prstGeom>
          <a:noFill/>
          <a:ln/>
        </p:spPr>
        <p:txBody>
          <a:bodyPr wrap="square" lIns="0" tIns="0" rIns="0" bIns="0" rtlCol="0" anchor="ctr">
            <a:normAutofit/>
          </a:bodyPr>
          <a:lstStyle/>
          <a:p>
            <a:pPr marL="0" indent="0">
              <a:buNone/>
            </a:pPr>
            <a:r>
              <a:rPr lang="en-US" sz="980" i="1" dirty="0">
                <a:solidFill>
                  <a:srgbClr val="666666"/>
                </a:solidFill>
                <a:latin typeface="Calibri" pitchFamily="34" charset="0"/>
                <a:ea typeface="Calibri" pitchFamily="34" charset="-122"/>
                <a:cs typeface="Calibri" pitchFamily="34" charset="-120"/>
              </a:rPr>
              <a:t>This slide can be explained verbally as: the paper gives a benchmark, our recreated Random Forest gives a fair local baseline, and our tuned Logistic Regression gives the best performance for the actual Zomato dataset.</a:t>
            </a:r>
            <a:endParaRPr lang="en-US" sz="980" dirty="0"/>
          </a:p>
        </p:txBody>
      </p:sp>
      <p:sp>
        <p:nvSpPr>
          <p:cNvPr id="24" name="Text 22"/>
          <p:cNvSpPr/>
          <p:nvPr/>
        </p:nvSpPr>
        <p:spPr>
          <a:xfrm>
            <a:off x="2971800" y="6217920"/>
            <a:ext cx="3200400" cy="201168"/>
          </a:xfrm>
          <a:prstGeom prst="rect">
            <a:avLst/>
          </a:prstGeom>
          <a:noFill/>
          <a:ln/>
        </p:spPr>
        <p:txBody>
          <a:bodyPr wrap="square" lIns="0" tIns="0" rIns="0" bIns="0" rtlCol="0" anchor="ctr"/>
          <a:lstStyle/>
          <a:p>
            <a:pPr marL="0" indent="0" algn="ctr">
              <a:buNone/>
            </a:pPr>
            <a:r>
              <a:rPr lang="en-US" sz="1000" dirty="0">
                <a:solidFill>
                  <a:srgbClr val="4F81BD"/>
                </a:solidFill>
                <a:latin typeface="Calibri" pitchFamily="34" charset="0"/>
                <a:ea typeface="Calibri" pitchFamily="34" charset="-122"/>
                <a:cs typeface="Calibri" pitchFamily="34" charset="-120"/>
              </a:rPr>
              <a:t>VIT ONLINE MBA</a:t>
            </a:r>
            <a:endParaRPr lang="en-US" sz="1000" dirty="0"/>
          </a:p>
        </p:txBody>
      </p:sp>
      <p:sp>
        <p:nvSpPr>
          <p:cNvPr id="25" name="Text 23"/>
          <p:cNvSpPr/>
          <p:nvPr/>
        </p:nvSpPr>
        <p:spPr>
          <a:xfrm>
            <a:off x="164592" y="6419088"/>
            <a:ext cx="731520" cy="146304"/>
          </a:xfrm>
          <a:prstGeom prst="rect">
            <a:avLst/>
          </a:prstGeom>
          <a:noFill/>
          <a:ln/>
        </p:spPr>
        <p:txBody>
          <a:bodyPr wrap="square" lIns="0" tIns="0" rIns="0" bIns="0" rtlCol="0" anchor="ctr"/>
          <a:lstStyle/>
          <a:p>
            <a:pPr marL="0" indent="0">
              <a:buNone/>
            </a:pPr>
            <a:r>
              <a:rPr lang="en-US" sz="550" dirty="0">
                <a:solidFill>
                  <a:srgbClr val="666666"/>
                </a:solidFill>
                <a:latin typeface="Calibri" pitchFamily="34" charset="0"/>
                <a:ea typeface="Calibri" pitchFamily="34" charset="-122"/>
                <a:cs typeface="Calibri" pitchFamily="34" charset="-120"/>
              </a:rPr>
              <a:t>Slide 10</a:t>
            </a:r>
            <a:endParaRPr lang="en-US" sz="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marL="0" indent="0" algn="ctr">
              <a:buNone/>
            </a:pPr>
            <a:r>
              <a:rPr lang="en-US" sz="2400" dirty="0">
                <a:solidFill>
                  <a:srgbClr val="000000"/>
                </a:solidFill>
                <a:latin typeface="Calibri" pitchFamily="34" charset="0"/>
                <a:ea typeface="Calibri" pitchFamily="34" charset="-122"/>
                <a:cs typeface="Calibri" pitchFamily="34" charset="-120"/>
              </a:rPr>
              <a:t>Relevance with Objectives</a:t>
            </a:r>
            <a:endParaRPr lang="en-US" sz="2400" dirty="0"/>
          </a:p>
        </p:txBody>
      </p:sp>
      <p:sp>
        <p:nvSpPr>
          <p:cNvPr id="3" name="Text 1"/>
          <p:cNvSpPr/>
          <p:nvPr/>
        </p:nvSpPr>
        <p:spPr>
          <a:xfrm>
            <a:off x="768096" y="1371600"/>
            <a:ext cx="7452360" cy="4937760"/>
          </a:xfrm>
          <a:prstGeom prst="rect">
            <a:avLst/>
          </a:prstGeom>
          <a:noFill/>
          <a:ln/>
        </p:spPr>
        <p:txBody>
          <a:bodyPr wrap="square" lIns="635" tIns="635" rIns="635" bIns="635" rtlCol="0" anchor="t"/>
          <a:lstStyle/>
          <a:p>
            <a:pPr marL="0" indent="0">
              <a:buNone/>
            </a:pPr>
            <a:r>
              <a:rPr lang="en-US" sz="1540" dirty="0">
                <a:solidFill>
                  <a:srgbClr val="000000"/>
                </a:solidFill>
                <a:latin typeface="Calibri" pitchFamily="34" charset="0"/>
                <a:ea typeface="Calibri" pitchFamily="34" charset="-122"/>
                <a:cs typeface="Calibri" pitchFamily="34" charset="-120"/>
              </a:rPr>
              <a:t>1. Objective of collecting and preprocessing Zomato reviews was achieved through a unified dataset of 41,597 cleaned Google Play reviews.</a:t>
            </a:r>
            <a:endParaRPr lang="en-US" sz="1540" dirty="0"/>
          </a:p>
          <a:p>
            <a:pPr marL="0" indent="0">
              <a:buNone/>
            </a:pPr>
            <a:endParaRPr lang="en-US" sz="1540" dirty="0"/>
          </a:p>
          <a:p>
            <a:pPr marL="0" indent="0">
              <a:buNone/>
            </a:pPr>
            <a:r>
              <a:rPr lang="en-US" sz="1540" dirty="0">
                <a:solidFill>
                  <a:srgbClr val="000000"/>
                </a:solidFill>
                <a:latin typeface="Calibri" pitchFamily="34" charset="0"/>
                <a:ea typeface="Calibri" pitchFamily="34" charset="-122"/>
                <a:cs typeface="Calibri" pitchFamily="34" charset="-120"/>
              </a:rPr>
              <a:t>2. Objective of classifying sentiment was addressed through rating-based labels and a tuned Logistic Regression pipeline with 90.17% accuracy.</a:t>
            </a:r>
            <a:endParaRPr lang="en-US" sz="1540" dirty="0"/>
          </a:p>
          <a:p>
            <a:pPr marL="0" indent="0">
              <a:buNone/>
            </a:pPr>
            <a:endParaRPr lang="en-US" sz="1540" dirty="0"/>
          </a:p>
          <a:p>
            <a:pPr marL="0" indent="0">
              <a:buNone/>
            </a:pPr>
            <a:r>
              <a:rPr lang="en-US" sz="1540" dirty="0">
                <a:solidFill>
                  <a:srgbClr val="000000"/>
                </a:solidFill>
                <a:latin typeface="Calibri" pitchFamily="34" charset="0"/>
                <a:ea typeface="Calibri" pitchFamily="34" charset="-122"/>
                <a:cs typeface="Calibri" pitchFamily="34" charset="-120"/>
              </a:rPr>
              <a:t>3. Objective of identifying major customer perception themes was achieved by mapping reviews into delivery, refund/cancellation, app experience, customer support, pricing, trust, and related categories.</a:t>
            </a:r>
            <a:endParaRPr lang="en-US" sz="1540" dirty="0"/>
          </a:p>
          <a:p>
            <a:pPr marL="0" indent="0">
              <a:buNone/>
            </a:pPr>
            <a:endParaRPr lang="en-US" sz="1540" dirty="0"/>
          </a:p>
          <a:p>
            <a:pPr marL="0" indent="0">
              <a:buNone/>
            </a:pPr>
            <a:r>
              <a:rPr lang="en-US" sz="1540" dirty="0">
                <a:solidFill>
                  <a:srgbClr val="000000"/>
                </a:solidFill>
                <a:latin typeface="Calibri" pitchFamily="34" charset="0"/>
                <a:ea typeface="Calibri" pitchFamily="34" charset="-122"/>
                <a:cs typeface="Calibri" pitchFamily="34" charset="-120"/>
              </a:rPr>
              <a:t>4. Objective of understanding brand-impacting pain points was met by showing that refund handling and customer support produce the heaviest negative sentiment concentration.</a:t>
            </a:r>
            <a:endParaRPr lang="en-US" sz="1540" dirty="0"/>
          </a:p>
          <a:p>
            <a:pPr marL="0" indent="0">
              <a:buNone/>
            </a:pPr>
            <a:endParaRPr lang="en-US" sz="1540" dirty="0"/>
          </a:p>
          <a:p>
            <a:pPr marL="0" indent="0">
              <a:buNone/>
            </a:pPr>
            <a:r>
              <a:rPr lang="en-US" sz="1540" dirty="0">
                <a:solidFill>
                  <a:srgbClr val="000000"/>
                </a:solidFill>
                <a:latin typeface="Calibri" pitchFamily="34" charset="0"/>
                <a:ea typeface="Calibri" pitchFamily="34" charset="-122"/>
                <a:cs typeface="Calibri" pitchFamily="34" charset="-120"/>
              </a:rPr>
              <a:t>5. Objective of supporting brand strategy was met by translating review insights into action areas such as faster service recovery, clearer refund resolution, and more dependable customer communication.</a:t>
            </a:r>
            <a:endParaRPr lang="en-US" sz="1540" dirty="0"/>
          </a:p>
        </p:txBody>
      </p:sp>
      <p:sp>
        <p:nvSpPr>
          <p:cNvPr id="4" name="Text 2"/>
          <p:cNvSpPr/>
          <p:nvPr/>
        </p:nvSpPr>
        <p:spPr>
          <a:xfrm>
            <a:off x="2971800" y="6217920"/>
            <a:ext cx="3200400" cy="201168"/>
          </a:xfrm>
          <a:prstGeom prst="rect">
            <a:avLst/>
          </a:prstGeom>
          <a:noFill/>
          <a:ln/>
        </p:spPr>
        <p:txBody>
          <a:bodyPr wrap="square" lIns="0" tIns="0" rIns="0" bIns="0" rtlCol="0" anchor="ctr"/>
          <a:lstStyle/>
          <a:p>
            <a:pPr marL="0" indent="0" algn="ctr">
              <a:buNone/>
            </a:pPr>
            <a:r>
              <a:rPr lang="en-US" sz="1000" dirty="0">
                <a:solidFill>
                  <a:srgbClr val="4F81BD"/>
                </a:solidFill>
                <a:latin typeface="Calibri" pitchFamily="34" charset="0"/>
                <a:ea typeface="Calibri" pitchFamily="34" charset="-122"/>
                <a:cs typeface="Calibri" pitchFamily="34" charset="-120"/>
              </a:rPr>
              <a:t>VIT ONLINE MBA</a:t>
            </a:r>
            <a:endParaRPr lang="en-US" sz="1000" dirty="0"/>
          </a:p>
        </p:txBody>
      </p:sp>
      <p:sp>
        <p:nvSpPr>
          <p:cNvPr id="5" name="Text 3"/>
          <p:cNvSpPr/>
          <p:nvPr/>
        </p:nvSpPr>
        <p:spPr>
          <a:xfrm>
            <a:off x="164592" y="6419088"/>
            <a:ext cx="731520" cy="146304"/>
          </a:xfrm>
          <a:prstGeom prst="rect">
            <a:avLst/>
          </a:prstGeom>
          <a:noFill/>
          <a:ln/>
        </p:spPr>
        <p:txBody>
          <a:bodyPr wrap="square" lIns="0" tIns="0" rIns="0" bIns="0" rtlCol="0" anchor="ctr"/>
          <a:lstStyle/>
          <a:p>
            <a:pPr marL="0" indent="0">
              <a:buNone/>
            </a:pPr>
            <a:r>
              <a:rPr lang="en-US" sz="550" dirty="0">
                <a:solidFill>
                  <a:srgbClr val="666666"/>
                </a:solidFill>
                <a:latin typeface="Calibri" pitchFamily="34" charset="0"/>
                <a:ea typeface="Calibri" pitchFamily="34" charset="-122"/>
                <a:cs typeface="Calibri" pitchFamily="34" charset="-120"/>
              </a:rPr>
              <a:t>Slide 11</a:t>
            </a:r>
            <a:endParaRPr lang="en-US" sz="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1811</TotalTime>
  <Words>1744</Words>
  <Application>Microsoft Office PowerPoint</Application>
  <PresentationFormat>On-screen Show (4:3)</PresentationFormat>
  <Paragraphs>261</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Review 2 - Zomato Sentiment Analysis</dc:title>
  <dc:subject>Project Review 2 presentation for Zomato sentiment analysis</dc:subject>
  <dc:creator>OpenAI Codex</dc:creator>
  <cp:lastModifiedBy>Suhani Shrivastava</cp:lastModifiedBy>
  <cp:revision>25</cp:revision>
  <dcterms:created xsi:type="dcterms:W3CDTF">2026-06-04T07:17:48Z</dcterms:created>
  <dcterms:modified xsi:type="dcterms:W3CDTF">2026-06-05T13:29:54Z</dcterms:modified>
</cp:coreProperties>
</file>