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0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949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474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Presentation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05840" y="17830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of Zomato Play Store Reviews for Brand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34290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Suhani Shrivastava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24EMBA1442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Suraj PG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06440" y="2926080"/>
            <a:ext cx="2011680" cy="169164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16168" y="303580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Focus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6168" y="3291840"/>
            <a:ext cx="179222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Google Play Store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Brand: Zomato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41,597 cleaned reviews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SentiLens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business insights for brand strategy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01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Abstract-level summary of the complete study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713232" y="1325880"/>
            <a:ext cx="507492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customer sentiment toward Zomato using Google Play Store reviews as a large-scale source of digital customer feedback.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corpus was cleaned, deduplicated, standardized, and labeled using a rating-based sentiment proxy and rule-based theme classification.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combines descriptive review analytics, NLP-based modeling, benchmark comparison, and dashboard-driven interpretation.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goal is not only to classify sentiment, but to identify customer pain points and convert them into managerial actions for customer experience and brand strategy.</a:t>
            </a:r>
            <a:endParaRPr lang="en-US" sz="1620" dirty="0"/>
          </a:p>
        </p:txBody>
      </p:sp>
      <p:sp>
        <p:nvSpPr>
          <p:cNvPr id="5" name="Shape 3"/>
          <p:cNvSpPr/>
          <p:nvPr/>
        </p:nvSpPr>
        <p:spPr>
          <a:xfrm>
            <a:off x="6035040" y="1691640"/>
            <a:ext cx="1920240" cy="201168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44768" y="180136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144768" y="2057400"/>
            <a:ext cx="17007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reviews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035040" y="3977640"/>
            <a:ext cx="192024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44768" y="408736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Contribution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44768" y="4343400"/>
            <a:ext cx="17007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unstructured reviews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interpretable insights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service improvement,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repair, and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positioning.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Research Gap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82880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271016"/>
            <a:ext cx="1737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/ Gap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31720" y="1234440"/>
            <a:ext cx="580644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377440" y="1271016"/>
            <a:ext cx="5715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Response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618488"/>
            <a:ext cx="1828800" cy="65836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655064"/>
            <a:ext cx="17373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review volume is difficult to interpret manually.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1618488"/>
            <a:ext cx="5806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377440" y="1655064"/>
            <a:ext cx="57150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structured NLP workflow and sentiment/theme analysis to scale interpretation.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502920" y="2276856"/>
            <a:ext cx="1828800" cy="65836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313432"/>
            <a:ext cx="17373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alone do not explain why customers are satisfied or dissatisfied.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31720" y="2276856"/>
            <a:ext cx="5806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377440" y="2313432"/>
            <a:ext cx="57150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rating proxy with review text and theme classification.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502920" y="2935224"/>
            <a:ext cx="1828800" cy="65836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17373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often lack evidence linking app reviews to action areas.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31720" y="2935224"/>
            <a:ext cx="5806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377440" y="2971800"/>
            <a:ext cx="57150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review patterns into brand, delivery, refund, and support recommendations.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713232" y="3886200"/>
            <a:ext cx="731520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research gap is not lack of feedback, but lack of structured interpretation. Zomato receives a very large volume of app reviews, yet those reviews need an end-to-end analytical process before they become useful for customer-experience and brand decisions.</a:t>
            </a:r>
            <a:endParaRPr lang="en-US" sz="1480" dirty="0"/>
          </a:p>
          <a:p>
            <a:pPr marL="0" indent="0">
              <a:buNone/>
            </a:pP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that gap by converting raw review text into measurable sentiment patterns, theme-level pain points, and managerially usable findings.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" y="1700784"/>
            <a:ext cx="140817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184708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658368" y="2112264"/>
            <a:ext cx="151790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preprocess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Zomato-related Google Play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into a usable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dataset</a:t>
            </a:r>
            <a:endParaRPr lang="en-US" sz="910" dirty="0"/>
          </a:p>
        </p:txBody>
      </p:sp>
      <p:sp>
        <p:nvSpPr>
          <p:cNvPr id="7" name="Shape 5"/>
          <p:cNvSpPr/>
          <p:nvPr/>
        </p:nvSpPr>
        <p:spPr>
          <a:xfrm>
            <a:off x="2468880" y="160020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633472" y="1700784"/>
            <a:ext cx="140817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42032" y="184708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2578608" y="2112264"/>
            <a:ext cx="151790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reviews into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positive, negative,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neutral sentiment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53712" y="1700784"/>
            <a:ext cx="145389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462272" y="1847088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4498848" y="2112264"/>
            <a:ext cx="156362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major themes such as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refund/cancellation,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pricing, and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experience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6355080" y="160020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19672" y="1700784"/>
            <a:ext cx="127101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28232" y="1847088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6464808" y="2112264"/>
            <a:ext cx="138074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results for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experience,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recovery, and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 decisions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2011680" y="4069080"/>
            <a:ext cx="4297680" cy="1097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121408" y="4178808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Logic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121408" y="4434840"/>
            <a:ext cx="4078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moves from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to modeling,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from analysis to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interpretation.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and Research Framework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50749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5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literature positions sentiment analysis as a practical way to extract structured insight from unstructured customer opinions.</a:t>
            </a:r>
            <a:endParaRPr lang="en-US" sz="1570" dirty="0"/>
          </a:p>
          <a:p>
            <a:pPr marL="203200" indent="-203200">
              <a:buSzPct val="100000"/>
              <a:buChar char="•"/>
            </a:pPr>
            <a:r>
              <a:rPr lang="en-US" sz="15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reviews act as both feedback and electronic word-of-mouth, shaping customer trust, trial, and purchase decisions.</a:t>
            </a:r>
            <a:endParaRPr lang="en-US" sz="1570" dirty="0"/>
          </a:p>
          <a:p>
            <a:pPr marL="203200" indent="-203200">
              <a:buSzPct val="100000"/>
              <a:buChar char="•"/>
            </a:pPr>
            <a:r>
              <a:rPr lang="en-US" sz="15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food-delivery platforms, reviews reflect both service execution and digital interface quality.</a:t>
            </a:r>
            <a:endParaRPr lang="en-US" sz="1570" dirty="0"/>
          </a:p>
          <a:p>
            <a:pPr marL="203200" indent="-203200">
              <a:buSzPct val="100000"/>
              <a:buChar char="•"/>
            </a:pPr>
            <a:r>
              <a:rPr lang="en-US" sz="15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adopts a framework where reviews provide raw evidence, sentiment indicates emotional orientation, themes explain issue drivers, and managerial interpretation converts findings into business action.</a:t>
            </a:r>
            <a:endParaRPr lang="en-US" sz="1570" dirty="0"/>
          </a:p>
        </p:txBody>
      </p:sp>
      <p:sp>
        <p:nvSpPr>
          <p:cNvPr id="4" name="Shape 2"/>
          <p:cNvSpPr/>
          <p:nvPr/>
        </p:nvSpPr>
        <p:spPr>
          <a:xfrm>
            <a:off x="5989320" y="1828800"/>
            <a:ext cx="1965960" cy="20574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153912" y="1929384"/>
            <a:ext cx="163677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62472" y="2075688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Framework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6099048" y="2340864"/>
            <a:ext cx="1746504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Google Play reviews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Sentiment labeling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Theme identification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Theme-wise interpretation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Brand strategy implications</a:t>
            </a:r>
            <a:endParaRPr lang="en-US" sz="910" dirty="0"/>
          </a:p>
        </p:txBody>
      </p:sp>
      <p:sp>
        <p:nvSpPr>
          <p:cNvPr id="8" name="Shape 6"/>
          <p:cNvSpPr/>
          <p:nvPr/>
        </p:nvSpPr>
        <p:spPr>
          <a:xfrm>
            <a:off x="5989320" y="4251960"/>
            <a:ext cx="1965960" cy="132588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99048" y="436168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Positioning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99048" y="4617720"/>
            <a:ext cx="17465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extends beyond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classification by adding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analysis, priority logic,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interpretation, and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comparison.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7512" y="1517904"/>
            <a:ext cx="136245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76072" y="1664208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612648" y="1929384"/>
            <a:ext cx="147218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+ exploratory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 nature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Business-focused interpretation</a:t>
            </a:r>
            <a:endParaRPr lang="en-US" sz="910" dirty="0"/>
          </a:p>
        </p:txBody>
      </p:sp>
      <p:sp>
        <p:nvSpPr>
          <p:cNvPr id="7" name="Shape 5"/>
          <p:cNvSpPr/>
          <p:nvPr/>
        </p:nvSpPr>
        <p:spPr>
          <a:xfrm>
            <a:off x="2377440" y="141732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42032" y="1517904"/>
            <a:ext cx="136245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50592" y="1664208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2487168" y="1929384"/>
            <a:ext cx="147218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app reviews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+ text + metadata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4251960" y="141732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16552" y="1517904"/>
            <a:ext cx="136245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25112" y="1664208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Modes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4361688" y="1929384"/>
            <a:ext cx="1472184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Rating-based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Multi-pull strategy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91072" y="1517904"/>
            <a:ext cx="136245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99632" y="1664208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6236208" y="1929384"/>
            <a:ext cx="1472184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mapping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modeling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1783080" y="3246120"/>
            <a:ext cx="4526280" cy="0"/>
          </a:xfrm>
          <a:prstGeom prst="line">
            <a:avLst/>
          </a:prstGeom>
          <a:noFill/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1828800" cy="365760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3694176"/>
            <a:ext cx="1737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Layer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31720" y="3657600"/>
            <a:ext cx="5760720" cy="365760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377440" y="3694176"/>
            <a:ext cx="5669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182880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4059936"/>
            <a:ext cx="1737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logic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2331720" y="4023360"/>
            <a:ext cx="5760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377440" y="4059936"/>
            <a:ext cx="56692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1-2 = negative, 3 = neutral, 4-5 = positive, with text mismatch used as a caution flag.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02920" y="4526280"/>
            <a:ext cx="182880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4562856"/>
            <a:ext cx="1737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logic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2331720" y="4526280"/>
            <a:ext cx="5760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377440" y="4562856"/>
            <a:ext cx="56692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first-match keyword rules with fallback to earlier theme hints when no clean rule match exists.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02920" y="5029200"/>
            <a:ext cx="182880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5065776"/>
            <a:ext cx="1737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2331720" y="5029200"/>
            <a:ext cx="5760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377440" y="5065776"/>
            <a:ext cx="56692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scripts, scikit-learn, custom data pipelines, and Streamlit dashboard outputs for interpretation.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Analytical 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41732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76072" y="1517904"/>
            <a:ext cx="122529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" y="166420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User Input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521208" y="1929384"/>
            <a:ext cx="133502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"Order got cancelled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hour and support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help at all"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1 star</a:t>
            </a:r>
            <a:endParaRPr lang="en-US" sz="910" dirty="0"/>
          </a:p>
        </p:txBody>
      </p:sp>
      <p:sp>
        <p:nvSpPr>
          <p:cNvPr id="7" name="Shape 5"/>
          <p:cNvSpPr/>
          <p:nvPr/>
        </p:nvSpPr>
        <p:spPr>
          <a:xfrm>
            <a:off x="1965960" y="1938528"/>
            <a:ext cx="384048" cy="457200"/>
          </a:xfrm>
          <a:prstGeom prst="chevron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423160" y="1417320"/>
            <a:ext cx="1371600" cy="16916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87752" y="1517904"/>
            <a:ext cx="104241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96312" y="166420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2532888" y="1929384"/>
            <a:ext cx="115214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removal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checks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3767328" y="1938528"/>
            <a:ext cx="384048" cy="457200"/>
          </a:xfrm>
          <a:prstGeom prst="chevron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224528" y="1417320"/>
            <a:ext cx="1444752" cy="169164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389120" y="1517904"/>
            <a:ext cx="1115568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97680" y="166420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SentiLens Output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4334256" y="1929384"/>
            <a:ext cx="122529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Negative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score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pipeline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5650992" y="1938528"/>
            <a:ext cx="384048" cy="457200"/>
          </a:xfrm>
          <a:prstGeom prst="chevron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08192" y="141732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272784" y="1517904"/>
            <a:ext cx="127101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81344" y="1664208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Business Output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6217920" y="1929384"/>
            <a:ext cx="138074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refund/cancellation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flag: high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summary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action point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1371600" cy="365760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4360" y="3922776"/>
            <a:ext cx="1280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1920240" y="3886200"/>
            <a:ext cx="5989320" cy="365760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965960" y="3922776"/>
            <a:ext cx="5897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548640" y="4251960"/>
            <a:ext cx="137160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428853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20240" y="4251960"/>
            <a:ext cx="5989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965960" y="4288536"/>
            <a:ext cx="58978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app review enters the pipeline with text and star rating metadata.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754880"/>
            <a:ext cx="137160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94360" y="479145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layer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20240" y="4754880"/>
            <a:ext cx="5989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965960" y="4791456"/>
            <a:ext cx="58978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text is transformed into TF-IDF features and classified by SentiLens.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5257800"/>
            <a:ext cx="137160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94360" y="529437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layer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920240" y="5257800"/>
            <a:ext cx="5989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965960" y="5294376"/>
            <a:ext cx="58978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is linked to a dominant theme and aggregated into dashboard-level insight.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Strategy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7512" y="1426464"/>
            <a:ext cx="131673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76072" y="157276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Reviews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612648" y="1837944"/>
            <a:ext cx="142646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output_playstore_relevant_en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22,773 reviews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commonly surfaced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issue-oriented feedback</a:t>
            </a:r>
            <a:endParaRPr lang="en-US" sz="910" dirty="0"/>
          </a:p>
        </p:txBody>
      </p:sp>
      <p:sp>
        <p:nvSpPr>
          <p:cNvPr id="7" name="Shape 5"/>
          <p:cNvSpPr/>
          <p:nvPr/>
        </p:nvSpPr>
        <p:spPr>
          <a:xfrm>
            <a:off x="2331720" y="132588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496312" y="1426464"/>
            <a:ext cx="131673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04872" y="157276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Rating-Based Pulls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2441448" y="1837944"/>
            <a:ext cx="142646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output_playstore_rating_en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15,942 reviews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stronger positive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negative extremes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4160520" y="132588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25112" y="1426464"/>
            <a:ext cx="131673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233672" y="157276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Pulls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4270248" y="1837944"/>
            <a:ext cx="142646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review pulls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2,882 reviews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recent and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coverage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5989320" y="132588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53912" y="1426464"/>
            <a:ext cx="131673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62472" y="157276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Corpus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6099048" y="1837944"/>
            <a:ext cx="142646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cleaned exports merged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deduplication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sort bias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502920" y="3246120"/>
            <a:ext cx="2011680" cy="365760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3282696"/>
            <a:ext cx="1920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Principle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14600" y="3246120"/>
            <a:ext cx="5120640" cy="365760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560320" y="3282696"/>
            <a:ext cx="5029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611880"/>
            <a:ext cx="2011680" cy="594360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3648456"/>
            <a:ext cx="192024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Multi-sort coverage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2514600" y="3611880"/>
            <a:ext cx="5120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560320" y="3648456"/>
            <a:ext cx="50292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Play Store retrieval mode can over-represent one type of feedback. Multi-sort pulls improved coverage across issue intensity and time.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502920" y="4206240"/>
            <a:ext cx="2011680" cy="594360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8640" y="4242816"/>
            <a:ext cx="192024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coverage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2514600" y="4206240"/>
            <a:ext cx="5120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560320" y="4242816"/>
            <a:ext cx="50292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review pulls were included so the analysis captures both long-run patterns and more recent customer feedback.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02920" y="4800600"/>
            <a:ext cx="2011680" cy="594360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8640" y="4837176"/>
            <a:ext cx="192024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selection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2514600" y="4800600"/>
            <a:ext cx="5120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560320" y="4837176"/>
            <a:ext cx="50292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merging and cleaning, 41,597 unique Google Play reviews formed the final analytical dataset.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and Dataset Construction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28016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271016"/>
            <a:ext cx="1188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83080" y="1234440"/>
            <a:ext cx="45262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0" y="1271016"/>
            <a:ext cx="4434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17830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55080" y="1271016"/>
            <a:ext cx="1691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618488"/>
            <a:ext cx="1280160" cy="67665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655064"/>
            <a:ext cx="11887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83080" y="1618488"/>
            <a:ext cx="4526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828800" y="1655064"/>
            <a:ext cx="44348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cleaned exports from relevant, rating-based, and newest review files into one analytical corpus.</a:t>
            </a:r>
            <a:endParaRPr lang="en-US" sz="925" dirty="0"/>
          </a:p>
        </p:txBody>
      </p:sp>
      <p:sp>
        <p:nvSpPr>
          <p:cNvPr id="13" name="Shape 11"/>
          <p:cNvSpPr/>
          <p:nvPr/>
        </p:nvSpPr>
        <p:spPr>
          <a:xfrm>
            <a:off x="6309360" y="1618488"/>
            <a:ext cx="1783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55080" y="1655064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46,193 rows before dedupe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02920" y="2295144"/>
            <a:ext cx="1280160" cy="67665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11887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783080" y="2295144"/>
            <a:ext cx="4526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828800" y="2331720"/>
            <a:ext cx="44348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lowercase conversion, punctuation cleanup, hyperlink/noise removal, and whitespace compaction.</a:t>
            </a:r>
            <a:endParaRPr lang="en-US" sz="925" dirty="0"/>
          </a:p>
        </p:txBody>
      </p:sp>
      <p:sp>
        <p:nvSpPr>
          <p:cNvPr id="19" name="Shape 17"/>
          <p:cNvSpPr/>
          <p:nvPr/>
        </p:nvSpPr>
        <p:spPr>
          <a:xfrm>
            <a:off x="6309360" y="2295144"/>
            <a:ext cx="1783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55080" y="2331720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normalized text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02920" y="2971800"/>
            <a:ext cx="1280160" cy="67665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008376"/>
            <a:ext cx="11887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by 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83080" y="2971800"/>
            <a:ext cx="4526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828800" y="3008376"/>
            <a:ext cx="44348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repeated reviews using review identifiers after priority sorting by relevance score, thumbs-up count, and rating.</a:t>
            </a:r>
            <a:endParaRPr lang="en-US" sz="925" dirty="0"/>
          </a:p>
        </p:txBody>
      </p:sp>
      <p:sp>
        <p:nvSpPr>
          <p:cNvPr id="25" name="Shape 23"/>
          <p:cNvSpPr/>
          <p:nvPr/>
        </p:nvSpPr>
        <p:spPr>
          <a:xfrm>
            <a:off x="6309360" y="2971800"/>
            <a:ext cx="1783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55080" y="3008376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41,657 rows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502920" y="3648456"/>
            <a:ext cx="1280160" cy="67665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8640" y="3685032"/>
            <a:ext cx="11887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by Text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783080" y="3648456"/>
            <a:ext cx="4526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828800" y="3685032"/>
            <a:ext cx="44348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repeated content using normalized review text to avoid counting the same wording multiple times.</a:t>
            </a:r>
            <a:endParaRPr lang="en-US" sz="925" dirty="0"/>
          </a:p>
        </p:txBody>
      </p:sp>
      <p:sp>
        <p:nvSpPr>
          <p:cNvPr id="31" name="Shape 29"/>
          <p:cNvSpPr/>
          <p:nvPr/>
        </p:nvSpPr>
        <p:spPr>
          <a:xfrm>
            <a:off x="6309360" y="3648456"/>
            <a:ext cx="1783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55080" y="3685032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41,597 rows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502920" y="4325112"/>
            <a:ext cx="1280160" cy="67665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48640" y="4361688"/>
            <a:ext cx="11887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783080" y="4325112"/>
            <a:ext cx="4526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828800" y="4361688"/>
            <a:ext cx="44348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fields such as text, normalized text, rating, year, recency bucket, sentiment label, and theme label.</a:t>
            </a:r>
            <a:endParaRPr lang="en-US" sz="925" dirty="0"/>
          </a:p>
        </p:txBody>
      </p:sp>
      <p:sp>
        <p:nvSpPr>
          <p:cNvPr id="37" name="Shape 35"/>
          <p:cNvSpPr/>
          <p:nvPr/>
        </p:nvSpPr>
        <p:spPr>
          <a:xfrm>
            <a:off x="6309360" y="4325112"/>
            <a:ext cx="1783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355080" y="4361688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master dataset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 from Cleaning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794760" cy="347472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1271016"/>
            <a:ext cx="3703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Review Text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4251960" y="1234440"/>
            <a:ext cx="3840480" cy="347472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297680" y="1271016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Text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3794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618488"/>
            <a:ext cx="37033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loved this app so much i loved its delivery and all.Its probably the best app to order the food...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251960" y="1581912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297680" y="1618488"/>
            <a:ext cx="37490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loved this app so much i loved its delivery and all its probably the best app to order the food...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794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368296"/>
            <a:ext cx="37033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a bad customer service .....my order got cancelled and they didn't refund.....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251960" y="233172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297680" y="2368296"/>
            <a:ext cx="37490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a bad customer service my order got cancelled and they didn t refund ...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1325880" cy="347472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328416"/>
            <a:ext cx="1234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Type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1783080" y="3291840"/>
            <a:ext cx="4480560" cy="347472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828800" y="3328416"/>
            <a:ext cx="4389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Example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263640" y="3291840"/>
            <a:ext cx="1828800" cy="347472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09360" y="3328416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Decision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57200" y="3639312"/>
            <a:ext cx="1325880" cy="868680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675888"/>
            <a:ext cx="123444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review ID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1783080" y="3639312"/>
            <a:ext cx="4480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828800" y="3675888"/>
            <a:ext cx="438912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ID c9c028a3-4be2-44fd-934b-56a7aae70b10 appeared in newest_en, relevant_en, and rating_en with the same review content.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6263640" y="3639312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09360" y="3675888"/>
            <a:ext cx="173736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one row after priority sorting; removed repeated IDs.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57200" y="4507992"/>
            <a:ext cx="1325880" cy="868680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2920" y="4544568"/>
            <a:ext cx="123444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normalized text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1783080" y="4507992"/>
            <a:ext cx="4480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828800" y="4544568"/>
            <a:ext cx="438912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 app for food delivery", "Best app for food delivery...", and "Best app for food delivery" normalized to the same final string.</a:t>
            </a:r>
            <a:endParaRPr lang="en-US" sz="890" dirty="0"/>
          </a:p>
        </p:txBody>
      </p:sp>
      <p:sp>
        <p:nvSpPr>
          <p:cNvPr id="31" name="Shape 29"/>
          <p:cNvSpPr/>
          <p:nvPr/>
        </p:nvSpPr>
        <p:spPr>
          <a:xfrm>
            <a:off x="6263640" y="4507992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09360" y="4544568"/>
            <a:ext cx="173736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one representative row; removed repeated wording.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66928" y="5623560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summary: 46,193 merged rows -&gt; 41,657 after review-ID dedupe -&gt; 41,597 after normalized-text dedupe.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 Profile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283464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85800" y="1362456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0" y="1325880"/>
            <a:ext cx="15544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520440" y="1362456"/>
            <a:ext cx="1463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09928"/>
            <a:ext cx="28346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746504"/>
            <a:ext cx="2743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 in final dataset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1709928"/>
            <a:ext cx="155448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20440" y="1746504"/>
            <a:ext cx="14630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41,597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185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2221992"/>
            <a:ext cx="2743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labeled reviews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0" y="218541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20440" y="2221992"/>
            <a:ext cx="14630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21,487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2660904"/>
            <a:ext cx="28346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2697480"/>
            <a:ext cx="2743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labeled reviews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0" y="2660904"/>
            <a:ext cx="155448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520440" y="2697480"/>
            <a:ext cx="14630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18,923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136392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" y="3172968"/>
            <a:ext cx="2743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labeled reviews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0" y="313639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520440" y="3172968"/>
            <a:ext cx="14630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1,187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611880"/>
            <a:ext cx="28346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5800" y="3648456"/>
            <a:ext cx="2743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reviews (2024+)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0" y="3611880"/>
            <a:ext cx="155448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520440" y="3648456"/>
            <a:ext cx="14630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15,320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4087368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85800" y="4123944"/>
            <a:ext cx="2743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text length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0" y="408736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520440" y="4123944"/>
            <a:ext cx="14630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271.97 chars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4562856"/>
            <a:ext cx="28346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85800" y="4599432"/>
            <a:ext cx="2743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text length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0" y="4562856"/>
            <a:ext cx="155448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520440" y="4599432"/>
            <a:ext cx="14630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chars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40680" y="1737360"/>
            <a:ext cx="1965960" cy="19659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550408" y="184708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Themes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550408" y="2103120"/>
            <a:ext cx="174650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16,106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Refund/cancellation: 8,545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experience: 5,812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support: 3,191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Pricing/fees: 3,100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5440680" y="4069080"/>
            <a:ext cx="1965960" cy="132588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550408" y="417880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Scope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550408" y="4434840"/>
            <a:ext cx="17465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Google Play Store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subset: 15,320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text: 271.97 chars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App-review focused design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SentiLens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645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21792" y="1517904"/>
            <a:ext cx="131673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30352" y="166420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Review Text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566928" y="1929384"/>
            <a:ext cx="142646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Google Play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sentence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sufficient text length</a:t>
            </a:r>
            <a:endParaRPr lang="en-US" sz="910" dirty="0"/>
          </a:p>
        </p:txBody>
      </p:sp>
      <p:sp>
        <p:nvSpPr>
          <p:cNvPr id="7" name="Shape 5"/>
          <p:cNvSpPr/>
          <p:nvPr/>
        </p:nvSpPr>
        <p:spPr>
          <a:xfrm>
            <a:off x="2331720" y="1417320"/>
            <a:ext cx="1737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496312" y="1517904"/>
            <a:ext cx="140817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04872" y="166420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2441448" y="1929384"/>
            <a:ext cx="1517904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n-grams: 1 to 2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min_df = 2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 = 40,000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= True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62272" y="1517904"/>
            <a:ext cx="127101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70832" y="1664208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Feature Space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4407408" y="1929384"/>
            <a:ext cx="138074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review text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weighted term features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model learning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6080760" y="141732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45352" y="1517904"/>
            <a:ext cx="136245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53912" y="1664208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6190488" y="1929384"/>
            <a:ext cx="1472184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2.5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 = 1500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balanced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325880" cy="365760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4360" y="3739896"/>
            <a:ext cx="1234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1874520" y="3703320"/>
            <a:ext cx="3108960" cy="365760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920240" y="3739896"/>
            <a:ext cx="3017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Meaning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983480" y="3703320"/>
            <a:ext cx="3063240" cy="365760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0" y="3739896"/>
            <a:ext cx="2971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Terms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132588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4105656"/>
            <a:ext cx="12344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1874520" y="4069080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920240" y="4105656"/>
            <a:ext cx="30175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the review expresses dissatisfaction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83480" y="4069080"/>
            <a:ext cx="3063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0" y="4105656"/>
            <a:ext cx="29718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worst, fraud, bad, support, horrible, order</a:t>
            </a:r>
            <a:endParaRPr lang="en-US" sz="890" dirty="0"/>
          </a:p>
        </p:txBody>
      </p:sp>
      <p:sp>
        <p:nvSpPr>
          <p:cNvPr id="31" name="Shape 29"/>
          <p:cNvSpPr/>
          <p:nvPr/>
        </p:nvSpPr>
        <p:spPr>
          <a:xfrm>
            <a:off x="548640" y="4636008"/>
            <a:ext cx="132588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94360" y="4672584"/>
            <a:ext cx="12344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1874520" y="4636008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920240" y="4672584"/>
            <a:ext cx="30175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the review is mixed or balanced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83480" y="4636008"/>
            <a:ext cx="3063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029200" y="4672584"/>
            <a:ext cx="29718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stars, but, late delivery, was not, good</a:t>
            </a:r>
            <a:endParaRPr lang="en-US" sz="890" dirty="0"/>
          </a:p>
        </p:txBody>
      </p:sp>
      <p:sp>
        <p:nvSpPr>
          <p:cNvPr id="37" name="Shape 35"/>
          <p:cNvSpPr/>
          <p:nvPr/>
        </p:nvSpPr>
        <p:spPr>
          <a:xfrm>
            <a:off x="548640" y="5202936"/>
            <a:ext cx="132588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94360" y="5239512"/>
            <a:ext cx="12344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10" dirty="0"/>
          </a:p>
        </p:txBody>
      </p:sp>
      <p:sp>
        <p:nvSpPr>
          <p:cNvPr id="39" name="Shape 37"/>
          <p:cNvSpPr/>
          <p:nvPr/>
        </p:nvSpPr>
        <p:spPr>
          <a:xfrm>
            <a:off x="1874520" y="5202936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920240" y="5239512"/>
            <a:ext cx="30175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the review expresses satisfaction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83480" y="5202936"/>
            <a:ext cx="3063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029200" y="5239512"/>
            <a:ext cx="29718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great, best, amazing, love, quick, easy, thanks</a:t>
            </a:r>
            <a:endParaRPr lang="en-US" sz="890" dirty="0"/>
          </a:p>
        </p:txBody>
      </p:sp>
      <p:sp>
        <p:nvSpPr>
          <p:cNvPr id="43" name="Text 41"/>
          <p:cNvSpPr/>
          <p:nvPr/>
        </p:nvSpPr>
        <p:spPr>
          <a:xfrm>
            <a:off x="5074920" y="3218688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SentiLens result: 90.17% accuracy | 90.40% weighted F1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Example and Performance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763524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7543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Input Review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7635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75438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ordered food and I waited for an hour and then they cancelled the order because of no delivery man very bad experience I recommend not trusting this app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269748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22960" y="2798064"/>
            <a:ext cx="122529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9443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Context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768096" y="3209544"/>
            <a:ext cx="13350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refund_cancellation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label: negative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2560320" y="269748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24912" y="2798064"/>
            <a:ext cx="122529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33472" y="29443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2670048" y="3209544"/>
            <a:ext cx="13350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output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4462272" y="2697480"/>
            <a:ext cx="1645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26864" y="2798064"/>
            <a:ext cx="131673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35424" y="294436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Scores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4572000" y="3209544"/>
            <a:ext cx="142646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99.31%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Neutral: 0.11%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0.58%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6400800" y="260604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65392" y="2706624"/>
            <a:ext cx="1133856" cy="7315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73952" y="285292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510528" y="3118104"/>
            <a:ext cx="1243584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terms such as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"cancelled", "waited",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"very bad", and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trusting" drive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score upward.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502920" y="4526280"/>
            <a:ext cx="288036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4562856"/>
            <a:ext cx="2788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4526280"/>
            <a:ext cx="123444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29000" y="4562856"/>
            <a:ext cx="1143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910328"/>
            <a:ext cx="2880360" cy="21031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8640" y="4946904"/>
            <a:ext cx="2788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3383280" y="4910328"/>
            <a:ext cx="1234440" cy="21031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429000" y="4946904"/>
            <a:ext cx="1143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90.17%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02920" y="5120640"/>
            <a:ext cx="28803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8640" y="5157216"/>
            <a:ext cx="2788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3383280" y="5120640"/>
            <a:ext cx="123444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429000" y="5157216"/>
            <a:ext cx="1143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0.6811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02920" y="5330952"/>
            <a:ext cx="2880360" cy="21031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48640" y="5367528"/>
            <a:ext cx="2788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3383280" y="5330952"/>
            <a:ext cx="1234440" cy="21031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29000" y="5367528"/>
            <a:ext cx="1143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0.9040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02920" y="5541264"/>
            <a:ext cx="28803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48640" y="5577840"/>
            <a:ext cx="2788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recall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383280" y="5541264"/>
            <a:ext cx="123444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429000" y="5577840"/>
            <a:ext cx="1143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0.9342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02920" y="5751576"/>
            <a:ext cx="2880360" cy="21031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48640" y="5788152"/>
            <a:ext cx="2788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recall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3383280" y="5751576"/>
            <a:ext cx="1234440" cy="21031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429000" y="5788152"/>
            <a:ext cx="1143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0.9109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02920" y="5961888"/>
            <a:ext cx="28803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48640" y="5998464"/>
            <a:ext cx="2788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recall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3383280" y="5961888"/>
            <a:ext cx="123444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429000" y="5998464"/>
            <a:ext cx="1143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0.2152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4983480" y="4526280"/>
            <a:ext cx="3063240" cy="132588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093208" y="4636008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093208" y="4892040"/>
            <a:ext cx="28437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SentiLens performs strongly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positive and negative classes.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remains the hardest class,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common in review datasets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limited middle-rating volume.</a:t>
            </a:r>
            <a:endParaRPr lang="en-US" sz="1030" dirty="0"/>
          </a:p>
        </p:txBody>
      </p:sp>
      <p:sp>
        <p:nvSpPr>
          <p:cNvPr id="54" name="Text 52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Sentiment and Dashboard 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90472"/>
            <a:ext cx="4343400" cy="4178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C:/Users/sshrivastava/Downloads/mba-project/documentation/figures/dashboard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" y="1545336"/>
            <a:ext cx="4233672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" y="5522976"/>
            <a:ext cx="4197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 and overall sentiment distribution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120640" y="1417320"/>
            <a:ext cx="164592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166360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Sentiment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766560" y="1417320"/>
            <a:ext cx="13258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812280" y="1453896"/>
            <a:ext cx="12344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/ Share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0" y="1801368"/>
            <a:ext cx="164592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166360" y="1837944"/>
            <a:ext cx="15544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766560" y="1801368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812280" y="1837944"/>
            <a:ext cx="12344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20,587 | 49.49%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5120640" y="2304288"/>
            <a:ext cx="164592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166360" y="2340864"/>
            <a:ext cx="15544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6766560" y="2304288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812280" y="2340864"/>
            <a:ext cx="12344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19,505 | 46.89%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5120640" y="2807208"/>
            <a:ext cx="164592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166360" y="2843784"/>
            <a:ext cx="15544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6766560" y="2807208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812280" y="2843784"/>
            <a:ext cx="12344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1,505 | 3.62%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5120640" y="3429000"/>
            <a:ext cx="2971800" cy="8229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230368" y="3538728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230368" y="3794760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negative review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are both large, so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sentiment alone does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explain the full story.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5120640" y="4480560"/>
            <a:ext cx="2971800" cy="77724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230368" y="4590288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Read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230368" y="4846320"/>
            <a:ext cx="2752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Theme-level analysis is needed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separate operational pain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from broad brand loyalty.</a:t>
            </a:r>
            <a:endParaRPr lang="en-US" sz="1030" dirty="0"/>
          </a:p>
        </p:txBody>
      </p:sp>
      <p:sp>
        <p:nvSpPr>
          <p:cNvPr id="29" name="Text 26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Analysis and Priority Areas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Theme-Level Dashboard 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90472"/>
            <a:ext cx="4297680" cy="4178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C:/Users/sshrivastava/Downloads/mba-project/documentation/figures/dashboard_theme_analysi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" y="1545336"/>
            <a:ext cx="4187952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" y="5522976"/>
            <a:ext cx="4151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Theme-wise sentiment share and net sentiment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74920" y="1234440"/>
            <a:ext cx="1554480" cy="365760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120640" y="1271016"/>
            <a:ext cx="1463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6629400" y="1234440"/>
            <a:ext cx="1463040" cy="365760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675120" y="1271016"/>
            <a:ext cx="1371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5074920" y="1600200"/>
            <a:ext cx="155448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120640" y="1636776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Refund/cancellation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629400" y="1600200"/>
            <a:ext cx="146304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675120" y="1636776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88.32% negative share</a:t>
            </a:r>
            <a:endParaRPr lang="en-US" sz="890" dirty="0"/>
          </a:p>
        </p:txBody>
      </p:sp>
      <p:sp>
        <p:nvSpPr>
          <p:cNvPr id="15" name="Shape 12"/>
          <p:cNvSpPr/>
          <p:nvPr/>
        </p:nvSpPr>
        <p:spPr>
          <a:xfrm>
            <a:off x="5074920" y="2039112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120640" y="207568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629400" y="2039112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675120" y="2075688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68.29% negative share</a:t>
            </a:r>
            <a:endParaRPr lang="en-US" sz="890" dirty="0"/>
          </a:p>
        </p:txBody>
      </p:sp>
      <p:sp>
        <p:nvSpPr>
          <p:cNvPr id="19" name="Shape 16"/>
          <p:cNvSpPr/>
          <p:nvPr/>
        </p:nvSpPr>
        <p:spPr>
          <a:xfrm>
            <a:off x="5074920" y="2478024"/>
            <a:ext cx="155448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12064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629400" y="2478024"/>
            <a:ext cx="146304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67512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16,106 rows; largest theme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5074920" y="2916936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120640" y="2953512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experience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629400" y="2916936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675120" y="2953512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78.97% positive share</a:t>
            </a:r>
            <a:endParaRPr lang="en-US" sz="890" dirty="0"/>
          </a:p>
        </p:txBody>
      </p:sp>
      <p:sp>
        <p:nvSpPr>
          <p:cNvPr id="27" name="Shape 24"/>
          <p:cNvSpPr/>
          <p:nvPr/>
        </p:nvSpPr>
        <p:spPr>
          <a:xfrm>
            <a:off x="5074920" y="3355848"/>
            <a:ext cx="155448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120640" y="3392424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Pricing/fees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629400" y="3355848"/>
            <a:ext cx="146304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675120" y="3392424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but mildly positive</a:t>
            </a:r>
            <a:endParaRPr lang="en-US" sz="890" dirty="0"/>
          </a:p>
        </p:txBody>
      </p:sp>
      <p:sp>
        <p:nvSpPr>
          <p:cNvPr id="31" name="Shape 28"/>
          <p:cNvSpPr/>
          <p:nvPr/>
        </p:nvSpPr>
        <p:spPr>
          <a:xfrm>
            <a:off x="5120640" y="3657600"/>
            <a:ext cx="297180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5230368" y="3767328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Interpretation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230368" y="4023360"/>
            <a:ext cx="27523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priority: refund/cancellation and customer support.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discussion area: delivery.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strength: app experience.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Pricing/fees remains mixed and should be monitored.</a:t>
            </a:r>
            <a:endParaRPr lang="en-US" sz="1030" dirty="0"/>
          </a:p>
        </p:txBody>
      </p:sp>
      <p:sp>
        <p:nvSpPr>
          <p:cNvPr id="34" name="Text 31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Trends and Current Feedback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Theme 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90472"/>
            <a:ext cx="384048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C:/Users/sshrivastava/Downloads/mba-project/documentation/figures/dashboard_recent_theme_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" y="1545336"/>
            <a:ext cx="3730752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" y="4654296"/>
            <a:ext cx="3694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2024+ review subset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12344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Over Time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1490472"/>
            <a:ext cx="352044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C:/Users/sshrivastava/Downloads/mba-project/documentation/figures/dashboard_trend_over_tim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26864" y="1545336"/>
            <a:ext cx="3410712" cy="3108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45152" y="4654296"/>
            <a:ext cx="3374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share across years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13232" y="4983480"/>
            <a:ext cx="73152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3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recent-period subset contains 15,320 reviews and confirms the same structural pain points seen in the full dataset.</a:t>
            </a:r>
            <a:endParaRPr lang="en-US" sz="1370" dirty="0"/>
          </a:p>
          <a:p>
            <a:pPr marL="203200" indent="-203200">
              <a:buSzPct val="100000"/>
              <a:buChar char="•"/>
            </a:pPr>
            <a:r>
              <a:rPr lang="en-US" sz="13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Refund/cancellation becomes even more negative in recent reviews, while customer support also worsens.</a:t>
            </a:r>
            <a:endParaRPr lang="en-US" sz="1370" dirty="0"/>
          </a:p>
          <a:p>
            <a:pPr marL="203200" indent="-203200">
              <a:buSzPct val="100000"/>
              <a:buChar char="•"/>
            </a:pPr>
            <a:r>
              <a:rPr lang="en-US" sz="13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remains high-volume with slightly weaker net sentiment than the full dataset.</a:t>
            </a:r>
            <a:endParaRPr lang="en-US" sz="1370" dirty="0"/>
          </a:p>
          <a:p>
            <a:pPr marL="203200" indent="-203200">
              <a:buSzPct val="100000"/>
              <a:buChar char="•"/>
            </a:pPr>
            <a:r>
              <a:rPr lang="en-US" sz="13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experience stays comparatively strong, suggesting usability remains better than post-order resolution processes.</a:t>
            </a:r>
            <a:endParaRPr lang="en-US" sz="1370" dirty="0"/>
          </a:p>
        </p:txBody>
      </p:sp>
      <p:sp>
        <p:nvSpPr>
          <p:cNvPr id="12" name="Text 8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 with Prior Paper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90472"/>
            <a:ext cx="388620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C:/Users/sshrivastava/Downloads/mba-project/documentation/figures/dashboard_benchmark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" y="1545336"/>
            <a:ext cx="3776472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" y="4562856"/>
            <a:ext cx="3739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result vs recreated benchmark vs SentiLens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26280" y="1371600"/>
            <a:ext cx="173736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Study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6400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309360" y="1408176"/>
            <a:ext cx="548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Acc.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6903720" y="1371600"/>
            <a:ext cx="59436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949440" y="1408176"/>
            <a:ext cx="502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498080" y="1371600"/>
            <a:ext cx="59436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543800" y="1408176"/>
            <a:ext cx="502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Rec.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4526280" y="1755648"/>
            <a:ext cx="173736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572000" y="1792224"/>
            <a:ext cx="16459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RF (2019)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63640" y="1755648"/>
            <a:ext cx="64008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309360" y="1792224"/>
            <a:ext cx="5486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92.44%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903720" y="1755648"/>
            <a:ext cx="59436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949440" y="1792224"/>
            <a:ext cx="5029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0.9300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7498080" y="1755648"/>
            <a:ext cx="59436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543800" y="1792224"/>
            <a:ext cx="5029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0.8700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4526280" y="2322576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572000" y="2359152"/>
            <a:ext cx="16459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Recreated TF-IDF + RF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263640" y="2322576"/>
            <a:ext cx="640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309360" y="2359152"/>
            <a:ext cx="5486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88.58%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903720" y="2322576"/>
            <a:ext cx="594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949440" y="2359152"/>
            <a:ext cx="5029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0.6519</a:t>
            </a:r>
            <a:endParaRPr lang="en-US" sz="840" dirty="0"/>
          </a:p>
        </p:txBody>
      </p:sp>
      <p:sp>
        <p:nvSpPr>
          <p:cNvPr id="29" name="Shape 26"/>
          <p:cNvSpPr/>
          <p:nvPr/>
        </p:nvSpPr>
        <p:spPr>
          <a:xfrm>
            <a:off x="7498080" y="2322576"/>
            <a:ext cx="594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7543800" y="2359152"/>
            <a:ext cx="5029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0.6135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4526280" y="2889504"/>
            <a:ext cx="173736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572000" y="2926080"/>
            <a:ext cx="16459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SentiLens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263640" y="2889504"/>
            <a:ext cx="64008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309360" y="2926080"/>
            <a:ext cx="5486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90.17%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903720" y="2889504"/>
            <a:ext cx="59436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949440" y="2926080"/>
            <a:ext cx="5029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0.6771</a:t>
            </a:r>
            <a:endParaRPr lang="en-US" sz="840" dirty="0"/>
          </a:p>
        </p:txBody>
      </p:sp>
      <p:sp>
        <p:nvSpPr>
          <p:cNvPr id="37" name="Shape 34"/>
          <p:cNvSpPr/>
          <p:nvPr/>
        </p:nvSpPr>
        <p:spPr>
          <a:xfrm>
            <a:off x="7498080" y="2889504"/>
            <a:ext cx="59436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7543800" y="2926080"/>
            <a:ext cx="5029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0.6868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4526280" y="3657600"/>
            <a:ext cx="3671236" cy="1993392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0" name="Text 37"/>
          <p:cNvSpPr/>
          <p:nvPr/>
        </p:nvSpPr>
        <p:spPr>
          <a:xfrm>
            <a:off x="4636008" y="376732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4636008" y="3968496"/>
            <a:ext cx="3410712" cy="17282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 paper used a different dataset and labeling process.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this project's holdout setting, SentiLens outperforms the recreated Random Forest baseline.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supports using a tuned linear text model for this Google Play-only Zomato dataset.</a:t>
            </a:r>
            <a:endParaRPr lang="en-US" sz="1030" dirty="0"/>
          </a:p>
        </p:txBody>
      </p:sp>
      <p:sp>
        <p:nvSpPr>
          <p:cNvPr id="42" name="Text 39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Study vs Previous Zomato Research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60020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1316736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Area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057400" y="1280160"/>
            <a:ext cx="283464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103120" y="1316736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Paper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92040" y="1280160"/>
            <a:ext cx="297180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316736"/>
            <a:ext cx="2880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Study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1600200" cy="71323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700784"/>
            <a:ext cx="1508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2057400" y="1664208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103120" y="1700784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Bangalore restaurant reviews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892040" y="1664208"/>
            <a:ext cx="2971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1700784"/>
            <a:ext cx="2880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app reviews for Zomato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1600200" cy="71323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2414016"/>
            <a:ext cx="1508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context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2057400" y="2377440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103120" y="2414016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opinion and dining-focused review text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892040" y="2377440"/>
            <a:ext cx="2971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37760" y="2414016"/>
            <a:ext cx="2880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 service journey covering delivery, refund, support, pricing, and app experience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3090672"/>
            <a:ext cx="1600200" cy="71323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127248"/>
            <a:ext cx="1508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focus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2057400" y="3090672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103120" y="3127248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sentiment-classification performance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892040" y="3090672"/>
            <a:ext cx="2971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37760" y="3127248"/>
            <a:ext cx="2880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review analytics plus managerial interpretation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57200" y="3803904"/>
            <a:ext cx="1600200" cy="71323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2920" y="3840480"/>
            <a:ext cx="1508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emphasis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2057400" y="380390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10312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 Random Forest benchmark paper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4892040" y="3803904"/>
            <a:ext cx="2971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37760" y="3840480"/>
            <a:ext cx="2880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SentiLens with recreated TF-IDF + Logistic regression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57200" y="4517136"/>
            <a:ext cx="1600200" cy="713232"/>
          </a:xfrm>
          <a:prstGeom prst="rect">
            <a:avLst/>
          </a:prstGeom>
          <a:solidFill>
            <a:srgbClr val="F3F6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2920" y="4553712"/>
            <a:ext cx="1508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style</a:t>
            </a:r>
            <a:endParaRPr lang="en-US" sz="890" dirty="0"/>
          </a:p>
        </p:txBody>
      </p:sp>
      <p:sp>
        <p:nvSpPr>
          <p:cNvPr id="35" name="Shape 33"/>
          <p:cNvSpPr/>
          <p:nvPr/>
        </p:nvSpPr>
        <p:spPr>
          <a:xfrm>
            <a:off x="2057400" y="4517136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103120" y="4553712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Model-oriented findings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4892040" y="4517136"/>
            <a:ext cx="2971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37760" y="4553712"/>
            <a:ext cx="2880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Themes, trends, dashboard views, benchmark, and competitor context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621792" y="54406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the previous paper remains a useful benchmark, but our project studies a different feedback environment and extends the analysis from pure classification to decision-support insight.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Context: Zomato vs Swiggy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Brand-Level Comparison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90472"/>
            <a:ext cx="3749040" cy="4087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C:/Users/sshrivastava/Downloads/mba-project/documentation/figures/dashboard_competitor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" y="1545336"/>
            <a:ext cx="3639312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" y="5431536"/>
            <a:ext cx="3602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Play-only sentiment benchmark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26280" y="1234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Theme-Level Comparison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26280" y="1490472"/>
            <a:ext cx="3566160" cy="4087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C:/Users/sshrivastava/Downloads/mba-project/documentation/figures/dashboard_competitor_theme_comparis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1144" y="1545336"/>
            <a:ext cx="3456432" cy="3886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9432" y="5431536"/>
            <a:ext cx="3419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share and net sentiment by theme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40080" y="56692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competitor view adds market context by showing whether Zomato's brand-level and theme-level sentiment patterns are relatively stronger or weaker than a key food-delivery competitor under the same analytical framework.</a:t>
            </a:r>
            <a:endParaRPr lang="en-US" sz="980" dirty="0"/>
          </a:p>
        </p:txBody>
      </p:sp>
      <p:sp>
        <p:nvSpPr>
          <p:cNvPr id="12" name="Text 8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Implications, Limitations, and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237744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362456"/>
            <a:ext cx="2286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Implications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880360" y="1325880"/>
            <a:ext cx="219456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926080" y="1362456"/>
            <a:ext cx="2103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74920" y="1325880"/>
            <a:ext cx="301752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120640" y="1362456"/>
            <a:ext cx="2926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810512"/>
            <a:ext cx="21945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refund and cancellation as the highest strategic priority.</a:t>
            </a:r>
            <a:endParaRPr lang="en-US" sz="1360" dirty="0"/>
          </a:p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customer support as a service-recovery function.</a:t>
            </a:r>
            <a:endParaRPr lang="en-US" sz="1360" dirty="0"/>
          </a:p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delivery reliability because it drives the largest feedback volume.</a:t>
            </a:r>
            <a:endParaRPr lang="en-US" sz="1360" dirty="0"/>
          </a:p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app experience as a relative digital strength.</a:t>
            </a:r>
            <a:endParaRPr lang="en-US" sz="1360" dirty="0"/>
          </a:p>
        </p:txBody>
      </p:sp>
      <p:sp>
        <p:nvSpPr>
          <p:cNvPr id="10" name="Text 8"/>
          <p:cNvSpPr/>
          <p:nvPr/>
        </p:nvSpPr>
        <p:spPr>
          <a:xfrm>
            <a:off x="2971800" y="1810512"/>
            <a:ext cx="20116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3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Play-only dataset does not capture all customer voice channels.</a:t>
            </a:r>
            <a:endParaRPr lang="en-US" sz="1330" dirty="0"/>
          </a:p>
          <a:p>
            <a:pPr marL="203200" indent="-203200">
              <a:buSzPct val="100000"/>
              <a:buChar char="•"/>
            </a:pPr>
            <a:r>
              <a:rPr lang="en-US" sz="13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theme assignment keeps only one final theme per review.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5138928" y="1810512"/>
            <a:ext cx="288036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2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met: 41,597 Google Play reviews were collected, cleaned, normalized, and deduplicated into a final master dataset.</a:t>
            </a:r>
            <a:endParaRPr lang="en-US" sz="1240" dirty="0"/>
          </a:p>
          <a:p>
            <a:pPr marL="203200" indent="-203200">
              <a:buSzPct val="100000"/>
              <a:buChar char="•"/>
            </a:pPr>
            <a:r>
              <a:rPr lang="en-US" sz="12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met: sentiment was classified with SentiLens, which achieved 90.17% accuracy on the project holdout set.</a:t>
            </a:r>
            <a:endParaRPr lang="en-US" sz="1240" dirty="0"/>
          </a:p>
          <a:p>
            <a:pPr marL="203200" indent="-203200">
              <a:buSzPct val="100000"/>
              <a:buChar char="•"/>
            </a:pPr>
            <a:r>
              <a:rPr lang="en-US" sz="12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met: the analysis identified delivery, refund/cancellation, customer support, pricing/fees, and app experience as the main themes.</a:t>
            </a:r>
            <a:endParaRPr lang="en-US" sz="1240" dirty="0"/>
          </a:p>
          <a:p>
            <a:pPr marL="203200" indent="-203200">
              <a:buSzPct val="100000"/>
              <a:buChar char="•"/>
            </a:pPr>
            <a:r>
              <a:rPr lang="en-US" sz="12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 met: the findings were translated into clear managerial priorities for service recovery and brand strategy.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2971800" y="6217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ONLINE MBA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" y="6419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2337</Words>
  <Application>Microsoft Office PowerPoint</Application>
  <PresentationFormat>On-screen Show (4:3)</PresentationFormat>
  <Paragraphs>481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Zomato Sentiment Analysis Project</dc:title>
  <dc:subject>Consolidated final presentation for Zomato sentiment analysis project</dc:subject>
  <dc:creator>OpenAI Codex</dc:creator>
  <cp:lastModifiedBy>Suhani Shrivastava</cp:lastModifiedBy>
  <cp:revision>4</cp:revision>
  <dcterms:created xsi:type="dcterms:W3CDTF">2026-06-20T07:13:38Z</dcterms:created>
  <dcterms:modified xsi:type="dcterms:W3CDTF">2026-06-20T07:18:30Z</dcterms:modified>
</cp:coreProperties>
</file>